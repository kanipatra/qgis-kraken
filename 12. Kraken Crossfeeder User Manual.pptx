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/>
      <p:bold r:id="rId7"/>
    </p:embeddedFont>
    <p:embeddedFont>
      <p:font typeface="Space Grotesk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1719D0E-76B7-7261-6305-1282924961C4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1D2C33-529E-97C8-A2A5-5A6889FB4B8D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F9B2C8-A068-376B-A171-99D475740D49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92CCD4-BB99-DBFA-5F23-122D1DD71BB0}"/>
              </a:ext>
            </a:extLst>
          </p:cNvPr>
          <p:cNvSpPr/>
          <p:nvPr/>
        </p:nvSpPr>
        <p:spPr>
          <a:xfrm>
            <a:off x="266700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45CD02-19BB-6ADD-18E9-9017BFB6E676}"/>
              </a:ext>
            </a:extLst>
          </p:cNvPr>
          <p:cNvSpPr/>
          <p:nvPr/>
        </p:nvSpPr>
        <p:spPr>
          <a:xfrm>
            <a:off x="527685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A369F1-0E5D-29B0-6872-751E8E744FE6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7042C5-DE3F-2D54-27A2-14456868884E}"/>
              </a:ext>
            </a:extLst>
          </p:cNvPr>
          <p:cNvSpPr txBox="1"/>
          <p:nvPr/>
        </p:nvSpPr>
        <p:spPr>
          <a:xfrm>
            <a:off x="609600" y="2243137"/>
            <a:ext cx="5645841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 err="1">
                <a:solidFill>
                  <a:srgbClr val="FFFFFF"/>
                </a:solidFill>
                <a:latin typeface="Space Grotesk"/>
              </a:rPr>
              <a:t>Crossfeeder</a:t>
            </a: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 Detection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A825B4-8231-C6B0-265D-015D4538DD22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Automated spatial analysis tool for instant verification of RF feeder swaps using </a:t>
            </a:r>
            <a:r>
              <a:rPr lang="en-US" sz="1500" b="0" i="0" u="none" dirty="0" err="1">
                <a:solidFill>
                  <a:srgbClr val="94A3B8"/>
                </a:solidFill>
                <a:latin typeface="Inter"/>
              </a:rPr>
              <a:t>DuckDB</a:t>
            </a: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 Measurement Report (MR) dataset aggregation and directional azimuth alignment.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D18B9A-5E1D-7FC7-88CC-577701B148F9}"/>
              </a:ext>
            </a:extLst>
          </p:cNvPr>
          <p:cNvSpPr txBox="1"/>
          <p:nvPr/>
        </p:nvSpPr>
        <p:spPr>
          <a:xfrm>
            <a:off x="609600" y="4405312"/>
            <a:ext cx="144430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 err="1">
                <a:solidFill>
                  <a:srgbClr val="38BDF8"/>
                </a:solidFill>
                <a:latin typeface="Space Grotesk"/>
              </a:rPr>
              <a:t>DuckDB</a:t>
            </a:r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 Engine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F24D4E-61A0-8D0D-7877-95E4B0847D59}"/>
              </a:ext>
            </a:extLst>
          </p:cNvPr>
          <p:cNvSpPr txBox="1"/>
          <p:nvPr/>
        </p:nvSpPr>
        <p:spPr>
          <a:xfrm>
            <a:off x="609600" y="4738687"/>
            <a:ext cx="155972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Ultra-fast MR samples query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2F79B8-D964-6301-6349-8DDEF423D1E9}"/>
              </a:ext>
            </a:extLst>
          </p:cNvPr>
          <p:cNvSpPr txBox="1"/>
          <p:nvPr/>
        </p:nvSpPr>
        <p:spPr>
          <a:xfrm>
            <a:off x="2981325" y="4405312"/>
            <a:ext cx="14553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Spider Tracking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CED24D-428F-1D0E-712E-628C4EF9AF4D}"/>
              </a:ext>
            </a:extLst>
          </p:cNvPr>
          <p:cNvSpPr txBox="1"/>
          <p:nvPr/>
        </p:nvSpPr>
        <p:spPr>
          <a:xfrm>
            <a:off x="2981325" y="4738687"/>
            <a:ext cx="187391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Real-time sample connection lines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BF5BE-D39B-73EE-1751-53BE04592631}"/>
              </a:ext>
            </a:extLst>
          </p:cNvPr>
          <p:cNvSpPr txBox="1"/>
          <p:nvPr/>
        </p:nvSpPr>
        <p:spPr>
          <a:xfrm>
            <a:off x="5591175" y="4405312"/>
            <a:ext cx="150547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Logical Azimuth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E6DA02-86F3-C5C2-22EC-BFD4D7B3B719}"/>
              </a:ext>
            </a:extLst>
          </p:cNvPr>
          <p:cNvSpPr txBox="1"/>
          <p:nvPr/>
        </p:nvSpPr>
        <p:spPr>
          <a:xfrm>
            <a:off x="5591175" y="4738687"/>
            <a:ext cx="144430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Dynamic direction fallback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F241673-E7F9-E422-DA56-168A3672F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386" y="2562979"/>
            <a:ext cx="994878" cy="99487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48375" y="1655415"/>
            <a:ext cx="5524500" cy="4269134"/>
          </a:xfrm>
          <a:prstGeom prst="roundRect">
            <a:avLst>
              <a:gd name="adj" fmla="val 2677"/>
            </a:avLst>
          </a:prstGeom>
          <a:solidFill>
            <a:srgbClr val="0E1526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2060525"/>
            <a:ext cx="5200650" cy="1051321"/>
          </a:xfrm>
          <a:prstGeom prst="roundRect">
            <a:avLst>
              <a:gd name="adj" fmla="val 10872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3264247"/>
            <a:ext cx="5200650" cy="1051321"/>
          </a:xfrm>
          <a:prstGeom prst="roundRect">
            <a:avLst>
              <a:gd name="adj" fmla="val 10872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" y="4467969"/>
            <a:ext cx="5200650" cy="1051321"/>
          </a:xfrm>
          <a:prstGeom prst="roundRect">
            <a:avLst>
              <a:gd name="adj" fmla="val 10872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7250" y="2298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250" y="350237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250" y="470609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125" y="5429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STEP 01 • SELECTION &amp;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781050"/>
            <a:ext cx="11572875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Space Grotesk"/>
              </a:rPr>
              <a:t>Tower Identification &amp; Band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1245840"/>
            <a:ext cx="9525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Activate the map tool, select the target site feature, and refine the evaluation by frequency band.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6328" y="5137695"/>
            <a:ext cx="39885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Interactive Dialog: Site Identification &amp; Frequency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229865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Space Grotesk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350237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Space Grotesk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4706094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Space Grotesk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0650" y="2298650"/>
            <a:ext cx="5500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Activate Map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0650" y="2527250"/>
            <a:ext cx="42862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Select the Crossfeeder tool icon on the toolbar to switch cursor to pointing hand mode.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0650" y="3502372"/>
            <a:ext cx="5500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Select Cell / 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50" y="3730972"/>
            <a:ext cx="42862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Click any sector wedge on the map canvas to identify the Tower ID and retrieve site sectors.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4706094"/>
            <a:ext cx="5500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Filter Target Band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4934694"/>
            <a:ext cx="42862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Choose a specific frequency layer (e.g. Band 2100) or check all site bands simultaneously.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4850CA9-B197-4860-9209-9367C27EB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319" y="2459608"/>
            <a:ext cx="3618609" cy="217884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925FD29-9F29-AF79-2299-78BC6A089A93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9125" y="1655415"/>
            <a:ext cx="3524250" cy="4269134"/>
          </a:xfrm>
          <a:prstGeom prst="roundRect">
            <a:avLst>
              <a:gd name="adj" fmla="val 3243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3875" y="1655415"/>
            <a:ext cx="3524250" cy="4269134"/>
          </a:xfrm>
          <a:prstGeom prst="roundRect">
            <a:avLst>
              <a:gd name="adj" fmla="val 3243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8625" y="1655415"/>
            <a:ext cx="3524250" cy="4269134"/>
          </a:xfrm>
          <a:prstGeom prst="roundRect">
            <a:avLst>
              <a:gd name="adj" fmla="val 3243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7250" y="5191125"/>
            <a:ext cx="3048000" cy="495300"/>
          </a:xfrm>
          <a:prstGeom prst="roundRect">
            <a:avLst>
              <a:gd name="adj" fmla="val 11538"/>
            </a:avLst>
          </a:prstGeom>
          <a:solidFill>
            <a:srgbClr val="080D1D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5314950"/>
            <a:ext cx="3048000" cy="371475"/>
          </a:xfrm>
          <a:prstGeom prst="roundRect">
            <a:avLst>
              <a:gd name="adj" fmla="val 15384"/>
            </a:avLst>
          </a:prstGeom>
          <a:solidFill>
            <a:srgbClr val="080D1D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6750" y="5314950"/>
            <a:ext cx="3048000" cy="371475"/>
          </a:xfrm>
          <a:prstGeom prst="roundRect">
            <a:avLst>
              <a:gd name="adj" fmla="val 15384"/>
            </a:avLst>
          </a:prstGeom>
          <a:solidFill>
            <a:srgbClr val="080D1D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250" y="1893540"/>
            <a:ext cx="638175" cy="228600"/>
          </a:xfrm>
          <a:prstGeom prst="roundRect">
            <a:avLst>
              <a:gd name="adj" fmla="val 25000"/>
            </a:avLst>
          </a:prstGeom>
          <a:solidFill>
            <a:srgbClr val="132D43"/>
          </a:solidFill>
          <a:ln w="9525">
            <a:solidFill>
              <a:srgbClr val="1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0" y="1893540"/>
            <a:ext cx="628650" cy="228600"/>
          </a:xfrm>
          <a:prstGeom prst="roundRect">
            <a:avLst>
              <a:gd name="adj" fmla="val 25000"/>
            </a:avLst>
          </a:prstGeom>
          <a:solidFill>
            <a:srgbClr val="132D43"/>
          </a:solidFill>
          <a:ln w="9525">
            <a:solidFill>
              <a:srgbClr val="1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86750" y="1893540"/>
            <a:ext cx="638175" cy="228600"/>
          </a:xfrm>
          <a:prstGeom prst="roundRect">
            <a:avLst>
              <a:gd name="adj" fmla="val 25000"/>
            </a:avLst>
          </a:prstGeom>
          <a:solidFill>
            <a:srgbClr val="132D43"/>
          </a:solidFill>
          <a:ln w="9525">
            <a:solidFill>
              <a:srgbClr val="1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125" y="5429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STEP 02 • CORE COMPUTATION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781050"/>
            <a:ext cx="11572875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Space Grotesk"/>
              </a:rPr>
              <a:t>Azimuth Matching &amp; Swap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1245840"/>
            <a:ext cx="9525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How Kraken analyzes Measurement Report sample bearings against target sector direction.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5305425"/>
            <a:ext cx="29146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monospace"/>
              </a:rPr>
              <a:t>SELECT lon, lat FROM mr_table WHERE cell_id LIKE '%val%'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6300" y="5429250"/>
            <a:ext cx="2914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monospace"/>
              </a:rPr>
              <a:t>bearing = atan2(sin(dLon)*cos(lat2), 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1050" y="5429250"/>
            <a:ext cx="2914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87171"/>
                </a:solidFill>
                <a:latin typeface="monospace"/>
              </a:rPr>
              <a:t>if dominance &gt; 0.65 -&gt; STATUS: CROSSED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1931640"/>
            <a:ext cx="542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STEP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2236440"/>
            <a:ext cx="4000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DuckDB MR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2512665"/>
            <a:ext cx="31432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Queries local DuckDB database using composite key definitions to fetch longitude and latitude coordinates of MR samples.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0" y="1931640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STEP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236440"/>
            <a:ext cx="4000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Bearing Calculation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512665"/>
            <a:ext cx="31432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Computes compass bearing from cell centroid to each MR point, matching samples to the nearest sector's logical azimuth.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0" y="1931640"/>
            <a:ext cx="542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STEP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6750" y="2236440"/>
            <a:ext cx="3905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65% Dominance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6750" y="2512665"/>
            <a:ext cx="31432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Flags sector as CROSSED if over 65% of its MR samples point consistently toward another sector in the same band.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219D5C-A0C9-1897-D6F4-44B9A0FAB515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81875" y="2584995"/>
            <a:ext cx="4191000" cy="809625"/>
          </a:xfrm>
          <a:prstGeom prst="roundRect">
            <a:avLst>
              <a:gd name="adj" fmla="val 14117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81875" y="3508920"/>
            <a:ext cx="4191000" cy="685800"/>
          </a:xfrm>
          <a:prstGeom prst="roundRect">
            <a:avLst>
              <a:gd name="adj" fmla="val 16666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81875" y="4309020"/>
            <a:ext cx="4191000" cy="685800"/>
          </a:xfrm>
          <a:prstGeom prst="roundRect">
            <a:avLst>
              <a:gd name="adj" fmla="val 16666"/>
            </a:avLst>
          </a:prstGeom>
          <a:solidFill>
            <a:srgbClr val="0D1323"/>
          </a:solidFill>
          <a:ln w="9525">
            <a:solidFill>
              <a:srgbClr val="0F2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617315"/>
            <a:ext cx="6534150" cy="434533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780258"/>
            <a:ext cx="9525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3785145"/>
            <a:ext cx="104775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4585245"/>
            <a:ext cx="95250" cy="95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5429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STEP 03 • SPATIAL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781050"/>
            <a:ext cx="11572875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Space Grotesk"/>
              </a:rPr>
              <a:t>Spider Line GIS Tracking &amp;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1245840"/>
            <a:ext cx="9525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Interactive visual confirmation with dynamic spider lines and sector color mapping.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946945"/>
            <a:ext cx="3962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Links cell centroid directly to MR sample locations color-coded by serving sector.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0" y="2746920"/>
            <a:ext cx="21502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Categorized Spider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4775" y="3670845"/>
            <a:ext cx="105669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Temporary Layer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2100" y="3689895"/>
            <a:ext cx="2794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Automatically purges old spider layers upon re-running to avoid GIS canvas clutter.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0" y="4470945"/>
            <a:ext cx="110920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Geodetic Distance Calc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2582" y="4489995"/>
            <a:ext cx="27536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Computes precise WGS84 distance (in meters) for each sample point feature.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68EC31B-D7AA-D460-DC42-4F0844E2D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6589" y="1702908"/>
            <a:ext cx="5460186" cy="417112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EE6B023-4174-DDBA-0C97-DF21A0285970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9125" y="1655415"/>
            <a:ext cx="5400675" cy="2058292"/>
          </a:xfrm>
          <a:prstGeom prst="roundRect">
            <a:avLst>
              <a:gd name="adj" fmla="val 5553"/>
            </a:avLst>
          </a:prstGeom>
          <a:solidFill>
            <a:srgbClr val="0D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1655415"/>
            <a:ext cx="5400675" cy="2058292"/>
          </a:xfrm>
          <a:prstGeom prst="roundRect">
            <a:avLst>
              <a:gd name="adj" fmla="val 5553"/>
            </a:avLst>
          </a:prstGeom>
          <a:solidFill>
            <a:srgbClr val="0D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3866108"/>
            <a:ext cx="5400675" cy="2058441"/>
          </a:xfrm>
          <a:prstGeom prst="roundRect">
            <a:avLst>
              <a:gd name="adj" fmla="val 5552"/>
            </a:avLst>
          </a:prstGeom>
          <a:solidFill>
            <a:srgbClr val="0D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3866108"/>
            <a:ext cx="5400675" cy="2058441"/>
          </a:xfrm>
          <a:prstGeom prst="roundRect">
            <a:avLst>
              <a:gd name="adj" fmla="val 5552"/>
            </a:avLst>
          </a:prstGeom>
          <a:solidFill>
            <a:srgbClr val="0D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704183"/>
            <a:ext cx="5400675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1655415"/>
            <a:ext cx="5400675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1655415"/>
            <a:ext cx="38100" cy="205829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10275" y="1655415"/>
            <a:ext cx="9525" cy="2058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704183"/>
            <a:ext cx="5400675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655415"/>
            <a:ext cx="5400675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655415"/>
            <a:ext cx="38100" cy="20582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63350" y="1655415"/>
            <a:ext cx="9525" cy="2058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" y="3866108"/>
            <a:ext cx="5400675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" y="3866108"/>
            <a:ext cx="38100" cy="2058441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10275" y="3866108"/>
            <a:ext cx="9525" cy="205844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866108"/>
            <a:ext cx="5400675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866108"/>
            <a:ext cx="38100" cy="2058441"/>
          </a:xfrm>
          <a:prstGeom prst="rect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563350" y="3866108"/>
            <a:ext cx="9525" cy="205844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0" y="1893540"/>
            <a:ext cx="1209675" cy="228600"/>
          </a:xfrm>
          <a:prstGeom prst="roundRect">
            <a:avLst>
              <a:gd name="adj" fmla="val 25000"/>
            </a:avLst>
          </a:prstGeom>
          <a:solidFill>
            <a:srgbClr val="102E2C"/>
          </a:solidFill>
          <a:ln w="9525">
            <a:solidFill>
              <a:srgbClr val="134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067925" y="1893540"/>
            <a:ext cx="1266825" cy="228600"/>
          </a:xfrm>
          <a:prstGeom prst="roundRect">
            <a:avLst>
              <a:gd name="adj" fmla="val 25000"/>
            </a:avLst>
          </a:prstGeom>
          <a:solidFill>
            <a:srgbClr val="2F1A28"/>
          </a:solidFill>
          <a:ln w="9525">
            <a:solidFill>
              <a:srgbClr val="51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14850" y="4104233"/>
            <a:ext cx="1266825" cy="228600"/>
          </a:xfrm>
          <a:prstGeom prst="roundRect">
            <a:avLst>
              <a:gd name="adj" fmla="val 25000"/>
            </a:avLst>
          </a:prstGeom>
          <a:solidFill>
            <a:srgbClr val="302121"/>
          </a:solidFill>
          <a:ln w="9525">
            <a:solidFill>
              <a:srgbClr val="543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372725" y="4104233"/>
            <a:ext cx="962025" cy="209550"/>
          </a:xfrm>
          <a:prstGeom prst="roundRect">
            <a:avLst>
              <a:gd name="adj" fmla="val 27272"/>
            </a:avLst>
          </a:prstGeom>
          <a:solidFill>
            <a:srgbClr val="24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125" y="5429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REFERENCE • AUDIT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" y="781050"/>
            <a:ext cx="11572875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Space Grotesk"/>
              </a:rPr>
              <a:t>Result Status Reference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125" y="1245840"/>
            <a:ext cx="9525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Understanding detection output messages and action guidelines in the pop-up window.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825" y="3342233"/>
            <a:ext cx="61198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Action: No field intervention needed.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8900" y="3342233"/>
            <a:ext cx="5753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87171"/>
                </a:solidFill>
                <a:latin typeface="Inter"/>
              </a:rPr>
              <a:t>Action: Dispatch rigger for physical cable swap.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5553075"/>
            <a:ext cx="61198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B923C"/>
                </a:solidFill>
                <a:latin typeface="Inter"/>
              </a:rPr>
              <a:t>Action: Verify sample count or check site environment.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900" y="5553075"/>
            <a:ext cx="5753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Action: Ensure DuckDB file is updated and keys match.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25" y="2198340"/>
            <a:ext cx="4991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All sectors exhibit aligned MR sample distribution according to designated azimuths. No physical feeder swap detected.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8900" y="2198340"/>
            <a:ext cx="4991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Multiple sectors in the same band show swapped MR sample dominance (&gt;65%). High confidence physical feeder swap.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825" y="4409033"/>
            <a:ext cx="4991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Only 1 sector appears crossed in the band. Likely caused by asymmetrical sample counts, indoor repeaters, or overshooters.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8900" y="4389983"/>
            <a:ext cx="49911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No Measurement Report samples found in DuckDB for the target cell lookup key configuration during the evaluation period.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825" y="1912590"/>
            <a:ext cx="143017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Normal / Clear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7250" y="1931640"/>
            <a:ext cx="1114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4ADE80"/>
                </a:solidFill>
                <a:latin typeface="Inter"/>
              </a:rPr>
              <a:t>STATUS NORMAL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8900" y="1912590"/>
            <a:ext cx="2250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Feeder Swap Detected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63175" y="1931640"/>
            <a:ext cx="1171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87171"/>
                </a:solidFill>
                <a:latin typeface="Inter"/>
              </a:rPr>
              <a:t>STATUS CROSSED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825" y="4123283"/>
            <a:ext cx="177522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Check Sample MR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0100" y="4142333"/>
            <a:ext cx="1171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B923C"/>
                </a:solidFill>
                <a:latin typeface="Inter"/>
              </a:rPr>
              <a:t>STATUS WARNING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8900" y="4113758"/>
            <a:ext cx="144018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No Sample MR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7975" y="4142333"/>
            <a:ext cx="8667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0AEC0"/>
                </a:solidFill>
                <a:latin typeface="Inter"/>
              </a:rPr>
              <a:t>NO SAMPLES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FBB140-E224-20CE-4226-8E0CC8C37B89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562</Words>
  <Application>Microsoft Office PowerPoint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monospace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4</cp:revision>
  <dcterms:created xsi:type="dcterms:W3CDTF">2013-01-27T09:14:16Z</dcterms:created>
  <dcterms:modified xsi:type="dcterms:W3CDTF">2026-10-25T04:03:47Z</dcterms:modified>
  <cp:category/>
</cp:coreProperties>
</file>