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Orbitron"/>
      <p:regular r:id="rId11"/>
    </p:embeddedFont>
    <p:embeddedFont>
      <p:font typeface="Rajdhani"/>
      <p:bold r:id="rId12"/>
    </p:embeddedFont>
    <p:embeddedFont>
      <p:font typeface="Space Grotesk"/>
      <p: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1D3F010-32BC-3077-A09A-72DFA97425EA}"/>
              </a:ext>
            </a:extLst>
          </p:cNvPr>
          <p:cNvSpPr/>
          <p:nvPr/>
        </p:nvSpPr>
        <p:spPr>
          <a:xfrm>
            <a:off x="609600" y="4090987"/>
            <a:ext cx="76200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B449BF-F4A6-1C2B-7ADD-C360B73D2CF8}"/>
              </a:ext>
            </a:extLst>
          </p:cNvPr>
          <p:cNvSpPr/>
          <p:nvPr/>
        </p:nvSpPr>
        <p:spPr>
          <a:xfrm>
            <a:off x="609600" y="4090987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0AE9FA-286A-0AC2-4041-4584DC5FB566}"/>
              </a:ext>
            </a:extLst>
          </p:cNvPr>
          <p:cNvSpPr/>
          <p:nvPr/>
        </p:nvSpPr>
        <p:spPr>
          <a:xfrm>
            <a:off x="282702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E624F1-9BD7-8F61-327E-2D0024ECE2C4}"/>
              </a:ext>
            </a:extLst>
          </p:cNvPr>
          <p:cNvSpPr/>
          <p:nvPr/>
        </p:nvSpPr>
        <p:spPr>
          <a:xfrm>
            <a:off x="5276850" y="4405312"/>
            <a:ext cx="9525" cy="4953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3062FB-4067-1F44-F270-B5351FE06893}"/>
              </a:ext>
            </a:extLst>
          </p:cNvPr>
          <p:cNvSpPr txBox="1"/>
          <p:nvPr/>
        </p:nvSpPr>
        <p:spPr>
          <a:xfrm>
            <a:off x="609600" y="1957387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pace Grotesk"/>
              </a:rPr>
              <a:t>KRAKEN QGIS PLUGIN • USER MANUAL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29775F-1E24-315C-8DF6-18FAEBBC8F35}"/>
              </a:ext>
            </a:extLst>
          </p:cNvPr>
          <p:cNvSpPr txBox="1"/>
          <p:nvPr/>
        </p:nvSpPr>
        <p:spPr>
          <a:xfrm>
            <a:off x="609600" y="2243137"/>
            <a:ext cx="7235058" cy="6433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800" b="1" i="0" u="none" dirty="0">
                <a:solidFill>
                  <a:srgbClr val="FFFFFF"/>
                </a:solidFill>
                <a:latin typeface="Space Grotesk"/>
              </a:rPr>
              <a:t>Coverage Prediction Module</a:t>
            </a:r>
            <a:endParaRPr sz="45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601540-A324-4CCB-1804-358260E26E6E}"/>
              </a:ext>
            </a:extLst>
          </p:cNvPr>
          <p:cNvSpPr txBox="1"/>
          <p:nvPr/>
        </p:nvSpPr>
        <p:spPr>
          <a:xfrm>
            <a:off x="609599" y="3100387"/>
            <a:ext cx="76199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User Manual &amp; System Architecture Guidelines for RSRP Signal Propagation Modeling directly on QGIS Canvas</a:t>
            </a:r>
            <a:endParaRPr sz="1500" b="0" i="0" u="none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02DFE4-D40A-C7E0-4920-65DECC35C63B}"/>
              </a:ext>
            </a:extLst>
          </p:cNvPr>
          <p:cNvSpPr txBox="1"/>
          <p:nvPr/>
        </p:nvSpPr>
        <p:spPr>
          <a:xfrm>
            <a:off x="609600" y="4405312"/>
            <a:ext cx="183614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Propagation Model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EEE312-C092-CBE2-D707-841EF76AAB40}"/>
              </a:ext>
            </a:extLst>
          </p:cNvPr>
          <p:cNvSpPr txBox="1"/>
          <p:nvPr/>
        </p:nvSpPr>
        <p:spPr>
          <a:xfrm>
            <a:off x="609600" y="4738687"/>
            <a:ext cx="158216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5 Different Model Supported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6DAA0D-9661-12CD-AEB3-5664C563ECD5}"/>
              </a:ext>
            </a:extLst>
          </p:cNvPr>
          <p:cNvSpPr txBox="1"/>
          <p:nvPr/>
        </p:nvSpPr>
        <p:spPr>
          <a:xfrm>
            <a:off x="3141345" y="4405312"/>
            <a:ext cx="149239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38BDF8"/>
                </a:solidFill>
                <a:latin typeface="Space Grotesk"/>
              </a:rPr>
              <a:t>Selection Mode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A92D16-33A5-B58A-3741-E49BDA0C29BC}"/>
              </a:ext>
            </a:extLst>
          </p:cNvPr>
          <p:cNvSpPr txBox="1"/>
          <p:nvPr/>
        </p:nvSpPr>
        <p:spPr>
          <a:xfrm>
            <a:off x="3141345" y="4738687"/>
            <a:ext cx="127118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Interactive Canvas Tool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CA0621-58AF-A023-48DD-B036C6F40EDB}"/>
              </a:ext>
            </a:extLst>
          </p:cNvPr>
          <p:cNvSpPr txBox="1"/>
          <p:nvPr/>
        </p:nvSpPr>
        <p:spPr>
          <a:xfrm>
            <a:off x="5591175" y="4405312"/>
            <a:ext cx="121642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38BDF8"/>
                </a:solidFill>
                <a:latin typeface="Space Grotesk"/>
              </a:rPr>
              <a:t>Visualization</a:t>
            </a:r>
            <a:endParaRPr sz="18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181E29-C94B-15EC-7991-8AC3B129ED7E}"/>
              </a:ext>
            </a:extLst>
          </p:cNvPr>
          <p:cNvSpPr txBox="1"/>
          <p:nvPr/>
        </p:nvSpPr>
        <p:spPr>
          <a:xfrm>
            <a:off x="5591175" y="4738687"/>
            <a:ext cx="188833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6B7280"/>
                </a:solidFill>
                <a:latin typeface="Inter"/>
              </a:rPr>
              <a:t>Dynamic &amp; Adjustable RSRP Range</a:t>
            </a:r>
            <a:endParaRPr sz="1050" b="0" i="0" u="none" dirty="0">
              <a:solidFill>
                <a:srgbClr val="6B7280"/>
              </a:solidFill>
              <a:latin typeface="Inter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C4A3DD4-6B32-47E1-580B-B803E6655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044" y="2629606"/>
            <a:ext cx="1035276" cy="103527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  <p:extLst>
      <p:ext uri="{BB962C8B-B14F-4D97-AF65-F5344CB8AC3E}">
        <p14:creationId xmlns:p14="http://schemas.microsoft.com/office/powerpoint/2010/main" val="954232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1200150"/>
            <a:ext cx="10953750" cy="28575"/>
          </a:xfrm>
          <a:prstGeom prst="rect">
            <a:avLst/>
          </a:prstGeom>
          <a:solidFill>
            <a:srgbClr val="1EB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" y="2415629"/>
            <a:ext cx="5324475" cy="3017341"/>
          </a:xfrm>
          <a:prstGeom prst="roundRect">
            <a:avLst>
              <a:gd name="adj" fmla="val 3788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2347912"/>
            <a:ext cx="5324475" cy="3152775"/>
          </a:xfrm>
          <a:prstGeom prst="roundRect">
            <a:avLst>
              <a:gd name="adj" fmla="val 3625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86525" y="3005137"/>
            <a:ext cx="4848225" cy="619125"/>
          </a:xfrm>
          <a:prstGeom prst="roundRect">
            <a:avLst>
              <a:gd name="adj" fmla="val 9230"/>
            </a:avLst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86525" y="3738562"/>
            <a:ext cx="4848225" cy="790575"/>
          </a:xfrm>
          <a:prstGeom prst="roundRect">
            <a:avLst>
              <a:gd name="adj" fmla="val 7228"/>
            </a:avLst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86525" y="4643437"/>
            <a:ext cx="4848225" cy="619125"/>
          </a:xfrm>
          <a:prstGeom prst="roundRect">
            <a:avLst>
              <a:gd name="adj" fmla="val 9230"/>
            </a:avLst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29400" y="3119437"/>
            <a:ext cx="4591050" cy="180975"/>
          </a:xfrm>
          <a:prstGeom prst="roundRect">
            <a:avLst>
              <a:gd name="adj" fmla="val 21052"/>
            </a:avLst>
          </a:prstGeom>
          <a:solidFill>
            <a:srgbClr val="10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86525" y="3005137"/>
            <a:ext cx="28575" cy="6191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29400" y="3852862"/>
            <a:ext cx="4591050" cy="180975"/>
          </a:xfrm>
          <a:prstGeom prst="roundRect">
            <a:avLst>
              <a:gd name="adj" fmla="val 21052"/>
            </a:avLst>
          </a:prstGeom>
          <a:solidFill>
            <a:srgbClr val="10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86525" y="3738562"/>
            <a:ext cx="28575" cy="790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29400" y="4757737"/>
            <a:ext cx="4591050" cy="180975"/>
          </a:xfrm>
          <a:prstGeom prst="roundRect">
            <a:avLst>
              <a:gd name="adj" fmla="val 21052"/>
            </a:avLst>
          </a:prstGeom>
          <a:solidFill>
            <a:srgbClr val="102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86525" y="4643437"/>
            <a:ext cx="28575" cy="619125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672804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2605087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975645"/>
            <a:ext cx="1238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413795"/>
            <a:ext cx="1238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851945"/>
            <a:ext cx="12382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9125" y="46672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E5FF"/>
                </a:solidFill>
                <a:latin typeface="Orbitron"/>
              </a:rPr>
              <a:t>SYSTEM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125" y="695325"/>
            <a:ext cx="115728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Rajdhani"/>
              </a:rPr>
              <a:t>FEATURE OVERVIEW &amp; CORE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3072854"/>
            <a:ext cx="49434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4A3B8"/>
                </a:solidFill>
                <a:latin typeface="Space Grotesk"/>
              </a:rPr>
              <a:t>Simulates and estimates RSRP signal coverage or Path Loss directly within the QGIS workspace. Integrates real-time antenna tilt, sector pattern, power settings, and elevation terrain.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50" y="2653754"/>
            <a:ext cx="371296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Rajdhani"/>
              </a:rPr>
              <a:t>COVERAGE ENGINE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3956595"/>
            <a:ext cx="4943475" cy="3619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Space Grotesk"/>
              </a:rPr>
              <a:t>Non-Modal GUI Dialog:</a:t>
            </a:r>
            <a:r>
              <a:rPr sz="1125" b="0" i="0" u="none">
                <a:solidFill>
                  <a:srgbClr val="CBD5E1"/>
                </a:solidFill>
                <a:latin typeface="Space Grotesk"/>
              </a:rPr>
              <a:t> Dynamic setup with window minimize/maximize capabilities.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4394745"/>
            <a:ext cx="4943475" cy="3619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Space Grotesk"/>
              </a:rPr>
              <a:t>QGIS Map Tool:</a:t>
            </a:r>
            <a:r>
              <a:rPr sz="1125" b="0" i="0" u="none">
                <a:solidFill>
                  <a:srgbClr val="CBD5E1"/>
                </a:solidFill>
                <a:latin typeface="Space Grotesk"/>
              </a:rPr>
              <a:t> Pointing hand tool bound to layer feature identification.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4832895"/>
            <a:ext cx="4943475" cy="3619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Space Grotesk"/>
              </a:rPr>
              <a:t>Visual Glow Layering:</a:t>
            </a:r>
            <a:r>
              <a:rPr sz="1125" b="0" i="0" u="none">
                <a:solidFill>
                  <a:srgbClr val="CBD5E1"/>
                </a:solidFill>
                <a:latin typeface="Space Grotesk"/>
              </a:rPr>
              <a:t> Triple RubberBand outline glow on map canvas.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586037"/>
            <a:ext cx="29003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Rajdhani"/>
              </a:rPr>
              <a:t>CORE PYTHON 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6550" y="3138487"/>
            <a:ext cx="55054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monospace"/>
              </a:rPr>
              <a:t>coverage_prediction_dialog.py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338512"/>
            <a:ext cx="5562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Space Grotesk"/>
              </a:rPr>
              <a:t>Main Qt UI controller, parameters loader, and settings manager.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6550" y="3871912"/>
            <a:ext cx="55054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monospace"/>
              </a:rPr>
              <a:t>coverage_prediction_map_tool.py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071937"/>
            <a:ext cx="46863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Space Grotesk"/>
              </a:rPr>
              <a:t>Canvas map tool handling click identification on Main_GCell vector layer.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6550" y="4776787"/>
            <a:ext cx="55054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monospace"/>
              </a:rPr>
              <a:t>selected_cell_predict_*.py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976812"/>
            <a:ext cx="5562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Space Grotesk"/>
              </a:rPr>
              <a:t>Propagation execution backends (COST-231, Terrain, UMa/UMi, SPM).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3B7989-91DA-6328-EE59-52341B56C594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1200150"/>
            <a:ext cx="10953750" cy="28575"/>
          </a:xfrm>
          <a:prstGeom prst="rect">
            <a:avLst/>
          </a:prstGeom>
          <a:solidFill>
            <a:srgbClr val="1EB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4575" y="1631207"/>
            <a:ext cx="5448300" cy="4583701"/>
          </a:xfrm>
          <a:prstGeom prst="roundRect">
            <a:avLst>
              <a:gd name="adj" fmla="val 2727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2157412"/>
            <a:ext cx="5200650" cy="1076325"/>
          </a:xfrm>
          <a:prstGeom prst="roundRect">
            <a:avLst>
              <a:gd name="adj" fmla="val 10619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3386137"/>
            <a:ext cx="5200650" cy="1076325"/>
          </a:xfrm>
          <a:prstGeom prst="roundRect">
            <a:avLst>
              <a:gd name="adj" fmla="val 10619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" y="4614862"/>
            <a:ext cx="5200650" cy="1076325"/>
          </a:xfrm>
          <a:prstGeom prst="roundRect">
            <a:avLst>
              <a:gd name="adj" fmla="val 10619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7250" y="2395537"/>
            <a:ext cx="268634" cy="381000"/>
          </a:xfrm>
          <a:prstGeom prst="roundRect">
            <a:avLst>
              <a:gd name="adj" fmla="val 50000"/>
            </a:avLst>
          </a:prstGeom>
          <a:solidFill>
            <a:srgbClr val="0E2B3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7250" y="3624262"/>
            <a:ext cx="237827" cy="381000"/>
          </a:xfrm>
          <a:prstGeom prst="roundRect">
            <a:avLst>
              <a:gd name="adj" fmla="val 50000"/>
            </a:avLst>
          </a:prstGeom>
          <a:solidFill>
            <a:srgbClr val="0E2B3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57250" y="4852987"/>
            <a:ext cx="227558" cy="381000"/>
          </a:xfrm>
          <a:prstGeom prst="roundRect">
            <a:avLst>
              <a:gd name="adj" fmla="val 50000"/>
            </a:avLst>
          </a:prstGeom>
          <a:solidFill>
            <a:srgbClr val="0E2B3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286337" y="4043362"/>
            <a:ext cx="914548" cy="190500"/>
          </a:xfrm>
          <a:prstGeom prst="roundRect">
            <a:avLst>
              <a:gd name="adj" fmla="val 20000"/>
            </a:avLst>
          </a:prstGeom>
          <a:solidFill>
            <a:srgbClr val="13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125" y="46672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E5FF"/>
                </a:solidFill>
                <a:latin typeface="Orbitron"/>
              </a:rPr>
              <a:t>WORKFLOW STEP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695325"/>
            <a:ext cx="115728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Rajdhani"/>
              </a:rPr>
              <a:t>INTERACTIVE CELL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8318" y="6038545"/>
            <a:ext cx="6500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64748B"/>
                </a:solidFill>
                <a:latin typeface="Space Grotesk"/>
              </a:rPr>
              <a:t>GUI Control Dialog with Auto-Populated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2395537"/>
            <a:ext cx="554384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E5FF"/>
                </a:solidFill>
                <a:latin typeface="Space Grotesk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375" y="3624262"/>
            <a:ext cx="523577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E5FF"/>
                </a:solidFill>
                <a:latin typeface="Space Grotesk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5" y="4852987"/>
            <a:ext cx="513308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E5FF"/>
                </a:solidFill>
                <a:latin typeface="Space Grotes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8284" y="2395537"/>
            <a:ext cx="56481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Rajdhani"/>
              </a:rPr>
              <a:t>ACTIVATE MAP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8284" y="2652712"/>
            <a:ext cx="439861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Space Grotesk"/>
              </a:rPr>
              <a:t>Set Prediction Type to </a:t>
            </a:r>
            <a:r>
              <a:rPr sz="1050" b="1" i="0" u="none">
                <a:solidFill>
                  <a:srgbClr val="94A3B8"/>
                </a:solidFill>
                <a:latin typeface="Space Grotesk"/>
              </a:rPr>
              <a:t>Selected Cell</a:t>
            </a:r>
            <a:r>
              <a:rPr sz="1050" b="0" i="0" u="none">
                <a:solidFill>
                  <a:srgbClr val="94A3B8"/>
                </a:solidFill>
                <a:latin typeface="Space Grotesk"/>
              </a:rPr>
              <a:t>. The cursor transforms into a Pointing Hand on map canvas.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477" y="3624262"/>
            <a:ext cx="568860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Rajdhani"/>
              </a:rPr>
              <a:t>CLICK TARGET SECTOR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7477" y="3883977"/>
            <a:ext cx="442942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4A3B8"/>
                </a:solidFill>
                <a:latin typeface="Space Grotesk"/>
              </a:rPr>
              <a:t>Click any sector wedge on GIS map canvas. The system identifies the nearest feature from layer.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7208" y="4852987"/>
            <a:ext cx="570207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Rajdhani"/>
              </a:rPr>
              <a:t>MULTI-LAYER GLOW EFFECT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7208" y="5110162"/>
            <a:ext cx="4439691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4A3B8"/>
                </a:solidFill>
                <a:latin typeface="Space Grotesk"/>
              </a:rPr>
              <a:t>Selected cell geometry is highlighted with 3-tier </a:t>
            </a:r>
            <a:r>
              <a:rPr sz="1050" b="0" i="0" u="none" dirty="0" err="1">
                <a:solidFill>
                  <a:srgbClr val="94A3B8"/>
                </a:solidFill>
                <a:latin typeface="Space Grotesk"/>
              </a:rPr>
              <a:t>RubberBand</a:t>
            </a:r>
            <a:r>
              <a:rPr sz="1050" b="0" i="0" u="none" dirty="0">
                <a:solidFill>
                  <a:srgbClr val="94A3B8"/>
                </a:solidFill>
                <a:latin typeface="Space Grotesk"/>
              </a:rPr>
              <a:t> </a:t>
            </a:r>
            <a:r>
              <a:rPr lang="en-US" sz="1050" b="0" i="0" u="none" dirty="0">
                <a:solidFill>
                  <a:srgbClr val="94A3B8"/>
                </a:solidFill>
                <a:latin typeface="Space Grotesk"/>
              </a:rPr>
              <a:t>glow</a:t>
            </a:r>
            <a:r>
              <a:rPr sz="1050" b="0" i="0" u="none" dirty="0">
                <a:solidFill>
                  <a:srgbClr val="94A3B8"/>
                </a:solidFill>
                <a:latin typeface="Space Grotesk"/>
              </a:rPr>
              <a:t> (Outer Cyan Halo, Mid Aura, Solid White Core).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3495" y="4062412"/>
            <a:ext cx="108599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monospace"/>
              </a:rPr>
              <a:t>Main_GCell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6DE0411-787A-5C0A-D716-C97CC5850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371" y="1711318"/>
            <a:ext cx="2760166" cy="428644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5D4CE00-FEF8-5611-B9D2-E2E2F2EEDA9D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1200150"/>
            <a:ext cx="10953750" cy="28575"/>
          </a:xfrm>
          <a:prstGeom prst="rect">
            <a:avLst/>
          </a:prstGeom>
          <a:solidFill>
            <a:srgbClr val="1EB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" y="2183606"/>
            <a:ext cx="3524250" cy="1947862"/>
          </a:xfrm>
          <a:prstGeom prst="roundRect">
            <a:avLst>
              <a:gd name="adj" fmla="val 5867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33875" y="2183606"/>
            <a:ext cx="3524250" cy="1947862"/>
          </a:xfrm>
          <a:prstGeom prst="roundRect">
            <a:avLst>
              <a:gd name="adj" fmla="val 5867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8625" y="2183606"/>
            <a:ext cx="3524250" cy="1947862"/>
          </a:xfrm>
          <a:prstGeom prst="roundRect">
            <a:avLst>
              <a:gd name="adj" fmla="val 5867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" y="4321968"/>
            <a:ext cx="3524250" cy="1343025"/>
          </a:xfrm>
          <a:prstGeom prst="roundRect">
            <a:avLst>
              <a:gd name="adj" fmla="val 8510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33875" y="4321968"/>
            <a:ext cx="3524250" cy="1343025"/>
          </a:xfrm>
          <a:prstGeom prst="roundRect">
            <a:avLst>
              <a:gd name="adj" fmla="val 8510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8625" y="4321968"/>
            <a:ext cx="3524250" cy="1343025"/>
          </a:xfrm>
          <a:prstGeom prst="roundRect">
            <a:avLst>
              <a:gd name="adj" fmla="val 8510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3002756"/>
            <a:ext cx="1057275" cy="238125"/>
          </a:xfrm>
          <a:prstGeom prst="roundRect">
            <a:avLst>
              <a:gd name="adj" fmla="val 16000"/>
            </a:avLst>
          </a:prstGeom>
          <a:solidFill>
            <a:srgbClr val="0E2B3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86425" y="3002756"/>
            <a:ext cx="628650" cy="238125"/>
          </a:xfrm>
          <a:prstGeom prst="roundRect">
            <a:avLst>
              <a:gd name="adj" fmla="val 16000"/>
            </a:avLst>
          </a:prstGeom>
          <a:solidFill>
            <a:srgbClr val="0E2B3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72225" y="3002756"/>
            <a:ext cx="904875" cy="238125"/>
          </a:xfrm>
          <a:prstGeom prst="roundRect">
            <a:avLst>
              <a:gd name="adj" fmla="val 16000"/>
            </a:avLst>
          </a:prstGeom>
          <a:solidFill>
            <a:srgbClr val="0E2B3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0" y="3298031"/>
            <a:ext cx="590550" cy="238125"/>
          </a:xfrm>
          <a:prstGeom prst="roundRect">
            <a:avLst>
              <a:gd name="adj" fmla="val 16000"/>
            </a:avLst>
          </a:prstGeom>
          <a:solidFill>
            <a:srgbClr val="0E2B3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440781"/>
            <a:ext cx="20002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440781"/>
            <a:ext cx="2286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0" y="2440781"/>
            <a:ext cx="2286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579143"/>
            <a:ext cx="180975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579143"/>
            <a:ext cx="16192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0" y="4579143"/>
            <a:ext cx="22860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9125" y="46672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E5FF"/>
                </a:solidFill>
                <a:latin typeface="Orbitron"/>
              </a:rPr>
              <a:t>WORKFLOW STEP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125" y="695325"/>
            <a:ext cx="115728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Rajdhani"/>
              </a:rPr>
              <a:t>GENERAL SETTING PARAMETERS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2421731"/>
            <a:ext cx="4000500" cy="219075"/>
          </a:xfrm>
          <a:prstGeom prst="rect">
            <a:avLst/>
          </a:prstGeom>
          <a:noFill/>
        </p:spPr>
        <p:txBody>
          <a:bodyPr wrap="none" lIns="27622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E5FF"/>
                </a:solidFill>
                <a:latin typeface="Rajdhani"/>
              </a:rPr>
              <a:t>PROPAGATION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2717006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Select signal attenuation algorithm: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421731"/>
            <a:ext cx="4000500" cy="219075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E5FF"/>
                </a:solidFill>
                <a:latin typeface="Rajdhani"/>
              </a:rPr>
              <a:t>CLUTTER 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717006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Defines environmental loss environment: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6750" y="2421731"/>
            <a:ext cx="3905250" cy="219075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E5FF"/>
                </a:solidFill>
                <a:latin typeface="Rajdhani"/>
              </a:rPr>
              <a:t>BAND CONFIGURATION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6750" y="2717006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Map sector frequency bands dynamically: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750" y="2964656"/>
            <a:ext cx="3143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Space Grotesk"/>
              </a:rPr>
              <a:t>Automatically queries distinct values from selected field (e.g. 850, 1800, 2100 MHz).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" y="4560093"/>
            <a:ext cx="4000500" cy="219075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E5FF"/>
                </a:solidFill>
                <a:latin typeface="Rajdhani"/>
              </a:rPr>
              <a:t>PREDICTION 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" y="4855368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Switch prediction calculation target: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250" y="5103018"/>
            <a:ext cx="3143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8BDF8"/>
                </a:solidFill>
                <a:latin typeface="Space Grotesk"/>
              </a:rPr>
              <a:t>• RSRP / Rx Level (dBm)</a:t>
            </a:r>
            <a:r>
              <a:rPr dirty="0"/>
              <a:t>
</a:t>
            </a:r>
            <a:r>
              <a:rPr sz="975" b="1" i="0" u="none" dirty="0">
                <a:solidFill>
                  <a:srgbClr val="38BDF8"/>
                </a:solidFill>
                <a:latin typeface="Space Grotesk"/>
              </a:rPr>
              <a:t> • Path Loss (dB)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560093"/>
            <a:ext cx="4000500" cy="2190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E5FF"/>
                </a:solidFill>
                <a:latin typeface="Rajdhani"/>
              </a:rPr>
              <a:t>GRID &amp; RESOLUTION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855368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Configure grid step and radius: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103018"/>
            <a:ext cx="3143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Space Grotesk"/>
              </a:rPr>
              <a:t>Resolution:</a:t>
            </a:r>
            <a:r>
              <a:rPr sz="975" b="0" i="0" u="none">
                <a:solidFill>
                  <a:srgbClr val="94A3B8"/>
                </a:solidFill>
                <a:latin typeface="Space Grotesk"/>
              </a:rPr>
              <a:t> 10x10, 20x20, 50x50m</a:t>
            </a:r>
            <a:r>
              <a:t>
</a:t>
            </a:r>
            <a:r>
              <a:rPr sz="975" b="1" i="0" u="none">
                <a:solidFill>
                  <a:srgbClr val="94A3B8"/>
                </a:solidFill>
                <a:latin typeface="Space Grotesk"/>
              </a:rPr>
              <a:t>Max Distance:</a:t>
            </a:r>
            <a:r>
              <a:rPr sz="975" b="0" i="0" u="none">
                <a:solidFill>
                  <a:srgbClr val="94A3B8"/>
                </a:solidFill>
                <a:latin typeface="Space Grotesk"/>
              </a:rPr>
              <a:t> 2 Km, 5 Km, 10 Km, 20 Km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0" y="4560093"/>
            <a:ext cx="3905250" cy="219075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E5FF"/>
                </a:solidFill>
                <a:latin typeface="Rajdhani"/>
              </a:rPr>
              <a:t>OBSTACLE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6750" y="4855368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Incorporates line-of-sight obstacles: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6750" y="5103018"/>
            <a:ext cx="3143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Space Grotesk"/>
              </a:rPr>
              <a:t>• Terrain Only (DEM)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Space Grotesk"/>
              </a:rPr>
              <a:t> • Terrain + Building (DSM)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025" y="2962275"/>
            <a:ext cx="47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Space Grotesk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650" y="2964656"/>
            <a:ext cx="3619500" cy="185737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COST-231 Hata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2025" y="3148012"/>
            <a:ext cx="47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Space Grotesk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650" y="3150393"/>
            <a:ext cx="3619500" cy="185737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Path-Specific Terrain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2025" y="3333750"/>
            <a:ext cx="47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Space Grotesk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650" y="3336131"/>
            <a:ext cx="3619500" cy="185737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UMa &amp; UMi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025" y="3519487"/>
            <a:ext cx="47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Space Grotesk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9650" y="3521868"/>
            <a:ext cx="3619500" cy="185737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Standard Propagation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2025" y="3705225"/>
            <a:ext cx="47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Space Grotesk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9650" y="3707606"/>
            <a:ext cx="3619500" cy="185737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Free Space Path Loss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6300" y="3040856"/>
            <a:ext cx="9239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E5FF"/>
                </a:solidFill>
                <a:latin typeface="Orbitron"/>
              </a:rPr>
              <a:t>Dense Urban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0725" y="3040856"/>
            <a:ext cx="4953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E5FF"/>
                </a:solidFill>
                <a:latin typeface="Orbitron"/>
              </a:rPr>
              <a:t>Urban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86525" y="3040856"/>
            <a:ext cx="7715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E5FF"/>
                </a:solidFill>
                <a:latin typeface="Orbitron"/>
              </a:rPr>
              <a:t>Sub Urban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86300" y="3336131"/>
            <a:ext cx="457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E5FF"/>
                </a:solidFill>
                <a:latin typeface="Orbitron"/>
              </a:rPr>
              <a:t>Rural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EA9AF2-DFD5-9D97-275C-018F0FCDB3EB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1200150"/>
            <a:ext cx="10953750" cy="28575"/>
          </a:xfrm>
          <a:prstGeom prst="rect">
            <a:avLst/>
          </a:prstGeom>
          <a:solidFill>
            <a:srgbClr val="1EB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" y="2243137"/>
            <a:ext cx="6579840" cy="3362325"/>
          </a:xfrm>
          <a:prstGeom prst="roundRect">
            <a:avLst>
              <a:gd name="adj" fmla="val 3399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03765" y="2421731"/>
            <a:ext cx="4069109" cy="1781175"/>
          </a:xfrm>
          <a:prstGeom prst="roundRect">
            <a:avLst>
              <a:gd name="adj" fmla="val 6417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03765" y="4393406"/>
            <a:ext cx="4069109" cy="1033462"/>
          </a:xfrm>
          <a:prstGeom prst="roundRect">
            <a:avLst>
              <a:gd name="adj" fmla="val 11059"/>
            </a:avLst>
          </a:prstGeom>
          <a:solidFill>
            <a:srgbClr val="0F1628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41890" y="2993231"/>
            <a:ext cx="3592859" cy="428625"/>
          </a:xfrm>
          <a:prstGeom prst="roundRect">
            <a:avLst>
              <a:gd name="adj" fmla="val 13333"/>
            </a:avLst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41890" y="3536156"/>
            <a:ext cx="3592859" cy="428625"/>
          </a:xfrm>
          <a:prstGeom prst="roundRect">
            <a:avLst>
              <a:gd name="adj" fmla="val 13333"/>
            </a:avLst>
          </a:prstGeom>
          <a:solidFill>
            <a:srgbClr val="0B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509837"/>
            <a:ext cx="2286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890" y="2683668"/>
            <a:ext cx="142875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1890" y="4660106"/>
            <a:ext cx="123825" cy="123825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57250" y="3376612"/>
          <a:ext cx="6103589" cy="1990725"/>
        </p:xfrm>
        <a:graphic>
          <a:graphicData uri="http://schemas.openxmlformats.org/drawingml/2006/table">
            <a:tbl>
              <a:tblPr/>
              <a:tblGrid>
                <a:gridCol w="142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4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9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7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Space Grotesk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Space Grotesk"/>
                        </a:rPr>
                        <a:t>Target Mapping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0E5FF"/>
                          </a:solidFill>
                          <a:latin typeface="Space Grotesk"/>
                        </a:rPr>
                        <a:t>Fallback Keywords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Space Grotesk"/>
                        </a:rPr>
                        <a:t>Height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Antenna Height (m)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64748B"/>
                          </a:solidFill>
                          <a:latin typeface="Space Grotesk"/>
                        </a:rPr>
                        <a:t>height, antenna_height, hgt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Space Grotesk"/>
                        </a:rPr>
                        <a:t>RS Power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TX Power (0.1 dBm)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64748B"/>
                          </a:solidFill>
                          <a:latin typeface="Space Grotesk"/>
                        </a:rPr>
                        <a:t>rs_power, power, tx_power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Space Grotesk"/>
                        </a:rPr>
                        <a:t>Antenna Gain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Gain (dBi)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64748B"/>
                          </a:solidFill>
                          <a:latin typeface="Space Grotesk"/>
                        </a:rPr>
                        <a:t>antenna_gain, gain, ant_gain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Space Grotesk"/>
                        </a:rPr>
                        <a:t>Beams (H/V)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3dB Beamwidth (°)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64748B"/>
                          </a:solidFill>
                          <a:latin typeface="Space Grotesk"/>
                        </a:rPr>
                        <a:t>hbeam, vbeam, bw_h, bw_v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79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CBD5E1"/>
                          </a:solidFill>
                          <a:latin typeface="Space Grotesk"/>
                        </a:rPr>
                        <a:t>Tilts (M/E)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CBD5E1"/>
                          </a:solidFill>
                          <a:latin typeface="Space Grotesk"/>
                        </a:rPr>
                        <a:t>Mechanical &amp; Electrical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64748B"/>
                          </a:solidFill>
                          <a:latin typeface="Space Grotesk"/>
                        </a:rPr>
                        <a:t>m_tilt, e_tilt, mech_tilt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9125" y="46672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E5FF"/>
                </a:solidFill>
                <a:latin typeface="Orbitron"/>
              </a:rPr>
              <a:t>WORKFLOW STEP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695325"/>
            <a:ext cx="115728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Rajdhani"/>
              </a:rPr>
              <a:t>CELL &amp; RECEIVER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2481262"/>
            <a:ext cx="7690922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Rajdhani"/>
              </a:rPr>
              <a:t>CELL FIELD AUTO-MAPPING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2881312"/>
            <a:ext cx="619884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Space Grotesk"/>
              </a:rPr>
              <a:t>The plugin auto-detects sector attributes from the vector layer based on smart keyword matching: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0965" y="2659856"/>
            <a:ext cx="4231034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0E5FF"/>
                </a:solidFill>
                <a:latin typeface="Rajdhani"/>
              </a:rPr>
              <a:t>RECEIVER 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1890" y="4631531"/>
            <a:ext cx="3688109" cy="557212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Space Grotesk"/>
              </a:rPr>
              <a:t>In </a:t>
            </a:r>
            <a:r>
              <a:rPr sz="975" b="1" i="0" u="none">
                <a:solidFill>
                  <a:srgbClr val="94A3B8"/>
                </a:solidFill>
                <a:latin typeface="Space Grotesk"/>
              </a:rPr>
              <a:t>Selected Cell</a:t>
            </a:r>
            <a:r>
              <a:rPr sz="975" b="0" i="0" u="none">
                <a:solidFill>
                  <a:srgbClr val="94A3B8"/>
                </a:solidFill>
                <a:latin typeface="Space Grotesk"/>
              </a:rPr>
              <a:t> mode, numerical input fields remain fully editable, allowing users to perform custom "What-If" tilt or power adjustment simulations.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6190" y="3121818"/>
            <a:ext cx="12668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User Height (m)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4125" y="3107531"/>
            <a:ext cx="13620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Space Grotesk"/>
              </a:rPr>
              <a:t>1.5 m (Default)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6190" y="3664743"/>
            <a:ext cx="1371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Penetration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25075" y="3650456"/>
            <a:ext cx="1381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E5FF"/>
                </a:solidFill>
                <a:latin typeface="Space Grotesk"/>
              </a:rPr>
              <a:t>0 dB (Outdoor)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7A405C-93D9-775D-C0AA-572452061570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1200150"/>
            <a:ext cx="10953750" cy="28575"/>
          </a:xfrm>
          <a:prstGeom prst="rect">
            <a:avLst/>
          </a:prstGeom>
          <a:solidFill>
            <a:srgbClr val="1EB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" y="2076450"/>
            <a:ext cx="5362575" cy="1733550"/>
          </a:xfrm>
          <a:prstGeom prst="roundRect">
            <a:avLst>
              <a:gd name="adj" fmla="val 6593"/>
            </a:avLst>
          </a:prstGeom>
          <a:solidFill>
            <a:srgbClr val="0F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076450"/>
            <a:ext cx="5362575" cy="1733550"/>
          </a:xfrm>
          <a:prstGeom prst="roundRect">
            <a:avLst>
              <a:gd name="adj" fmla="val 6593"/>
            </a:avLst>
          </a:prstGeom>
          <a:solidFill>
            <a:srgbClr val="0F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4038600"/>
            <a:ext cx="5362575" cy="1733550"/>
          </a:xfrm>
          <a:prstGeom prst="roundRect">
            <a:avLst>
              <a:gd name="adj" fmla="val 6593"/>
            </a:avLst>
          </a:prstGeom>
          <a:solidFill>
            <a:srgbClr val="0F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4038600"/>
            <a:ext cx="5362575" cy="1733550"/>
          </a:xfrm>
          <a:prstGeom prst="roundRect">
            <a:avLst>
              <a:gd name="adj" fmla="val 6593"/>
            </a:avLst>
          </a:prstGeom>
          <a:solidFill>
            <a:srgbClr val="0F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" y="3800475"/>
            <a:ext cx="5362575" cy="95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2076450"/>
            <a:ext cx="5362575" cy="95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" y="2076450"/>
            <a:ext cx="38100" cy="17335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72175" y="2076450"/>
            <a:ext cx="9525" cy="17335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5825" y="2619375"/>
            <a:ext cx="2009775" cy="238125"/>
          </a:xfrm>
          <a:prstGeom prst="roundRect">
            <a:avLst>
              <a:gd name="adj" fmla="val 16000"/>
            </a:avLst>
          </a:prstGeom>
          <a:solidFill>
            <a:srgbClr val="0E2B3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0300" y="3800475"/>
            <a:ext cx="5362575" cy="95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0300" y="2076450"/>
            <a:ext cx="5362575" cy="95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300" y="2076450"/>
            <a:ext cx="38100" cy="17335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63350" y="2076450"/>
            <a:ext cx="9525" cy="17335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77000" y="2619375"/>
            <a:ext cx="1914525" cy="238125"/>
          </a:xfrm>
          <a:prstGeom prst="roundRect">
            <a:avLst>
              <a:gd name="adj" fmla="val 16000"/>
            </a:avLst>
          </a:prstGeom>
          <a:solidFill>
            <a:srgbClr val="0E2B3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125" y="5762625"/>
            <a:ext cx="5362575" cy="95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125" y="4038600"/>
            <a:ext cx="5362575" cy="95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125" y="4038600"/>
            <a:ext cx="38100" cy="173355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72175" y="4038600"/>
            <a:ext cx="9525" cy="17335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85825" y="4581525"/>
            <a:ext cx="1504950" cy="238125"/>
          </a:xfrm>
          <a:prstGeom prst="roundRect">
            <a:avLst>
              <a:gd name="adj" fmla="val 16000"/>
            </a:avLst>
          </a:prstGeom>
          <a:solidFill>
            <a:srgbClr val="0E2B3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0300" y="5762625"/>
            <a:ext cx="5362575" cy="95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0300" y="4038600"/>
            <a:ext cx="5362575" cy="9525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0300" y="4038600"/>
            <a:ext cx="38100" cy="173355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563350" y="4038600"/>
            <a:ext cx="9525" cy="173355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77000" y="4581525"/>
            <a:ext cx="1666875" cy="238125"/>
          </a:xfrm>
          <a:prstGeom prst="roundRect">
            <a:avLst>
              <a:gd name="adj" fmla="val 16000"/>
            </a:avLst>
          </a:prstGeom>
          <a:solidFill>
            <a:srgbClr val="0E2B3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9125" y="46672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E5FF"/>
                </a:solidFill>
                <a:latin typeface="Orbitron"/>
              </a:rPr>
              <a:t>PROPAGATION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125" y="695325"/>
            <a:ext cx="115728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Rajdhani"/>
              </a:rPr>
              <a:t>SUPPORTED PROPAGATION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2314575"/>
            <a:ext cx="63757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Rajdhani"/>
              </a:rPr>
              <a:t>COST-231 HATA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125" y="2657475"/>
            <a:ext cx="18764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E5FF"/>
                </a:solidFill>
                <a:latin typeface="Orbitron"/>
              </a:rPr>
              <a:t>Standard Urban / Sub Urban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" y="2971800"/>
            <a:ext cx="4953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Space Grotesk"/>
              </a:rPr>
              <a:t>Extended Hata model suited for cellular communications between 1500 MHz to 2000 MHz. Calculates path loss based on base station height, mobile height, and urban density factors.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0" y="2314575"/>
            <a:ext cx="5715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Rajdhani"/>
              </a:rPr>
              <a:t>PATH-SPECIFIC TERRAIN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1300" y="2657475"/>
            <a:ext cx="1781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E5FF"/>
                </a:solidFill>
                <a:latin typeface="Orbitron"/>
              </a:rPr>
              <a:t>Hilly / Mountainous Terrain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0" y="2971800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Space Grotesk"/>
              </a:rPr>
              <a:t>Extracts terrain elevation profiles along the radio path directly from DEM rasters to compute diffraction loss over obstacles and mountain ridges.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825" y="4276725"/>
            <a:ext cx="637579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Rajdhani"/>
              </a:rPr>
              <a:t>3GPP UMA &amp; UMI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125" y="4619625"/>
            <a:ext cx="1371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E5FF"/>
                </a:solidFill>
                <a:latin typeface="Orbitron"/>
              </a:rPr>
              <a:t>Urban Macro / Micro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825" y="4933950"/>
            <a:ext cx="4953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Space Grotesk"/>
              </a:rPr>
              <a:t>3GPP TR 38.901 standard propagation model for 5G NR and 4G LTE. Differentiates between Urban Macro (high BS elevation) and Urban Micro (street canyon level).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0" y="4276725"/>
            <a:ext cx="5715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Rajdhani"/>
              </a:rPr>
              <a:t>STANDARD PROPAGATION MODEL (SPM)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1300" y="4619625"/>
            <a:ext cx="15335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E5FF"/>
                </a:solidFill>
                <a:latin typeface="Orbitron"/>
              </a:rPr>
              <a:t>Calibrated Macro Cells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0" y="4933950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Space Grotesk"/>
              </a:rPr>
              <a:t>Empirical formulas tuned for general macro cell planning, balancing diffraction, clutter attenuation, and distance slope factors.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8B6C1C-57AE-B67C-DC43-17BA9061D489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1200150"/>
            <a:ext cx="10953750" cy="28575"/>
          </a:xfrm>
          <a:prstGeom prst="rect">
            <a:avLst/>
          </a:prstGeom>
          <a:solidFill>
            <a:srgbClr val="1EB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51748" y="1828800"/>
            <a:ext cx="5921126" cy="4191000"/>
          </a:xfrm>
          <a:prstGeom prst="roundRect">
            <a:avLst>
              <a:gd name="adj" fmla="val 2727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1900237"/>
            <a:ext cx="4727823" cy="1314450"/>
          </a:xfrm>
          <a:prstGeom prst="roundRect">
            <a:avLst>
              <a:gd name="adj" fmla="val 8695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3405187"/>
            <a:ext cx="4727823" cy="1314450"/>
          </a:xfrm>
          <a:prstGeom prst="roundRect">
            <a:avLst>
              <a:gd name="adj" fmla="val 8695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" y="4910137"/>
            <a:ext cx="4727823" cy="1038225"/>
          </a:xfrm>
          <a:prstGeom prst="roundRect">
            <a:avLst>
              <a:gd name="adj" fmla="val 11009"/>
            </a:avLst>
          </a:prstGeom>
          <a:solidFill>
            <a:srgbClr val="0F1628"/>
          </a:solidFill>
          <a:ln w="952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157412"/>
            <a:ext cx="1524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662362"/>
            <a:ext cx="2286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125" y="46672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E5FF"/>
                </a:solidFill>
                <a:latin typeface="Orbitron"/>
              </a:rPr>
              <a:t>WORKFLOW STEP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695325"/>
            <a:ext cx="115728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Rajdhani"/>
              </a:rPr>
              <a:t>EXECUTION &amp; SIMULATION RENDERING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6388" y="5856014"/>
            <a:ext cx="70918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64748B"/>
                </a:solidFill>
                <a:latin typeface="Space Grotesk"/>
              </a:rPr>
              <a:t>Path-Specific Terrain Model RSRP Heatmap 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2138362"/>
            <a:ext cx="5580189" cy="24765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E5FF"/>
                </a:solidFill>
                <a:latin typeface="Rajdhani"/>
              </a:rPr>
              <a:t>TRIGGER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2462212"/>
            <a:ext cx="4346823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Space Grotesk"/>
              </a:rPr>
              <a:t>Click the bold </a:t>
            </a:r>
            <a:r>
              <a:rPr sz="1050" b="1" i="0" u="none">
                <a:solidFill>
                  <a:srgbClr val="94A3B8"/>
                </a:solidFill>
                <a:latin typeface="Space Grotesk"/>
              </a:rPr>
              <a:t>Predict</a:t>
            </a:r>
            <a:r>
              <a:rPr sz="1050" b="0" i="0" u="none">
                <a:solidFill>
                  <a:srgbClr val="94A3B8"/>
                </a:solidFill>
                <a:latin typeface="Space Grotesk"/>
              </a:rPr>
              <a:t> button at the bottom of the dialog. The plugin processes raytracing, 3D pattern attenuation, and path loss equations.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643312"/>
            <a:ext cx="5580189" cy="247650"/>
          </a:xfrm>
          <a:prstGeom prst="rect">
            <a:avLst/>
          </a:prstGeom>
          <a:noFill/>
        </p:spPr>
        <p:txBody>
          <a:bodyPr wrap="none" lIns="3048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Rajdhani"/>
              </a:rPr>
              <a:t>DYNAMIC HEATMAP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967162"/>
            <a:ext cx="4346823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Space Grotesk"/>
              </a:rPr>
              <a:t>Generates a temporary memory raster/grid layer on the QGIS map canvas styled with standard RF color gradations (Blue = Excellent RSRP, Green = Good, Orange/Red = Edge Coverage).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5148262"/>
            <a:ext cx="558018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Rajdhani"/>
              </a:rPr>
              <a:t>TERRAIN SHADOWING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5386387"/>
            <a:ext cx="434682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Space Grotesk"/>
              </a:rPr>
              <a:t>Notice how the predicted heatmap respects terrain contours, creating natural signal blockages and hill shadows on the satellite backdrop.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11F40E-EC82-C075-7DE7-43E06148EC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561" y="1882900"/>
            <a:ext cx="4471211" cy="39319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70EFF04-CF12-F50A-3569-611CA1E510C0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" y="1200150"/>
            <a:ext cx="10953750" cy="28575"/>
          </a:xfrm>
          <a:prstGeom prst="rect">
            <a:avLst/>
          </a:prstGeom>
          <a:solidFill>
            <a:srgbClr val="1EB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51748" y="1828800"/>
            <a:ext cx="5921126" cy="4191000"/>
          </a:xfrm>
          <a:prstGeom prst="roundRect">
            <a:avLst>
              <a:gd name="adj" fmla="val 2727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1900237"/>
            <a:ext cx="4727823" cy="1314450"/>
          </a:xfrm>
          <a:prstGeom prst="roundRect">
            <a:avLst>
              <a:gd name="adj" fmla="val 8695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" y="3405187"/>
            <a:ext cx="4727823" cy="1314450"/>
          </a:xfrm>
          <a:prstGeom prst="roundRect">
            <a:avLst>
              <a:gd name="adj" fmla="val 8695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125" y="4910137"/>
            <a:ext cx="4727823" cy="1038225"/>
          </a:xfrm>
          <a:prstGeom prst="roundRect">
            <a:avLst>
              <a:gd name="adj" fmla="val 11009"/>
            </a:avLst>
          </a:prstGeom>
          <a:solidFill>
            <a:srgbClr val="0F1628"/>
          </a:solidFill>
          <a:ln w="952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157412"/>
            <a:ext cx="1524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662362"/>
            <a:ext cx="1809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125" y="46672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E5FF"/>
                </a:solidFill>
                <a:latin typeface="Orbitron"/>
              </a:rPr>
              <a:t>URBAN COVERAGE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695325"/>
            <a:ext cx="115728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Rajdhani"/>
              </a:rPr>
              <a:t>DENSE URBAN PREDICTION (TERRAIN + BUILDING DSM)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6388" y="5857875"/>
            <a:ext cx="70918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64748B"/>
                </a:solidFill>
                <a:latin typeface="Space Grotesk"/>
              </a:rPr>
              <a:t>Dense Urban Prediction (Terrain + Building DSM Model)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2138362"/>
            <a:ext cx="5580189" cy="24765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E5FF"/>
                </a:solidFill>
                <a:latin typeface="Rajdhani"/>
              </a:rPr>
              <a:t>BUILDING SHADOWING &amp; DIFFRACTION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2462212"/>
            <a:ext cx="4346823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Space Grotesk"/>
              </a:rPr>
              <a:t>When </a:t>
            </a:r>
            <a:r>
              <a:rPr sz="1050" b="1" i="0" u="none">
                <a:solidFill>
                  <a:srgbClr val="94A3B8"/>
                </a:solidFill>
                <a:latin typeface="Space Grotesk"/>
              </a:rPr>
              <a:t>Terrain + Building (DSM)</a:t>
            </a:r>
            <a:r>
              <a:rPr sz="1050" b="0" i="0" u="none">
                <a:solidFill>
                  <a:srgbClr val="94A3B8"/>
                </a:solidFill>
                <a:latin typeface="Space Grotesk"/>
              </a:rPr>
              <a:t> is enabled, signal loss accounts for urban building heights, causing sharp attenuation behind high-rise structures and along street canyons.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643312"/>
            <a:ext cx="5580189" cy="247650"/>
          </a:xfrm>
          <a:prstGeom prst="rect">
            <a:avLst/>
          </a:prstGeom>
          <a:noFill/>
        </p:spPr>
        <p:txBody>
          <a:bodyPr wrap="none" lIns="2571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Rajdhani"/>
              </a:rPr>
              <a:t>MICRO-CELL CLUTTER 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967162"/>
            <a:ext cx="4346823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Space Grotesk"/>
              </a:rPr>
              <a:t>High-resolution prediction grids capture fine-grained signal drops across dense building blocks while reflecting main lobe dominance from the target sector antenna.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5148262"/>
            <a:ext cx="558018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Rajdhani"/>
              </a:rPr>
              <a:t>MULTI-SECTOR INTERFERENCE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5386387"/>
            <a:ext cx="434682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Space Grotesk"/>
              </a:rPr>
              <a:t>Overlaid GCell sector wedges clearly illustrate serving sector alignment versus surrounding neighbor cells in high-density metropolitan zones.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47E82CC-9AA5-BD1E-6403-5EB4BFFBB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85" y="1896089"/>
            <a:ext cx="4253889" cy="393192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ED6E84E-AA64-DC66-C796-6DA9F360973F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9125" y="1200150"/>
            <a:ext cx="10953750" cy="28575"/>
          </a:xfrm>
          <a:prstGeom prst="rect">
            <a:avLst/>
          </a:prstGeom>
          <a:solidFill>
            <a:srgbClr val="1EB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" y="2638425"/>
            <a:ext cx="3498800" cy="1790700"/>
          </a:xfrm>
          <a:prstGeom prst="roundRect">
            <a:avLst>
              <a:gd name="adj" fmla="val 6382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6525" y="2638425"/>
            <a:ext cx="3498800" cy="1790700"/>
          </a:xfrm>
          <a:prstGeom prst="roundRect">
            <a:avLst>
              <a:gd name="adj" fmla="val 6382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73925" y="2638425"/>
            <a:ext cx="3498949" cy="1790700"/>
          </a:xfrm>
          <a:prstGeom prst="roundRect">
            <a:avLst>
              <a:gd name="adj" fmla="val 6382"/>
            </a:avLst>
          </a:prstGeom>
          <a:solidFill>
            <a:srgbClr val="0F1628"/>
          </a:solidFill>
          <a:ln w="9525">
            <a:solidFill>
              <a:srgbClr val="0D3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70635" y="3617595"/>
            <a:ext cx="1169670" cy="190500"/>
          </a:xfrm>
          <a:prstGeom prst="roundRect">
            <a:avLst>
              <a:gd name="adj" fmla="val 20000"/>
            </a:avLst>
          </a:prstGeom>
          <a:solidFill>
            <a:srgbClr val="13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876550"/>
            <a:ext cx="23812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650" y="2876550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2050" y="2876550"/>
            <a:ext cx="2381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9125" y="466725"/>
            <a:ext cx="11572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E5FF"/>
                </a:solidFill>
                <a:latin typeface="Orbitron"/>
              </a:rPr>
              <a:t>OPERATIONAL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695325"/>
            <a:ext cx="115728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Rajdhani"/>
              </a:rPr>
              <a:t>BEST PRACTICES &amp; TROUBLESHOOTING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295650"/>
            <a:ext cx="396709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Rajdhani"/>
              </a:rPr>
              <a:t>VERIFY VECTOR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603177"/>
            <a:ext cx="3117800" cy="394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Space Grotesk"/>
              </a:rPr>
              <a:t>Ensure </a:t>
            </a:r>
            <a:r>
              <a:rPr lang="en-US" sz="1050" b="0" i="0" u="none" dirty="0">
                <a:solidFill>
                  <a:srgbClr val="94A3B8"/>
                </a:solidFill>
                <a:latin typeface="Space Grotesk"/>
              </a:rPr>
              <a:t>                                         </a:t>
            </a:r>
            <a:r>
              <a:rPr sz="1050" b="0" i="0" u="none" dirty="0">
                <a:solidFill>
                  <a:srgbClr val="94A3B8"/>
                </a:solidFill>
                <a:latin typeface="Space Grotesk"/>
              </a:rPr>
              <a:t>is correctly set in Kraken Settings before launching the tool.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650" y="3295650"/>
            <a:ext cx="396709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Rajdhani"/>
              </a:rPr>
              <a:t>CHECK TERRAIN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4650" y="3590925"/>
            <a:ext cx="3117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Space Grotesk"/>
              </a:rPr>
              <a:t>For </a:t>
            </a:r>
            <a:r>
              <a:rPr sz="1050" b="0" i="1" u="none">
                <a:solidFill>
                  <a:srgbClr val="94A3B8"/>
                </a:solidFill>
                <a:latin typeface="Space Grotesk"/>
              </a:rPr>
              <a:t>Path-Specific Terrain</a:t>
            </a:r>
            <a:r>
              <a:rPr sz="1050" b="0" i="0" u="none">
                <a:solidFill>
                  <a:srgbClr val="94A3B8"/>
                </a:solidFill>
                <a:latin typeface="Space Grotesk"/>
              </a:rPr>
              <a:t> predictions, verify that DEM/DSM rasters are loaded in the current QGIS project.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2050" y="3295650"/>
            <a:ext cx="387994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Rajdhani"/>
              </a:rPr>
              <a:t>GRID RESOLUTION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2050" y="3590925"/>
            <a:ext cx="31179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Space Grotesk"/>
              </a:rPr>
              <a:t>Use 50x50 resolution for fast macro-cell checks, and 10x10 resolution for precise urban dense simulations.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4130" y="3591470"/>
            <a:ext cx="1094852" cy="1894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 err="1">
                <a:solidFill>
                  <a:srgbClr val="38BDF8"/>
                </a:solidFill>
                <a:latin typeface="monospace"/>
              </a:rPr>
              <a:t>main_gcell_layer_id</a:t>
            </a:r>
            <a:endParaRPr sz="1050" b="0" i="0" u="none" dirty="0">
              <a:solidFill>
                <a:srgbClr val="38BDF8"/>
              </a:solidFill>
              <a:latin typeface="monospace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B269B6-9261-1810-B68D-4502C57DE495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1072</Words>
  <Application>Microsoft Office PowerPoint</Application>
  <PresentationFormat>Widescreen</PresentationFormat>
  <Paragraphs>146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Rajdhani</vt:lpstr>
      <vt:lpstr>monospace</vt:lpstr>
      <vt:lpstr>Orbitron</vt:lpstr>
      <vt:lpstr>Calibri</vt:lpstr>
      <vt:lpstr>Inter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8</cp:revision>
  <dcterms:created xsi:type="dcterms:W3CDTF">2013-01-27T09:14:16Z</dcterms:created>
  <dcterms:modified xsi:type="dcterms:W3CDTF">2026-10-25T01:50:17Z</dcterms:modified>
  <cp:category/>
</cp:coreProperties>
</file>