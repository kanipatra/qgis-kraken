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JetBrains Mono"/>
      <p:bold r:id="rId7"/>
    </p:embeddedFont>
    <p:embeddedFont>
      <p:font typeface="Plus Jakarta Sans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40CCDB4-94C3-50E2-1028-785539BA3BF6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A4B8E-E689-C858-43C4-3DDC309E4855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B984C-64C4-38B4-FE90-548A2C4EDE7E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960BE7-482F-EF8D-6967-39E4F5FB721C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23F74-4F71-52D8-5AFF-6BB486E9B282}"/>
              </a:ext>
            </a:extLst>
          </p:cNvPr>
          <p:cNvSpPr txBox="1"/>
          <p:nvPr/>
        </p:nvSpPr>
        <p:spPr>
          <a:xfrm>
            <a:off x="609600" y="2243137"/>
            <a:ext cx="5849935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Spider Graph Map Tool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679650-9429-BC1D-543F-8C9786DF7319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Interactive GIS visualization connecting Measurement Report (MR) points to serving cells with high-performance </a:t>
            </a:r>
            <a:r>
              <a:rPr lang="en-US" sz="1500" b="0" i="0" u="none" dirty="0" err="1">
                <a:solidFill>
                  <a:srgbClr val="94A3B8"/>
                </a:solidFill>
                <a:latin typeface="Inter"/>
              </a:rPr>
              <a:t>DuckDB</a:t>
            </a: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 querying and dynamic styling engine.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B1989B0-8F40-E0AE-02CF-DE120A42D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888" y="2598949"/>
            <a:ext cx="1015873" cy="1015873"/>
          </a:xfrm>
          <a:prstGeom prst="rect">
            <a:avLst/>
          </a:prstGeom>
        </p:spPr>
      </p:pic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A1133691-ABB8-D284-FD40-2E237DF580AF}"/>
              </a:ext>
            </a:extLst>
          </p:cNvPr>
          <p:cNvSpPr/>
          <p:nvPr/>
        </p:nvSpPr>
        <p:spPr>
          <a:xfrm>
            <a:off x="619125" y="4215705"/>
            <a:ext cx="1905000" cy="733425"/>
          </a:xfrm>
          <a:prstGeom prst="roundRect">
            <a:avLst>
              <a:gd name="adj" fmla="val 15584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ACE32152-3E52-3C44-DE2E-1C1CB316C33F}"/>
              </a:ext>
            </a:extLst>
          </p:cNvPr>
          <p:cNvSpPr/>
          <p:nvPr/>
        </p:nvSpPr>
        <p:spPr>
          <a:xfrm>
            <a:off x="2676525" y="4215705"/>
            <a:ext cx="1905000" cy="733425"/>
          </a:xfrm>
          <a:prstGeom prst="roundRect">
            <a:avLst>
              <a:gd name="adj" fmla="val 15584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18CF22A3-F2C0-3A1E-C95E-89668CA94C3F}"/>
              </a:ext>
            </a:extLst>
          </p:cNvPr>
          <p:cNvSpPr/>
          <p:nvPr/>
        </p:nvSpPr>
        <p:spPr>
          <a:xfrm>
            <a:off x="4733925" y="4215705"/>
            <a:ext cx="1905000" cy="733425"/>
          </a:xfrm>
          <a:prstGeom prst="roundRect">
            <a:avLst>
              <a:gd name="adj" fmla="val 15584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A9D8E4-A393-4AF5-56B3-1B3DD1A08AE2}"/>
              </a:ext>
            </a:extLst>
          </p:cNvPr>
          <p:cNvSpPr txBox="1"/>
          <p:nvPr/>
        </p:nvSpPr>
        <p:spPr>
          <a:xfrm>
            <a:off x="857250" y="4377630"/>
            <a:ext cx="1785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JetBrains Mono"/>
              </a:rPr>
              <a:t>ENGINE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962544-21AD-A5AD-5F54-87D325200E71}"/>
              </a:ext>
            </a:extLst>
          </p:cNvPr>
          <p:cNvSpPr txBox="1"/>
          <p:nvPr/>
        </p:nvSpPr>
        <p:spPr>
          <a:xfrm>
            <a:off x="857250" y="4568130"/>
            <a:ext cx="1785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DuckDB SQL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3B25AB-64BE-0399-7D85-3A6B8285DE8E}"/>
              </a:ext>
            </a:extLst>
          </p:cNvPr>
          <p:cNvSpPr txBox="1"/>
          <p:nvPr/>
        </p:nvSpPr>
        <p:spPr>
          <a:xfrm>
            <a:off x="2914650" y="4377630"/>
            <a:ext cx="1785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JetBrains Mono"/>
              </a:rPr>
              <a:t>RENDERING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7FCAF3-AF53-DB6B-8ECE-9B7F5C34F73E}"/>
              </a:ext>
            </a:extLst>
          </p:cNvPr>
          <p:cNvSpPr txBox="1"/>
          <p:nvPr/>
        </p:nvSpPr>
        <p:spPr>
          <a:xfrm>
            <a:off x="2914650" y="4568130"/>
            <a:ext cx="1785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43F5E"/>
                </a:solidFill>
                <a:latin typeface="Plus Jakarta Sans"/>
              </a:rPr>
              <a:t>Dual Layer GIS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582883-C43C-7382-943D-2FB5F9A30032}"/>
              </a:ext>
            </a:extLst>
          </p:cNvPr>
          <p:cNvSpPr txBox="1"/>
          <p:nvPr/>
        </p:nvSpPr>
        <p:spPr>
          <a:xfrm>
            <a:off x="4972050" y="4377630"/>
            <a:ext cx="1785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JetBrains Mono"/>
              </a:rPr>
              <a:t>SUPPORT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F22FAF-B06F-AA23-C1FD-AF61756B25BE}"/>
              </a:ext>
            </a:extLst>
          </p:cNvPr>
          <p:cNvSpPr txBox="1"/>
          <p:nvPr/>
        </p:nvSpPr>
        <p:spPr>
          <a:xfrm>
            <a:off x="4972050" y="4568130"/>
            <a:ext cx="1785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LTE Multi-Value</a:t>
            </a:r>
          </a:p>
        </p:txBody>
      </p:sp>
    </p:spTree>
    <p:extLst>
      <p:ext uri="{BB962C8B-B14F-4D97-AF65-F5344CB8AC3E}">
        <p14:creationId xmlns:p14="http://schemas.microsoft.com/office/powerpoint/2010/main" val="407166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125" y="1963935"/>
            <a:ext cx="5362575" cy="1057275"/>
          </a:xfrm>
          <a:prstGeom prst="roundRect">
            <a:avLst>
              <a:gd name="adj" fmla="val 10810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3173610"/>
            <a:ext cx="5362575" cy="1057275"/>
          </a:xfrm>
          <a:prstGeom prst="roundRect">
            <a:avLst>
              <a:gd name="adj" fmla="val 10810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4383285"/>
            <a:ext cx="5362575" cy="1057275"/>
          </a:xfrm>
          <a:prstGeom prst="roundRect">
            <a:avLst>
              <a:gd name="adj" fmla="val 10810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470398"/>
            <a:ext cx="5362575" cy="246355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5921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6888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67856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STEP 01 • INITIAL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Configuration &amp; Data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127670"/>
            <a:ext cx="1157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Plus Jakarta Sans"/>
              </a:rPr>
              <a:t>Configure DuckDB paths, column mapping, and field lookup definitions in Setting Tab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202060"/>
            <a:ext cx="60382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1. DuckDB MR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440185"/>
            <a:ext cx="4695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CA3AF"/>
                </a:solidFill>
                <a:latin typeface="Plus Jakarta Sans"/>
              </a:rPr>
              <a:t>High-speed DuckDB file containing Measurement Report samples with latitude and longitude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50" y="3411735"/>
            <a:ext cx="60132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2. Dynamic Attribute Selectors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050" y="3649860"/>
            <a:ext cx="46767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CA3AF"/>
                </a:solidFill>
                <a:latin typeface="Plus Jakarta Sans"/>
              </a:rPr>
              <a:t>Assign columns for Line Width, Line Color, Point Size, and Point Color metrics.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" y="4621410"/>
            <a:ext cx="60132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3. Multi-Key Lookup Definition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050" y="4859535"/>
            <a:ext cx="46767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CA3AF"/>
                </a:solidFill>
                <a:latin typeface="Plus Jakarta Sans"/>
              </a:rPr>
              <a:t>Link Main GCell layer keys (e.g., eNodeB_CI, PCI) directly to MR DuckDB fields.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F3EBC6B-5BD4-C6F6-DE24-0295CB464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2868" y="2624290"/>
            <a:ext cx="5101713" cy="21716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49DA03-9FA0-B326-0709-4F3A06CA596B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5154066"/>
            <a:ext cx="10953750" cy="552450"/>
          </a:xfrm>
          <a:prstGeom prst="roundRect">
            <a:avLst>
              <a:gd name="adj" fmla="val 20689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002631"/>
            <a:ext cx="3524250" cy="2476500"/>
          </a:xfrm>
          <a:prstGeom prst="roundRect">
            <a:avLst>
              <a:gd name="adj" fmla="val 4615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3875" y="2002631"/>
            <a:ext cx="3524250" cy="2476500"/>
          </a:xfrm>
          <a:prstGeom prst="roundRect">
            <a:avLst>
              <a:gd name="adj" fmla="val 4615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8625" y="2002631"/>
            <a:ext cx="3524250" cy="2476500"/>
          </a:xfrm>
          <a:prstGeom prst="roundRect">
            <a:avLst>
              <a:gd name="adj" fmla="val 4615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991725" y="5315991"/>
            <a:ext cx="1343025" cy="228600"/>
          </a:xfrm>
          <a:prstGeom prst="roundRect">
            <a:avLst>
              <a:gd name="adj" fmla="val 25000"/>
            </a:avLst>
          </a:prstGeom>
          <a:solidFill>
            <a:srgbClr val="14273C"/>
          </a:solidFill>
          <a:ln w="9525">
            <a:solidFill>
              <a:srgbClr val="18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250" y="3755231"/>
            <a:ext cx="3048000" cy="485775"/>
          </a:xfrm>
          <a:prstGeom prst="roundRect">
            <a:avLst>
              <a:gd name="adj" fmla="val 15686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0" y="3755231"/>
            <a:ext cx="3048000" cy="485775"/>
          </a:xfrm>
          <a:prstGeom prst="roundRect">
            <a:avLst>
              <a:gd name="adj" fmla="val 15686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6750" y="3755231"/>
            <a:ext cx="3048000" cy="485775"/>
          </a:xfrm>
          <a:prstGeom prst="roundRect">
            <a:avLst>
              <a:gd name="adj" fmla="val 15686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335041"/>
            <a:ext cx="17145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STEP 02 • INTERACTIVE MAP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Canvas Click &amp; Execution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1127670"/>
            <a:ext cx="1157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Plus Jakarta Sans"/>
              </a:rPr>
              <a:t>On-demand spider line generation with automatic coordinate transform and state cleanup.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6975" y="5354091"/>
            <a:ext cx="1247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DUCKDB LIKE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907631"/>
            <a:ext cx="2838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5F3FC"/>
                </a:solidFill>
                <a:latin typeface="JetBrains Mono"/>
              </a:rPr>
              <a:t>setCursor(PointingHand)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400" y="3907631"/>
            <a:ext cx="2838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5F3FC"/>
                </a:solidFill>
                <a:latin typeface="JetBrains Mono"/>
              </a:rPr>
              <a:t>QgsCoordinateTransform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150" y="3907631"/>
            <a:ext cx="2838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5F3FC"/>
                </a:solidFill>
                <a:latin typeface="JetBrains Mono"/>
              </a:rPr>
              <a:t>removeMapLayer()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44566"/>
            <a:ext cx="6238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1D5DB"/>
                </a:solidFill>
                <a:latin typeface="Plus Jakarta Sans"/>
              </a:rPr>
              <a:t>Handles multi-value string arrays with automatic normalization (e.g. '40.0' to '40').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2240756"/>
            <a:ext cx="38100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2707481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Activate Map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3002756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Select the Spider Tool on the toolbar. Cursor switches to pointing hand, ready to pick cell features from the active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240756"/>
            <a:ext cx="38100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JetBrains Mon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07481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Pick Target 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002756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Click on any cell sector. Tool identifies top feature, extracts centroid, and transforms geometry to EPSG:4326.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0" y="2240756"/>
            <a:ext cx="38100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JetBrains Mono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0" y="2707481"/>
            <a:ext cx="390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Auto-Purge &amp;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0" y="3002756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Prevents map cluttering by automatically purging previous spider lines before rendering new vector layers.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41D2C3-2F1F-4F36-6FE7-F983E6F36287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4420641"/>
            <a:ext cx="10953750" cy="1000125"/>
          </a:xfrm>
          <a:prstGeom prst="roundRect">
            <a:avLst>
              <a:gd name="adj" fmla="val 11428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212181"/>
            <a:ext cx="2624137" cy="1323975"/>
          </a:xfrm>
          <a:prstGeom prst="roundRect">
            <a:avLst>
              <a:gd name="adj" fmla="val 8633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5662" y="2212181"/>
            <a:ext cx="2624137" cy="1323975"/>
          </a:xfrm>
          <a:prstGeom prst="roundRect">
            <a:avLst>
              <a:gd name="adj" fmla="val 8633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212181"/>
            <a:ext cx="2624137" cy="1323975"/>
          </a:xfrm>
          <a:prstGeom prst="roundRect">
            <a:avLst>
              <a:gd name="adj" fmla="val 8633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48737" y="2212181"/>
            <a:ext cx="2624137" cy="1323975"/>
          </a:xfrm>
          <a:prstGeom prst="roundRect">
            <a:avLst>
              <a:gd name="adj" fmla="val 8633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050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3B172C"/>
          </a:solidFill>
          <a:ln w="9525">
            <a:solidFill>
              <a:srgbClr val="E61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5350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40231F"/>
          </a:solidFill>
          <a:ln w="9525">
            <a:solidFill>
              <a:srgbClr val="FF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9650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40341F"/>
          </a:solidFill>
          <a:ln w="9525">
            <a:solidFill>
              <a:srgbClr val="FF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33951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2B401F"/>
          </a:solidFill>
          <a:ln w="9525">
            <a:solidFill>
              <a:srgbClr val="99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18251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0D3B3A"/>
          </a:solidFill>
          <a:ln w="9525">
            <a:solidFill>
              <a:srgbClr val="00D0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02551" y="4830216"/>
            <a:ext cx="1708100" cy="428625"/>
          </a:xfrm>
          <a:prstGeom prst="roundRect">
            <a:avLst>
              <a:gd name="adj" fmla="val 13333"/>
            </a:avLst>
          </a:prstGeom>
          <a:solidFill>
            <a:srgbClr val="0D3652"/>
          </a:solidFill>
          <a:ln w="9525">
            <a:solidFill>
              <a:srgbClr val="00B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450306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587" y="2450306"/>
            <a:ext cx="2571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450306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0662" y="2450306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STEP 03 • VISUAL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Dynamic Rendering &amp; Styling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" y="1127670"/>
            <a:ext cx="1157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Plus Jakarta Sans"/>
              </a:rPr>
              <a:t>Flexible color and sizing modes for spider lines and MR measurement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4582566"/>
            <a:ext cx="114109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JetBrains Mono"/>
              </a:rPr>
              <a:t>DEFAULT RSRP COLOR SCALE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2812256"/>
            <a:ext cx="30191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Fixed Styling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3050381"/>
            <a:ext cx="2395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Uniform width/size and color across all rendered vector graphics.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587" y="2812256"/>
            <a:ext cx="30191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Weight Proportion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587" y="3050381"/>
            <a:ext cx="2395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Equal interval breaks across 5 proportional traffic bands (0-100%).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4125" y="2812256"/>
            <a:ext cx="30191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Auto 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4125" y="3050381"/>
            <a:ext cx="2395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Quantile scale classification adaptively adjusted to actual dataset values.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0662" y="2812256"/>
            <a:ext cx="30191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Template Color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0662" y="3050381"/>
            <a:ext cx="2395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Graduated color palette based on standard RF metrics (e.g. RSRP dBm).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93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E61C40"/>
                </a:solidFill>
                <a:latin typeface="Plus Jakarta Sans"/>
              </a:rPr>
              <a:t>≤ -115 dBm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693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Very Poor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8994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5500"/>
                </a:solidFill>
                <a:latin typeface="Plus Jakarta Sans"/>
              </a:rPr>
              <a:t>-115 to -105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8994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Poor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3294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AA00"/>
                </a:solidFill>
                <a:latin typeface="Plus Jakarta Sans"/>
              </a:rPr>
              <a:t>-105 to -95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3294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Fair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7594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9E600"/>
                </a:solidFill>
                <a:latin typeface="Plus Jakarta Sans"/>
              </a:rPr>
              <a:t>-95 to -85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7594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Good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1895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D084"/>
                </a:solidFill>
                <a:latin typeface="Plus Jakarta Sans"/>
              </a:rPr>
              <a:t>-85 to -75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1895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Very Good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6195" y="4915941"/>
            <a:ext cx="192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B5FF"/>
                </a:solidFill>
                <a:latin typeface="Plus Jakarta Sans"/>
              </a:rPr>
              <a:t>&gt; -75 dBm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96195" y="5058816"/>
            <a:ext cx="19208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9CA3AF"/>
                </a:solidFill>
                <a:latin typeface="Plus Jakarta Sans"/>
              </a:rPr>
              <a:t>Excellent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302A19-8EA3-2F57-4A84-B811848A9BBC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2483048"/>
            <a:ext cx="5362575" cy="895350"/>
          </a:xfrm>
          <a:prstGeom prst="roundRect">
            <a:avLst>
              <a:gd name="adj" fmla="val 12765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3492698"/>
            <a:ext cx="5362575" cy="895350"/>
          </a:xfrm>
          <a:prstGeom prst="roundRect">
            <a:avLst>
              <a:gd name="adj" fmla="val 12765"/>
            </a:avLst>
          </a:prstGeom>
          <a:solidFill>
            <a:srgbClr val="101627"/>
          </a:solidFill>
          <a:ln w="9525">
            <a:solidFill>
              <a:srgbClr val="222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4502348"/>
            <a:ext cx="5362575" cy="419100"/>
          </a:xfrm>
          <a:prstGeom prst="roundRect">
            <a:avLst>
              <a:gd name="adj" fmla="val 18181"/>
            </a:avLst>
          </a:prstGeom>
          <a:solidFill>
            <a:srgbClr val="0F2130"/>
          </a:solidFill>
          <a:ln w="9525">
            <a:solidFill>
              <a:srgbClr val="0F4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67900" y="2644973"/>
            <a:ext cx="1543050" cy="228600"/>
          </a:xfrm>
          <a:prstGeom prst="roundRect">
            <a:avLst>
              <a:gd name="adj" fmla="val 25000"/>
            </a:avLst>
          </a:prstGeom>
          <a:solidFill>
            <a:srgbClr val="14273C"/>
          </a:solidFill>
          <a:ln w="9525">
            <a:solidFill>
              <a:srgbClr val="18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01275" y="3654623"/>
            <a:ext cx="1209675" cy="228600"/>
          </a:xfrm>
          <a:prstGeom prst="roundRect">
            <a:avLst>
              <a:gd name="adj" fmla="val 25000"/>
            </a:avLst>
          </a:prstGeom>
          <a:solidFill>
            <a:srgbClr val="14273C"/>
          </a:solidFill>
          <a:ln w="9525">
            <a:solidFill>
              <a:srgbClr val="18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70894"/>
            <a:ext cx="5362575" cy="358306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4626173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STEP 04 • ANALYTICS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704850"/>
            <a:ext cx="11572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GIS Layer Generation &amp;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127670"/>
            <a:ext cx="1157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Plus Jakarta Sans"/>
              </a:rPr>
              <a:t>Generated memory layers with automated geodesic distance calculation.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2930723"/>
            <a:ext cx="51339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Stores connection lines between serving cell and MR points. Contains exact geodesic distance (</a:t>
            </a:r>
            <a:r>
              <a:rPr sz="900" b="0" i="0" u="none">
                <a:solidFill>
                  <a:srgbClr val="38BDF8"/>
                </a:solidFill>
                <a:latin typeface="Plus Jakarta Sans"/>
              </a:rPr>
              <a:t>Dist_m</a:t>
            </a:r>
            <a:r>
              <a:rPr sz="900" b="0" i="0" u="none">
                <a:solidFill>
                  <a:srgbClr val="9CA3AF"/>
                </a:solidFill>
                <a:latin typeface="Plus Jakarta Sans"/>
              </a:rPr>
              <a:t>) calculated via WGS84 ellipsoid.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3940373"/>
            <a:ext cx="51339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Plus Jakarta Sans"/>
              </a:rPr>
              <a:t>Represents MR locations with full attribute mapping for sample weight and signal quality color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4635698"/>
            <a:ext cx="5083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7F3D0"/>
                </a:solidFill>
                <a:latin typeface="Plus Jakarta Sans"/>
              </a:rPr>
              <a:t>Success status bar notification displayed instantly upon layer creation.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2673548"/>
            <a:ext cx="1928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Spider_Lines_{Cell_ID}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150" y="2683073"/>
            <a:ext cx="144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LineString EPSG:4326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683198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Spider_Points_{Cell_ID}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6525" y="3692723"/>
            <a:ext cx="1114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Point EPSG:4326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3ED860-2031-F95E-123B-83D004687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21" y="1983995"/>
            <a:ext cx="5141118" cy="33977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366125-9F90-2759-6F1D-C898514E47ED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516</Words>
  <Application>Microsoft Office PowerPoint</Application>
  <PresentationFormat>Widescreen</PresentationFormat>
  <Paragraphs>74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JetBrains Mono</vt:lpstr>
      <vt:lpstr>Plus Jakarta Sans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3</cp:revision>
  <dcterms:created xsi:type="dcterms:W3CDTF">2013-01-27T09:14:16Z</dcterms:created>
  <dcterms:modified xsi:type="dcterms:W3CDTF">2026-10-25T04:32:00Z</dcterms:modified>
  <cp:category/>
</cp:coreProperties>
</file>