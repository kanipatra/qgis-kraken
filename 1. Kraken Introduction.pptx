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Inter"/>
      <p:regular r:id="rId5"/>
    </p:embeddedFont>
    <p:embeddedFont>
      <p:font typeface="Space Grotesk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" y="3867298"/>
            <a:ext cx="2921049" cy="1338857"/>
          </a:xfrm>
          <a:prstGeom prst="roundRect">
            <a:avLst>
              <a:gd name="adj" fmla="val 853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21149" y="3867298"/>
            <a:ext cx="2921049" cy="1338857"/>
          </a:xfrm>
          <a:prstGeom prst="roundRect">
            <a:avLst>
              <a:gd name="adj" fmla="val 853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32699" y="3867298"/>
            <a:ext cx="2921049" cy="1338857"/>
          </a:xfrm>
          <a:prstGeom prst="roundRect">
            <a:avLst>
              <a:gd name="adj" fmla="val 853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067323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174" y="4067323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724" y="4067323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4162573"/>
            <a:ext cx="1714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6899" y="4162573"/>
            <a:ext cx="1714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7974" y="4162573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1347043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QGIS RAN OPTIMIZATION PLUGIN • V2.7.0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585168"/>
            <a:ext cx="1158240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KRAKEN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324248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Space Grotesk"/>
              </a:rPr>
              <a:t>Key RF Analytic Kit for Engineering 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800498"/>
            <a:ext cx="6572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An advanced spatial analytics and RAN optimization suite built for QGIS 3.x. Enables RF engineers to perform signal propagation modeling, traffic load analysis, KPI tracking, and transport topology mapping.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486423"/>
            <a:ext cx="26162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Spatial sector rendering, geometric generation, and direct attribute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1174" y="4486423"/>
            <a:ext cx="26162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LOS path clearance, TA distribution overshooting, and propagation modeling.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2724" y="4486423"/>
            <a:ext cx="261624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Traffic load offloading, KPI trend charting, MR spider graph, and feeder swap detection.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825" y="4138761"/>
            <a:ext cx="25753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GCELL &amp; Data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8374" y="4138761"/>
            <a:ext cx="2425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RF &amp; Coverage 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9924" y="4138761"/>
            <a:ext cx="24128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RAN Performance &amp; Audit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25D521-6DD3-7BD1-9BF8-96ACDB46216E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58D643-88D4-2E23-FC9D-3D8F7C089C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8829" y="1413602"/>
            <a:ext cx="1627792" cy="1627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" y="1791890"/>
            <a:ext cx="3555950" cy="1338857"/>
          </a:xfrm>
          <a:prstGeom prst="roundRect">
            <a:avLst>
              <a:gd name="adj" fmla="val 853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17950" y="1791890"/>
            <a:ext cx="3555950" cy="1338857"/>
          </a:xfrm>
          <a:prstGeom prst="roundRect">
            <a:avLst>
              <a:gd name="adj" fmla="val 853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26300" y="1791890"/>
            <a:ext cx="3556099" cy="1338857"/>
          </a:xfrm>
          <a:prstGeom prst="roundRect">
            <a:avLst>
              <a:gd name="adj" fmla="val 853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3283148"/>
            <a:ext cx="3555950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17950" y="3283148"/>
            <a:ext cx="3555950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26300" y="3283148"/>
            <a:ext cx="3556099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600" y="4601170"/>
            <a:ext cx="10972800" cy="992385"/>
          </a:xfrm>
          <a:prstGeom prst="roundRect">
            <a:avLst>
              <a:gd name="adj" fmla="val 11517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991915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975" y="1991915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325" y="1991915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483173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5" y="3483173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6325" y="3483173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801195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208716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4175" y="2087165"/>
            <a:ext cx="1905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2525" y="2087165"/>
            <a:ext cx="1905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3578423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3225" y="3578423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575" y="3578423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25" y="4896445"/>
            <a:ext cx="1905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FEATURE DIRECTORY • PART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RF Engineering &amp; Spatial Analysis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2411015"/>
            <a:ext cx="32511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Converts cell dump databases into spatial sector geometries with custom azimuth, beamwidth, and coverage radius.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975" y="2411015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Visualizes TA, TA90, and TA Array distribution ranges to detect cell overshooting issues.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6325" y="2411015"/>
            <a:ext cx="325129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Analyzes signal path clearance utilizing Terrain DEM and Building DEM elevation profiles.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3902273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Identifies and maps dominant serving cells (Best Server) across target location coordinates.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975" y="3902273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Evaluates DL PRB utilization and throughput for vertical and horizontal offload targeting.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6325" y="3902273"/>
            <a:ext cx="325129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Plots historical network performance with multi-level time breakdown and custom formulas.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625" y="5220295"/>
            <a:ext cx="11382375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Simulates and estimates RSRP signal coverage using multiple RF propagation models directly on the QGIS canvas.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6825" y="2063353"/>
            <a:ext cx="160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GCELL Generator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5175" y="2063353"/>
            <a:ext cx="19377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Timing Advance (TA)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3525" y="2063353"/>
            <a:ext cx="24378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Line of Sight (LOS)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6825" y="3554610"/>
            <a:ext cx="16627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Best Cell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5175" y="3554610"/>
            <a:ext cx="13501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Load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3525" y="3554610"/>
            <a:ext cx="17252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KPI Trend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6825" y="4872632"/>
            <a:ext cx="19377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Coverage Prediction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D48DB2-233C-02E1-2F3B-204488323EEF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600" y="565785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0E1527"/>
          </a:solidFill>
          <a:ln w="9525">
            <a:solidFill>
              <a:srgbClr val="123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1850210"/>
            <a:ext cx="3555950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17950" y="1850210"/>
            <a:ext cx="3555950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26300" y="1850210"/>
            <a:ext cx="3556099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3168232"/>
            <a:ext cx="3555950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17950" y="3168232"/>
            <a:ext cx="3555950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26300" y="3168232"/>
            <a:ext cx="3556099" cy="1165621"/>
          </a:xfrm>
          <a:prstGeom prst="roundRect">
            <a:avLst>
              <a:gd name="adj" fmla="val 9805"/>
            </a:avLst>
          </a:prstGeom>
          <a:solidFill>
            <a:srgbClr val="0C1324"/>
          </a:solidFill>
          <a:ln w="9525">
            <a:solidFill>
              <a:srgbClr val="0F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8075" y="5781675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1B2336"/>
          </a:solidFill>
          <a:ln w="9525">
            <a:solidFill>
              <a:srgbClr val="16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6250" y="5781675"/>
            <a:ext cx="542925" cy="190500"/>
          </a:xfrm>
          <a:prstGeom prst="roundRect">
            <a:avLst>
              <a:gd name="adj" fmla="val 20000"/>
            </a:avLst>
          </a:prstGeom>
          <a:solidFill>
            <a:srgbClr val="1B2336"/>
          </a:solidFill>
          <a:ln w="9525">
            <a:solidFill>
              <a:srgbClr val="16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15375" y="5781675"/>
            <a:ext cx="742950" cy="190500"/>
          </a:xfrm>
          <a:prstGeom prst="roundRect">
            <a:avLst>
              <a:gd name="adj" fmla="val 20000"/>
            </a:avLst>
          </a:prstGeom>
          <a:solidFill>
            <a:srgbClr val="1B2336"/>
          </a:solidFill>
          <a:ln w="9525">
            <a:solidFill>
              <a:srgbClr val="16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34525" y="5781675"/>
            <a:ext cx="581025" cy="190500"/>
          </a:xfrm>
          <a:prstGeom prst="roundRect">
            <a:avLst>
              <a:gd name="adj" fmla="val 20000"/>
            </a:avLst>
          </a:prstGeom>
          <a:solidFill>
            <a:srgbClr val="1B2336"/>
          </a:solidFill>
          <a:ln w="9525">
            <a:solidFill>
              <a:srgbClr val="16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91750" y="5781675"/>
            <a:ext cx="457200" cy="190500"/>
          </a:xfrm>
          <a:prstGeom prst="roundRect">
            <a:avLst>
              <a:gd name="adj" fmla="val 20000"/>
            </a:avLst>
          </a:prstGeom>
          <a:solidFill>
            <a:srgbClr val="1B2336"/>
          </a:solidFill>
          <a:ln w="9525">
            <a:solidFill>
              <a:srgbClr val="16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725150" y="5781675"/>
            <a:ext cx="695325" cy="190500"/>
          </a:xfrm>
          <a:prstGeom prst="roundRect">
            <a:avLst>
              <a:gd name="adj" fmla="val 20000"/>
            </a:avLst>
          </a:prstGeom>
          <a:solidFill>
            <a:srgbClr val="1B2336"/>
          </a:solidFill>
          <a:ln w="9525">
            <a:solidFill>
              <a:srgbClr val="163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580072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050235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75" y="2050235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6325" y="2050235"/>
            <a:ext cx="3429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368257"/>
            <a:ext cx="342900" cy="342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975" y="3368257"/>
            <a:ext cx="34290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6325" y="3368257"/>
            <a:ext cx="342900" cy="3429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" y="2145485"/>
            <a:ext cx="1714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3225" y="2145485"/>
            <a:ext cx="1524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575" y="2145485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" y="3463507"/>
            <a:ext cx="1905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3225" y="3463507"/>
            <a:ext cx="1524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575" y="3463507"/>
            <a:ext cx="15240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FEATURE DIRECTORY • PART 2 &amp;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Space Grotesk"/>
              </a:rPr>
              <a:t>Advanced Audit, Topology &amp; Utilities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2469335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Draws interactive spider lines linking Measurement Report (MR) points directly to serving cells.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975" y="2469335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Instantly detects antenna cross-feeder swaps using spatial MR-to-cell vector tracking.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6325" y="2469335"/>
            <a:ext cx="325129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Identifies overlapping sector coverage sharing identical PCI or modulo value assignments.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3787357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Maps transmission route paths, link hops, and node connectivity across transport layers.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975" y="3787357"/>
            <a:ext cx="3251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On-canvas protractor tool for measuring sector orientation, beamwidth, and spatial distances.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6325" y="3787357"/>
            <a:ext cx="325129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Directly manages, creates, and modifies GCell sector geometries and network attributes.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175" y="5805487"/>
            <a:ext cx="2166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Required Python Dependencies: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4275" y="5800725"/>
            <a:ext cx="504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duckdb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2450" y="5800725"/>
            <a:ext cx="485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pandas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1575" y="5800725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geopandas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0725" y="5800725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shapely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67950" y="5800725"/>
            <a:ext cx="400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scipy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1350" y="5800725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Space Grotesk"/>
              </a:rPr>
              <a:t>matplotlib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6825" y="2121673"/>
            <a:ext cx="129016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Spider Graph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5175" y="2121673"/>
            <a:ext cx="17752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XFeeder 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3525" y="2121673"/>
            <a:ext cx="19377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PCI Conflict Checker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6825" y="3439694"/>
            <a:ext cx="186273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Transport Topology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75175" y="3439694"/>
            <a:ext cx="19502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Interactive Compass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3525" y="3439694"/>
            <a:ext cx="102012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Space Grotesk"/>
              </a:rPr>
              <a:t>Edit GCell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E5A383-B3A1-361B-DE7C-31BFFB8C1A2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387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Space Grotesk</vt:lpstr>
      <vt:lpstr>Inter</vt:lpstr>
      <vt:lpstr>Arial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3</cp:revision>
  <dcterms:created xsi:type="dcterms:W3CDTF">2013-01-27T09:14:16Z</dcterms:created>
  <dcterms:modified xsi:type="dcterms:W3CDTF">2026-10-25T06:28:49Z</dcterms:modified>
  <cp:category/>
</cp:coreProperties>
</file>