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JetBrains Mono"/>
      <p:bold r:id="rId7"/>
    </p:embeddedFont>
    <p:embeddedFont>
      <p:font typeface="Plus Jakarta Sans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40A56B5-C1A0-A632-EC88-528FCB906BCA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D93B48-9B49-73A1-465B-B0C9D0537AA1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1B564B-DAA5-4149-AB2C-E479C28B40D2}"/>
              </a:ext>
            </a:extLst>
          </p:cNvPr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E7D602-1EFD-FAE9-36DD-5CD04EB8EE50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4A1778-7CF3-0B58-E8F7-D363C21A95A3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BB36F3-F40F-3A94-6FDE-7145124799E9}"/>
              </a:ext>
            </a:extLst>
          </p:cNvPr>
          <p:cNvSpPr txBox="1"/>
          <p:nvPr/>
        </p:nvSpPr>
        <p:spPr>
          <a:xfrm>
            <a:off x="609600" y="2243137"/>
            <a:ext cx="4530599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dirty="0">
                <a:solidFill>
                  <a:srgbClr val="FFFFFF"/>
                </a:solidFill>
                <a:latin typeface="Space Grotesk"/>
              </a:rPr>
              <a:t>Best Cell</a:t>
            </a: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 Analyzer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46538F-3955-B8AB-F14B-D785342E7BC2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Automated dominant serving cell identification and spatial mesh engine for targeted RAN optimization and coverage troubleshooting in QGIS.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F23921-522C-DFBA-1587-53AB7C2F4D5A}"/>
              </a:ext>
            </a:extLst>
          </p:cNvPr>
          <p:cNvSpPr txBox="1"/>
          <p:nvPr/>
        </p:nvSpPr>
        <p:spPr>
          <a:xfrm>
            <a:off x="609600" y="4405312"/>
            <a:ext cx="150310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RF Score Engine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BCC103-D95A-5D5F-1D54-AB18013019F2}"/>
              </a:ext>
            </a:extLst>
          </p:cNvPr>
          <p:cNvSpPr txBox="1"/>
          <p:nvPr/>
        </p:nvSpPr>
        <p:spPr>
          <a:xfrm>
            <a:off x="609600" y="4738687"/>
            <a:ext cx="18859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Distance &amp; 65° antenna attenuation model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98A74-4A29-AE2F-F5A3-2BC93F3EE557}"/>
              </a:ext>
            </a:extLst>
          </p:cNvPr>
          <p:cNvSpPr txBox="1"/>
          <p:nvPr/>
        </p:nvSpPr>
        <p:spPr>
          <a:xfrm>
            <a:off x="2981325" y="4405312"/>
            <a:ext cx="11025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Batch Input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FE899E-D15D-3769-0298-08625D2F8733}"/>
              </a:ext>
            </a:extLst>
          </p:cNvPr>
          <p:cNvSpPr txBox="1"/>
          <p:nvPr/>
        </p:nvSpPr>
        <p:spPr>
          <a:xfrm>
            <a:off x="2981326" y="4738687"/>
            <a:ext cx="21145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Direct clipboard paste for multiple drop points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BC07E-0A78-4C32-8DA3-8839CCCF2E23}"/>
              </a:ext>
            </a:extLst>
          </p:cNvPr>
          <p:cNvSpPr txBox="1"/>
          <p:nvPr/>
        </p:nvSpPr>
        <p:spPr>
          <a:xfrm>
            <a:off x="5591175" y="4405312"/>
            <a:ext cx="227729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Interactive Vector Mesh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6D25E9-C545-2EF6-6459-0E55375FA399}"/>
              </a:ext>
            </a:extLst>
          </p:cNvPr>
          <p:cNvSpPr txBox="1"/>
          <p:nvPr/>
        </p:nvSpPr>
        <p:spPr>
          <a:xfrm>
            <a:off x="5591175" y="4738687"/>
            <a:ext cx="224741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Auto-generated styled line &amp; point layers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4F4BE1C-40CF-182E-D30A-83C3DB472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476" y="2700537"/>
            <a:ext cx="812698" cy="8126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2BB689-F770-3832-7811-B59E3D4F1DE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29350" y="2237333"/>
            <a:ext cx="5353050" cy="3038475"/>
          </a:xfrm>
          <a:prstGeom prst="roundRect">
            <a:avLst>
              <a:gd name="adj" fmla="val 5015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113508"/>
            <a:ext cx="5353050" cy="933450"/>
          </a:xfrm>
          <a:prstGeom prst="roundRect">
            <a:avLst>
              <a:gd name="adj" fmla="val 16326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199358"/>
            <a:ext cx="5353050" cy="942975"/>
          </a:xfrm>
          <a:prstGeom prst="roundRect">
            <a:avLst>
              <a:gd name="adj" fmla="val 16161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294733"/>
            <a:ext cx="5353050" cy="1104900"/>
          </a:xfrm>
          <a:prstGeom prst="roundRect">
            <a:avLst>
              <a:gd name="adj" fmla="val 13793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43675" y="2551658"/>
            <a:ext cx="4724400" cy="1162050"/>
          </a:xfrm>
          <a:prstGeom prst="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43675" y="3942308"/>
            <a:ext cx="4724400" cy="1019175"/>
          </a:xfrm>
          <a:prstGeom prst="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43675" y="2551658"/>
            <a:ext cx="28575" cy="1162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43675" y="3942308"/>
            <a:ext cx="28575" cy="1019175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7725" y="2351633"/>
            <a:ext cx="342900" cy="228600"/>
          </a:xfrm>
          <a:prstGeom prst="roundRect">
            <a:avLst>
              <a:gd name="adj" fmla="val 50000"/>
            </a:avLst>
          </a:prstGeom>
          <a:solidFill>
            <a:srgbClr val="14283E"/>
          </a:solidFill>
          <a:ln w="9525">
            <a:solidFill>
              <a:srgbClr val="1C4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7725" y="3437483"/>
            <a:ext cx="342900" cy="228600"/>
          </a:xfrm>
          <a:prstGeom prst="roundRect">
            <a:avLst>
              <a:gd name="adj" fmla="val 50000"/>
            </a:avLst>
          </a:prstGeom>
          <a:solidFill>
            <a:srgbClr val="14283E"/>
          </a:solidFill>
          <a:ln w="9525">
            <a:solidFill>
              <a:srgbClr val="1C4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7725" y="4532858"/>
            <a:ext cx="342900" cy="228600"/>
          </a:xfrm>
          <a:prstGeom prst="roundRect">
            <a:avLst>
              <a:gd name="adj" fmla="val 50000"/>
            </a:avLst>
          </a:prstGeom>
          <a:solidFill>
            <a:srgbClr val="14283E"/>
          </a:solidFill>
          <a:ln w="9525">
            <a:solidFill>
              <a:srgbClr val="1C4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238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 dirty="0">
                <a:solidFill>
                  <a:srgbClr val="38BDF8"/>
                </a:solidFill>
                <a:latin typeface="Plus Jakarta Sans"/>
              </a:rPr>
              <a:t>CORE ENGINE • 3GPP ANTENNA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9125"/>
            <a:ext cx="11582400" cy="39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 dirty="0">
                <a:solidFill>
                  <a:srgbClr val="FFFFFF"/>
                </a:solidFill>
                <a:latin typeface="Plus Jakarta Sans"/>
              </a:rPr>
              <a:t>RF Effective Distance &amp;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07439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How Kraken identifies dominant serving cells beyond simple geographic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656433"/>
            <a:ext cx="6096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Calculates angle difference (0°-180°) between cell azimuth and drop point bearing.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742283"/>
            <a:ext cx="609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Applies standard model: </a:t>
            </a:r>
            <a:r>
              <a:rPr sz="975" b="0" i="0" u="none">
                <a:solidFill>
                  <a:srgbClr val="38BDF8"/>
                </a:solidFill>
                <a:latin typeface="Plus Jakarta Sans"/>
              </a:rPr>
              <a:t>Attn(dB) = min(20, 12 * (θ / 65)²)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837658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Ranks best servers using weighted RF impact: </a:t>
            </a:r>
            <a:r>
              <a:rPr sz="975" b="0" i="0" u="none">
                <a:solidFill>
                  <a:srgbClr val="38BDF8"/>
                </a:solidFill>
                <a:latin typeface="Plus Jakarta Sans"/>
              </a:rPr>
              <a:t>EffDist = Dist * 10^(Attn / 35)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2704058"/>
            <a:ext cx="539353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JetBrains Mono"/>
              </a:rPr>
              <a:t>2x Buffer Auto-Expand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0" y="3075533"/>
            <a:ext cx="5393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SPATIAL RADIUS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0" y="3275558"/>
            <a:ext cx="4410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Automatically doubles initial search radius if zero candidates are found in the initial bounding box.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2750" y="4094708"/>
            <a:ext cx="539353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C084FC"/>
                </a:solidFill>
                <a:latin typeface="JetBrains Mono"/>
              </a:rPr>
              <a:t>C++ Bounding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0" y="4466183"/>
            <a:ext cx="5393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GEOGRAPHIC &amp; PROJECTED CRS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0" y="4666208"/>
            <a:ext cx="5393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Utilizes spatial index filtering directly in QGIS C++ engine for instant querying.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2389733"/>
            <a:ext cx="24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4925" y="2365920"/>
            <a:ext cx="180842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Angle Deviation (θ)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3475583"/>
            <a:ext cx="24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4925" y="3451770"/>
            <a:ext cx="2562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3GPP Antenna Attenuation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4570958"/>
            <a:ext cx="24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4925" y="4547145"/>
            <a:ext cx="242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Effective Distance Score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EF004-AF65-E48F-BDDF-55E135D4CC1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29350" y="1718220"/>
            <a:ext cx="5353050" cy="866775"/>
          </a:xfrm>
          <a:prstGeom prst="roundRect">
            <a:avLst>
              <a:gd name="adj" fmla="val 17582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2737395"/>
            <a:ext cx="5353050" cy="866775"/>
          </a:xfrm>
          <a:prstGeom prst="roundRect">
            <a:avLst>
              <a:gd name="adj" fmla="val 17582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29350" y="3756570"/>
            <a:ext cx="5353050" cy="866775"/>
          </a:xfrm>
          <a:prstGeom prst="roundRect">
            <a:avLst>
              <a:gd name="adj" fmla="val 17582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9350" y="4775745"/>
            <a:ext cx="5353050" cy="1019175"/>
          </a:xfrm>
          <a:prstGeom prst="roundRect">
            <a:avLst>
              <a:gd name="adj" fmla="val 14953"/>
            </a:avLst>
          </a:prstGeom>
          <a:solidFill>
            <a:srgbClr val="1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29350" y="5785395"/>
            <a:ext cx="53530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29350" y="4775745"/>
            <a:ext cx="53530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29350" y="4775745"/>
            <a:ext cx="28575" cy="10191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4775745"/>
            <a:ext cx="9525" cy="1019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46820"/>
            <a:ext cx="535305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238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WORKFLOW PHASE 01 • ANALYSIS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9125"/>
            <a:ext cx="11582400" cy="39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FFFFF"/>
                </a:solidFill>
                <a:latin typeface="Plus Jakarta Sans"/>
              </a:rPr>
              <a:t>Configuration &amp; Batch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07439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Configure ranking criteria and single or batch coordinate drop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1956345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1. Top N Best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2194470"/>
            <a:ext cx="57245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Specify maximum serving candidate cells to evaluate (Default: 5, Range: 1-50).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2975520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2. Initial Buffer (km)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3213645"/>
            <a:ext cx="57245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Define initial spatial search radius in kilometers (Default: 2.5 km).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3994695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3. Filter Band /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4232820"/>
            <a:ext cx="57245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Select specific frequency layer (e.g., 1800, 2100) or evaluate across ALL BANDS.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5013870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ADE80"/>
                </a:solidFill>
                <a:latin typeface="Plus Jakarta Sans"/>
              </a:rPr>
              <a:t>4. Excel Copy-Paste Batch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525" y="5251995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Paste multi-row Excel data directly (Name, Longitude, Latitude). Leaves empty for single-click canvas mode.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47779-70AC-92BE-9844-209628498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813" y="1998318"/>
            <a:ext cx="3524624" cy="352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0119C4-293D-60C4-1405-FDF7FDC43ECA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600" y="1946820"/>
            <a:ext cx="5353050" cy="1066800"/>
          </a:xfrm>
          <a:prstGeom prst="roundRect">
            <a:avLst>
              <a:gd name="adj" fmla="val 14285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166020"/>
            <a:ext cx="5353050" cy="1066800"/>
          </a:xfrm>
          <a:prstGeom prst="roundRect">
            <a:avLst>
              <a:gd name="adj" fmla="val 14285"/>
            </a:avLst>
          </a:prstGeom>
          <a:solidFill>
            <a:srgbClr val="101729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385220"/>
            <a:ext cx="5353050" cy="1181100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952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48225" y="218494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14283E"/>
          </a:solidFill>
          <a:ln w="9525">
            <a:solidFill>
              <a:srgbClr val="1C4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81550" y="3404145"/>
            <a:ext cx="942975" cy="228600"/>
          </a:xfrm>
          <a:prstGeom prst="roundRect">
            <a:avLst>
              <a:gd name="adj" fmla="val 50000"/>
            </a:avLst>
          </a:prstGeom>
          <a:solidFill>
            <a:srgbClr val="262726"/>
          </a:solidFill>
          <a:ln w="9525">
            <a:solidFill>
              <a:srgbClr val="514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946820"/>
            <a:ext cx="535305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238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WORKFLOW PHASE 02 • SPATIAL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9125"/>
            <a:ext cx="11582400" cy="39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FFFFF"/>
                </a:solidFill>
                <a:latin typeface="Plus Jakarta Sans"/>
              </a:rPr>
              <a:t>Map Mesh &amp; Drop Point Rendering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7439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Automatic styling and multi-layer vector generation on QGIS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470695"/>
            <a:ext cx="4972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Red dotted line connection (</a:t>
            </a:r>
            <a:r>
              <a:rPr sz="975" b="1" i="0" u="none">
                <a:solidFill>
                  <a:srgbClr val="FF0055"/>
                </a:solidFill>
                <a:latin typeface="Plus Jakarta Sans"/>
              </a:rPr>
              <a:t>#FF0055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) between drop point and candidate cell centroids. Features automatic distance labels in kilometers.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689895"/>
            <a:ext cx="4972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Multi-ring glowing yellow target marker (</a:t>
            </a:r>
            <a:r>
              <a:rPr sz="975" b="1" i="0" u="none">
                <a:solidFill>
                  <a:srgbClr val="FFFF00"/>
                </a:solidFill>
                <a:latin typeface="Plus Jakarta Sans"/>
              </a:rPr>
              <a:t>#FFFF00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) highlighting analysis location with high precision.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623345"/>
            <a:ext cx="6400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Rich Vector Attribute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870995"/>
            <a:ext cx="4972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JetBrains Mono"/>
              </a:rPr>
              <a:t>Rank • Tower_ID • Sector • Cell_Name • Band • PRB_Util • Throughput • TA • TA90 • Dist_km • Azimuth • Bearing • Angle_Dev • Attn_dB • Eff_Dist_Score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199233"/>
            <a:ext cx="2375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Layer 1: Best_Cell_Mesh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3475" y="2223045"/>
            <a:ext cx="78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LineString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418433"/>
            <a:ext cx="30378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Layer 2: Best_Cell_Drop_Point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3442245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EAB308"/>
                </a:solidFill>
                <a:latin typeface="JetBrains Mono"/>
              </a:rPr>
              <a:t>Point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4B4EEF-78D0-3104-6502-8B8155D19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145" y="2029454"/>
            <a:ext cx="4079638" cy="34861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BD307A-541C-007B-8C31-A116C9208D4A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715619"/>
            <a:ext cx="10972800" cy="800100"/>
          </a:xfrm>
          <a:prstGeom prst="roundRect">
            <a:avLst>
              <a:gd name="adj" fmla="val 19047"/>
            </a:avLst>
          </a:prstGeom>
          <a:solidFill>
            <a:srgbClr val="132031"/>
          </a:solidFill>
          <a:ln w="9525">
            <a:solidFill>
              <a:srgbClr val="193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111573"/>
            <a:ext cx="3530500" cy="1747837"/>
          </a:xfrm>
          <a:prstGeom prst="roundRect">
            <a:avLst>
              <a:gd name="adj" fmla="val 8719"/>
            </a:avLst>
          </a:prstGeom>
          <a:solidFill>
            <a:srgbClr val="1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600" y="2111573"/>
            <a:ext cx="3530649" cy="1747837"/>
          </a:xfrm>
          <a:prstGeom prst="roundRect">
            <a:avLst>
              <a:gd name="adj" fmla="val 8719"/>
            </a:avLst>
          </a:prstGeom>
          <a:solidFill>
            <a:srgbClr val="1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2111573"/>
            <a:ext cx="3530500" cy="1747837"/>
          </a:xfrm>
          <a:prstGeom prst="roundRect">
            <a:avLst>
              <a:gd name="adj" fmla="val 8719"/>
            </a:avLst>
          </a:prstGeom>
          <a:solidFill>
            <a:srgbClr val="1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34625" y="5001369"/>
            <a:ext cx="1009650" cy="228600"/>
          </a:xfrm>
          <a:prstGeom prst="roundRect">
            <a:avLst>
              <a:gd name="adj" fmla="val 50000"/>
            </a:avLst>
          </a:prstGeom>
          <a:solidFill>
            <a:srgbClr val="173045"/>
          </a:solidFill>
          <a:ln w="9525">
            <a:solidFill>
              <a:srgbClr val="1E4F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849885"/>
            <a:ext cx="3530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111573"/>
            <a:ext cx="3530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111573"/>
            <a:ext cx="9525" cy="1747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0575" y="2111573"/>
            <a:ext cx="9525" cy="1747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0600" y="3849885"/>
            <a:ext cx="35306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0600" y="2111573"/>
            <a:ext cx="3530649" cy="28575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0600" y="2111573"/>
            <a:ext cx="9525" cy="1747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51725" y="2111573"/>
            <a:ext cx="9525" cy="1747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1750" y="3849885"/>
            <a:ext cx="3530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1750" y="2111573"/>
            <a:ext cx="35305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1750" y="2111573"/>
            <a:ext cx="9525" cy="1747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72726" y="2111573"/>
            <a:ext cx="9525" cy="1747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368748"/>
            <a:ext cx="17145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725" y="2368748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9875" y="2368748"/>
            <a:ext cx="333375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5001369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600" y="457200"/>
            <a:ext cx="11582400" cy="1238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SUMMARY &amp; BEST PRACTICES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19125"/>
            <a:ext cx="11582400" cy="39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FFFFF"/>
                </a:solidFill>
                <a:latin typeface="Plus Jakarta Sans"/>
              </a:rPr>
              <a:t>Execution Modes &amp; Operational Tips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107439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Maximize workflow efficiency with dual analysis modes and proper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9875" y="5039469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AUTO REFRESH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2787848"/>
            <a:ext cx="40087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Map-Click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3064073"/>
            <a:ext cx="314950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Leave batch table empty. Click OK to activate Crosshair map tool, then click anywhere on canvas for instant single-point analysis.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8725" y="2787848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Batch Excel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8725" y="3064073"/>
            <a:ext cx="314964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Paste hundreds of coordinates directly from Excel. Generates unified batch mesh and drop point layers in a single pass.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9875" y="2787848"/>
            <a:ext cx="3902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Dynamic Column Mapping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9875" y="3064073"/>
            <a:ext cx="314950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Ensure field mappings (Azimuth, Band, Sector, TA, PRB, Throughput) are properly set in Kraken Main Settings prior to running.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8725" y="4953744"/>
            <a:ext cx="793849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Automatic Canvas Cleanup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8725" y="5125194"/>
            <a:ext cx="7560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Re-running analysis automatically refreshes and updates existing </a:t>
            </a:r>
            <a:r>
              <a:rPr sz="900" b="0" i="0" u="none">
                <a:solidFill>
                  <a:srgbClr val="38BDF8"/>
                </a:solidFill>
                <a:latin typeface="Plus Jakarta Sans"/>
              </a:rPr>
              <a:t>Best_Cell_Mesh</a:t>
            </a:r>
            <a:r>
              <a:rPr sz="900" b="0" i="0" u="none">
                <a:solidFill>
                  <a:srgbClr val="94A3B8"/>
                </a:solidFill>
                <a:latin typeface="Plus Jakarta Sans"/>
              </a:rPr>
              <a:t> layers without canvas clutter.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F8C80-B51C-1CDF-DCBE-0B8F18FEB55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594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JetBrains Mono</vt:lpstr>
      <vt:lpstr>Plus Jakarta Sans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6</cp:revision>
  <dcterms:created xsi:type="dcterms:W3CDTF">2013-01-27T09:14:16Z</dcterms:created>
  <dcterms:modified xsi:type="dcterms:W3CDTF">2026-10-25T01:51:04Z</dcterms:modified>
  <cp:category/>
</cp:coreProperties>
</file>