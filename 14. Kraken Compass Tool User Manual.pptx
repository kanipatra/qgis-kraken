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/>
      <p:bold r:id="rId8"/>
    </p:embeddedFont>
    <p:embeddedFont>
      <p:font typeface="Orbitron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AA6F4EA-7FF8-04C3-C009-DE341BDEC8BB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9729A9-21D6-E6C3-EB26-50B6B7A943C2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2E26CF-CC52-543D-9E2C-5BB6F418D645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9DA7A2-889F-337F-3B83-AEFEE434EC99}"/>
              </a:ext>
            </a:extLst>
          </p:cNvPr>
          <p:cNvSpPr txBox="1"/>
          <p:nvPr/>
        </p:nvSpPr>
        <p:spPr>
          <a:xfrm>
            <a:off x="609600" y="2243137"/>
            <a:ext cx="2281074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Compass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EA5B04-2AFC-A155-C29F-7E229B1847BB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Precision protractor overlay for measuring sector directions, cell coverage distance, and beamwidth angles dynamically within QGIS map canvas.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EDBDED-DEF9-7F93-1751-DA3E9FE9A77E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sp>
        <p:nvSpPr>
          <p:cNvPr id="51" name="Rounded Rectangle 4">
            <a:extLst>
              <a:ext uri="{FF2B5EF4-FFF2-40B4-BE49-F238E27FC236}">
                <a16:creationId xmlns:a16="http://schemas.microsoft.com/office/drawing/2014/main" id="{7A0F882F-8B99-19F2-EE8E-F16D3AABB3A2}"/>
              </a:ext>
            </a:extLst>
          </p:cNvPr>
          <p:cNvSpPr/>
          <p:nvPr/>
        </p:nvSpPr>
        <p:spPr>
          <a:xfrm>
            <a:off x="542925" y="4157662"/>
            <a:ext cx="2438400" cy="1143000"/>
          </a:xfrm>
          <a:prstGeom prst="roundRect">
            <a:avLst>
              <a:gd name="adj" fmla="val 6666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">
            <a:extLst>
              <a:ext uri="{FF2B5EF4-FFF2-40B4-BE49-F238E27FC236}">
                <a16:creationId xmlns:a16="http://schemas.microsoft.com/office/drawing/2014/main" id="{D856B8AE-6C15-FED9-C4E1-778689BB9CA9}"/>
              </a:ext>
            </a:extLst>
          </p:cNvPr>
          <p:cNvSpPr/>
          <p:nvPr/>
        </p:nvSpPr>
        <p:spPr>
          <a:xfrm>
            <a:off x="3133725" y="4157662"/>
            <a:ext cx="2438400" cy="1143000"/>
          </a:xfrm>
          <a:prstGeom prst="roundRect">
            <a:avLst>
              <a:gd name="adj" fmla="val 6666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6">
            <a:extLst>
              <a:ext uri="{FF2B5EF4-FFF2-40B4-BE49-F238E27FC236}">
                <a16:creationId xmlns:a16="http://schemas.microsoft.com/office/drawing/2014/main" id="{13D9DE04-9AD1-F06D-5BE7-34E30D1D8A91}"/>
              </a:ext>
            </a:extLst>
          </p:cNvPr>
          <p:cNvSpPr/>
          <p:nvPr/>
        </p:nvSpPr>
        <p:spPr>
          <a:xfrm>
            <a:off x="5724525" y="4157662"/>
            <a:ext cx="2438400" cy="1143000"/>
          </a:xfrm>
          <a:prstGeom prst="roundRect">
            <a:avLst>
              <a:gd name="adj" fmla="val 6666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2330F034-D485-B4DD-AEE5-19A956724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376737"/>
            <a:ext cx="171450" cy="1714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06AEB46D-E801-87F3-7F76-A065C958A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4376737"/>
            <a:ext cx="133350" cy="171450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75B01E50-8BC5-6125-E43C-1EC69B1D6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4376737"/>
            <a:ext cx="190500" cy="17145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F316CA6-5D92-8D11-9C16-975D88EFB20B}"/>
              </a:ext>
            </a:extLst>
          </p:cNvPr>
          <p:cNvSpPr txBox="1"/>
          <p:nvPr/>
        </p:nvSpPr>
        <p:spPr>
          <a:xfrm>
            <a:off x="742950" y="4633912"/>
            <a:ext cx="267533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Dynamic Ring Dial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1E1CBA-464B-8DFE-392A-EF500B8485F5}"/>
              </a:ext>
            </a:extLst>
          </p:cNvPr>
          <p:cNvSpPr txBox="1"/>
          <p:nvPr/>
        </p:nvSpPr>
        <p:spPr>
          <a:xfrm>
            <a:off x="742950" y="4833937"/>
            <a:ext cx="2133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360° rotated degree ticks with scrollable canvas scaling.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17E31C-499C-62EC-D7D8-7F6946CE7528}"/>
              </a:ext>
            </a:extLst>
          </p:cNvPr>
          <p:cNvSpPr txBox="1"/>
          <p:nvPr/>
        </p:nvSpPr>
        <p:spPr>
          <a:xfrm>
            <a:off x="3333750" y="4633912"/>
            <a:ext cx="267533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Batch Import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FEA8BB-DF1D-8A1A-699B-2C155A6F3F1E}"/>
              </a:ext>
            </a:extLst>
          </p:cNvPr>
          <p:cNvSpPr txBox="1"/>
          <p:nvPr/>
        </p:nvSpPr>
        <p:spPr>
          <a:xfrm>
            <a:off x="3333750" y="4833937"/>
            <a:ext cx="2133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Seamless Ctrl+V clipboard integration from Excel data.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822974-DB87-688A-514A-AF3629360F31}"/>
              </a:ext>
            </a:extLst>
          </p:cNvPr>
          <p:cNvSpPr txBox="1"/>
          <p:nvPr/>
        </p:nvSpPr>
        <p:spPr>
          <a:xfrm>
            <a:off x="5924550" y="4633912"/>
            <a:ext cx="267533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Layer Export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B13D9A4-BB8F-7F6B-0A3B-FA0C45CC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1103" y="2497362"/>
            <a:ext cx="1219048" cy="121904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72408A3-4A31-94D8-25C6-76AC9A563761}"/>
              </a:ext>
            </a:extLst>
          </p:cNvPr>
          <p:cNvSpPr txBox="1"/>
          <p:nvPr/>
        </p:nvSpPr>
        <p:spPr>
          <a:xfrm>
            <a:off x="5924550" y="4833937"/>
            <a:ext cx="2133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Instant vector layer generation for GIS sector mapping.</a:t>
            </a:r>
          </a:p>
        </p:txBody>
      </p:sp>
    </p:spTree>
    <p:extLst>
      <p:ext uri="{BB962C8B-B14F-4D97-AF65-F5344CB8AC3E}">
        <p14:creationId xmlns:p14="http://schemas.microsoft.com/office/powerpoint/2010/main" val="160921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2925" y="2524125"/>
            <a:ext cx="5391150" cy="695325"/>
          </a:xfrm>
          <a:prstGeom prst="roundRect">
            <a:avLst>
              <a:gd name="adj" fmla="val 8219"/>
            </a:avLst>
          </a:prstGeom>
          <a:solidFill>
            <a:srgbClr val="0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25" y="3333750"/>
            <a:ext cx="5391150" cy="695325"/>
          </a:xfrm>
          <a:prstGeom prst="roundRect">
            <a:avLst>
              <a:gd name="adj" fmla="val 8219"/>
            </a:avLst>
          </a:prstGeom>
          <a:solidFill>
            <a:srgbClr val="0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2925" y="4143375"/>
            <a:ext cx="5391150" cy="695325"/>
          </a:xfrm>
          <a:prstGeom prst="roundRect">
            <a:avLst>
              <a:gd name="adj" fmla="val 8219"/>
            </a:avLst>
          </a:prstGeom>
          <a:solidFill>
            <a:srgbClr val="0F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2524125"/>
            <a:ext cx="28575" cy="6953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3333750"/>
            <a:ext cx="28575" cy="6953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4143375"/>
            <a:ext cx="28575" cy="6953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868128"/>
            <a:ext cx="5410200" cy="376575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638425"/>
            <a:ext cx="303162" cy="3619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448050"/>
            <a:ext cx="32950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257675"/>
            <a:ext cx="306883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07" y="274320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52" y="355282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141" y="4362450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2925" y="428625"/>
            <a:ext cx="692943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00F2FE"/>
                </a:solidFill>
                <a:latin typeface="Orbitron"/>
              </a:rPr>
              <a:t>STEP 01 • CANVAS OVERLAY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619125"/>
            <a:ext cx="727590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Orbitron"/>
              </a:rPr>
              <a:t>Canvas Activation &amp; Ring Dial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1362" y="2638425"/>
            <a:ext cx="609040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Center Anchor Dragging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1362" y="2819400"/>
            <a:ext cx="473556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Left-click and hold the yellow center anchor to drag and reposition the compass across the map canvas.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7705" y="3448050"/>
            <a:ext cx="605583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Dynamic Wheel Resizing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7705" y="3629025"/>
            <a:ext cx="47092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Scroll mouse wheel while inside the compass zone to adjust dial radius from 80px up to 400px.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5083" y="4257675"/>
            <a:ext cx="608552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360° Rotated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5083" y="4438650"/>
            <a:ext cx="473184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Renders major/minor tick marks per 2° with dark-backed rotated labels for high contrast over imagery.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7D29613-FA9B-3C79-168F-72AF982C47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5449" y="2047511"/>
            <a:ext cx="5084628" cy="345855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42FAD03-2B4D-7CC7-5B9C-C94276662F5D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2925" y="2945606"/>
            <a:ext cx="5438775" cy="1471612"/>
          </a:xfrm>
          <a:prstGeom prst="roundRect">
            <a:avLst>
              <a:gd name="adj" fmla="val 5177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690812"/>
            <a:ext cx="5438775" cy="1981200"/>
          </a:xfrm>
          <a:prstGeom prst="roundRect">
            <a:avLst>
              <a:gd name="adj" fmla="val 3846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145631"/>
            <a:ext cx="361950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890837"/>
            <a:ext cx="361950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87" y="3250406"/>
            <a:ext cx="142875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995612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2925" y="428625"/>
            <a:ext cx="6179343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00F2FE"/>
                </a:solidFill>
                <a:latin typeface="Orbitron"/>
              </a:rPr>
              <a:t>STEP 02 • SINGLE BEARING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619125"/>
            <a:ext cx="648831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Orbitron"/>
              </a:rPr>
              <a:t>Adding &amp; Editing Individual Wedges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59981"/>
            <a:ext cx="51339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Right-click compass area and select </a:t>
            </a:r>
            <a:r>
              <a:rPr sz="975" b="1" i="0" u="none">
                <a:solidFill>
                  <a:srgbClr val="94A3B8"/>
                </a:solidFill>
                <a:latin typeface="Inter"/>
              </a:rPr>
              <a:t>Add Bearing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. Move cursor to preview real-time direction, distance (m/km), and azimuth wedge preview before left-clicking to confirm.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405187"/>
            <a:ext cx="51339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Right-click directly on any existing bearing wedge to trigger contextual modification tools tailored for fine-tuning sector attributes: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231356"/>
            <a:ext cx="232529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1. Dynamic Add Bearing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6575" y="2976562"/>
            <a:ext cx="29503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2. Context Menu Adjustments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914775"/>
            <a:ext cx="666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F2FE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3929062"/>
            <a:ext cx="5610225" cy="1428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F2FE"/>
                </a:solidFill>
                <a:latin typeface="Inter"/>
              </a:rPr>
              <a:t>Adjust Direction:</a:t>
            </a:r>
            <a:r>
              <a:rPr sz="900" b="0" i="0" u="none">
                <a:solidFill>
                  <a:srgbClr val="00F2FE"/>
                </a:solidFill>
                <a:latin typeface="Inter"/>
              </a:rPr>
              <a:t> Re-orient sector angle on canvas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114800"/>
            <a:ext cx="666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F2FE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4129087"/>
            <a:ext cx="5610225" cy="1428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F2FE"/>
                </a:solidFill>
                <a:latin typeface="Inter"/>
              </a:rPr>
              <a:t>Change Label:</a:t>
            </a:r>
            <a:r>
              <a:rPr sz="900" b="0" i="0" u="none">
                <a:solidFill>
                  <a:srgbClr val="00F2FE"/>
                </a:solidFill>
                <a:latin typeface="Inter"/>
              </a:rPr>
              <a:t> Rename sector display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4314825"/>
            <a:ext cx="666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F2FE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4329112"/>
            <a:ext cx="5610225" cy="14287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F2FE"/>
                </a:solidFill>
                <a:latin typeface="Inter"/>
              </a:rPr>
              <a:t>Adjust Color &amp; Beamwidth:</a:t>
            </a:r>
            <a:r>
              <a:rPr sz="900" b="0" i="0" u="none">
                <a:solidFill>
                  <a:srgbClr val="00F2FE"/>
                </a:solidFill>
                <a:latin typeface="Inter"/>
              </a:rPr>
              <a:t> Custom beam coverage (5°–360°)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55C7EC-81A4-CB1A-1A3F-52E26DD968D6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57925" y="2247900"/>
            <a:ext cx="5391150" cy="2867025"/>
          </a:xfrm>
          <a:prstGeom prst="roundRect">
            <a:avLst>
              <a:gd name="adj" fmla="val 2657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57950" y="3486150"/>
            <a:ext cx="4991100" cy="476250"/>
          </a:xfrm>
          <a:prstGeom prst="roundRect">
            <a:avLst>
              <a:gd name="adj" fmla="val 12000"/>
            </a:avLst>
          </a:prstGeom>
          <a:solidFill>
            <a:srgbClr val="131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57950" y="4038600"/>
            <a:ext cx="4991100" cy="476250"/>
          </a:xfrm>
          <a:prstGeom prst="roundRect">
            <a:avLst>
              <a:gd name="adj" fmla="val 12000"/>
            </a:avLst>
          </a:prstGeom>
          <a:solidFill>
            <a:srgbClr val="131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57950" y="459105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131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57950" y="3486150"/>
            <a:ext cx="28575" cy="47625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57950" y="4038600"/>
            <a:ext cx="28575" cy="47625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57950" y="4591050"/>
            <a:ext cx="28575" cy="32385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395412"/>
            <a:ext cx="5410200" cy="4572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2447925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552700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925" y="428625"/>
            <a:ext cx="7512843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00F2FE"/>
                </a:solidFill>
                <a:latin typeface="Orbitron"/>
              </a:rPr>
              <a:t>STEP 03 • BATCH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619125"/>
            <a:ext cx="788848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Orbitron"/>
              </a:rPr>
              <a:t>Multiple Bearings &amp; Excel Clipboard Import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2962275"/>
            <a:ext cx="50863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Input complex multi-sector site configurations efficiently through structured tabular input.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4200" y="2533650"/>
            <a:ext cx="2825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Add Multiple Bearings Dialog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0825" y="3562350"/>
            <a:ext cx="174631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Structured Table Columns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3029" y="3562350"/>
            <a:ext cx="31469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Supports Label, Azimuth (°), Distance (m), and Beamwidth (°).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0825" y="4114800"/>
            <a:ext cx="179475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Excel Clipboard Paste (Ctrl+V)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9166" y="4114800"/>
            <a:ext cx="31008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Copy cells directly from Excel and paste directly into the dialog 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0825" y="4667250"/>
            <a:ext cx="178772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Inter"/>
              </a:rPr>
              <a:t>Auto-Expanding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7200" y="4667250"/>
            <a:ext cx="384571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Automatically appends trailing rows upon populating values.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82DE7B-100D-C234-6194-B73E192F2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129" y="1473968"/>
            <a:ext cx="3387977" cy="442373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577A92D-7844-4C8F-4BB2-2F8E6BEBACD3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2185987"/>
            <a:ext cx="5391150" cy="2990850"/>
          </a:xfrm>
          <a:prstGeom prst="roundRect">
            <a:avLst>
              <a:gd name="adj" fmla="val 2547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2950" y="2881312"/>
            <a:ext cx="4991100" cy="657225"/>
          </a:xfrm>
          <a:prstGeom prst="roundRect">
            <a:avLst>
              <a:gd name="adj" fmla="val 8695"/>
            </a:avLst>
          </a:prstGeom>
          <a:solidFill>
            <a:srgbClr val="131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2950" y="3671887"/>
            <a:ext cx="4991100" cy="514350"/>
          </a:xfrm>
          <a:prstGeom prst="roundRect">
            <a:avLst>
              <a:gd name="adj" fmla="val 11111"/>
            </a:avLst>
          </a:prstGeom>
          <a:solidFill>
            <a:srgbClr val="131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2950" y="4319587"/>
            <a:ext cx="4991100" cy="657225"/>
          </a:xfrm>
          <a:prstGeom prst="roundRect">
            <a:avLst>
              <a:gd name="adj" fmla="val 8695"/>
            </a:avLst>
          </a:prstGeom>
          <a:solidFill>
            <a:srgbClr val="131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2950" y="2881312"/>
            <a:ext cx="28575" cy="6572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2950" y="3671887"/>
            <a:ext cx="28575" cy="51435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2950" y="4319587"/>
            <a:ext cx="28575" cy="6572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95412"/>
            <a:ext cx="5410200" cy="4572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386012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490787"/>
            <a:ext cx="17145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925" y="428625"/>
            <a:ext cx="7614046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00F2FE"/>
                </a:solidFill>
                <a:latin typeface="Orbitron"/>
              </a:rPr>
              <a:t>STEP 04 • SPATIAL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619125"/>
            <a:ext cx="79947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Orbitron"/>
              </a:rPr>
              <a:t>Sector Wedge Overlay &amp; Legend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2471737"/>
            <a:ext cx="222527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Sector Visual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2976562"/>
            <a:ext cx="61632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Dynamic Sector Wedges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3157537"/>
            <a:ext cx="4791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Renders true geodesic arcs with active cyan stroke highlights and customizable alpha transparency.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3767137"/>
            <a:ext cx="522565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Distance &amp; Label Badges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75" y="3948112"/>
            <a:ext cx="4976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Displays formatted text callouts (e.g., Sect-1 (200m)) pinned to sector tips.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4414837"/>
            <a:ext cx="61632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Top-Right Legend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75" y="4595812"/>
            <a:ext cx="4791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Real-time overlay panel summarizing active sectors, azimuth degrees, and calculated distances.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FA72E39-1C21-069C-7C1A-7557DF66EF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159" y="1594904"/>
            <a:ext cx="5229395" cy="419629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D15A034-3B73-A961-AD89-D5737BE0A80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2925" y="1114425"/>
            <a:ext cx="3575000" cy="5133975"/>
          </a:xfrm>
          <a:prstGeom prst="roundRect">
            <a:avLst>
              <a:gd name="adj" fmla="val 2131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8425" y="1114425"/>
            <a:ext cx="3575000" cy="5133975"/>
          </a:xfrm>
          <a:prstGeom prst="roundRect">
            <a:avLst>
              <a:gd name="adj" fmla="val 2131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1114425"/>
            <a:ext cx="3575149" cy="5133975"/>
          </a:xfrm>
          <a:prstGeom prst="roundRect">
            <a:avLst>
              <a:gd name="adj" fmla="val 2131"/>
            </a:avLst>
          </a:prstGeom>
          <a:solidFill>
            <a:srgbClr val="0C1221"/>
          </a:solidFill>
          <a:ln w="9525">
            <a:solidFill>
              <a:srgbClr val="0639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314450"/>
            <a:ext cx="361950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50" y="1314450"/>
            <a:ext cx="361950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950" y="1314450"/>
            <a:ext cx="361950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41922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750" y="1419225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725" y="141922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2925" y="428625"/>
            <a:ext cx="7560468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00F2FE"/>
                </a:solidFill>
                <a:latin typeface="Orbitron"/>
              </a:rPr>
              <a:t>STEP 05 • GIS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619125"/>
            <a:ext cx="793849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Orbitron"/>
              </a:rPr>
              <a:t>Exporting Bearings to QGIS Polygon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5934075"/>
            <a:ext cx="396868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0F2FE"/>
                </a:solidFill>
                <a:latin typeface="Orbitron"/>
              </a:rPr>
              <a:t>TRIGGER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450" y="5929466"/>
            <a:ext cx="396868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 dirty="0">
                <a:solidFill>
                  <a:srgbClr val="00F2FE"/>
                </a:solidFill>
                <a:latin typeface="Orbitron"/>
              </a:rPr>
              <a:t>DATA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3950" y="5934075"/>
            <a:ext cx="391804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0F2FE"/>
                </a:solidFill>
                <a:latin typeface="Orbitron"/>
              </a:rPr>
              <a:t>AUTO-STYLING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1828800"/>
            <a:ext cx="416712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1. Save to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095500"/>
            <a:ext cx="3270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Right-click compass dial and select </a:t>
            </a:r>
            <a:r>
              <a:rPr sz="900" b="1" i="0" u="none">
                <a:solidFill>
                  <a:srgbClr val="94A3B8"/>
                </a:solidFill>
                <a:latin typeface="Inter"/>
              </a:rPr>
              <a:t>Save to Layer</a:t>
            </a:r>
            <a:r>
              <a:rPr sz="900" b="0" i="0" u="none">
                <a:solidFill>
                  <a:srgbClr val="94A3B8"/>
                </a:solidFill>
                <a:latin typeface="Inter"/>
              </a:rPr>
              <a:t>. Converts active screen wedges into true spatial polygon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450" y="1828800"/>
            <a:ext cx="416712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2. Memory Attribute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450" y="2095500"/>
            <a:ext cx="3270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Generates memory vector layer (Bearing_n_Dir) populated with structured fields: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3950" y="1828800"/>
            <a:ext cx="391804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3. Automatic Styling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3950" y="2095500"/>
            <a:ext cx="327034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Applies single-symbol cyan fill styling (120 alpha) with 0.6 stroke outline, immediately ready for map export or SHP/TAB saving.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4650" y="2500312"/>
            <a:ext cx="571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1800" y="2514600"/>
            <a:ext cx="3802000" cy="13335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Label (String)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4650" y="2633662"/>
            <a:ext cx="571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1800" y="2647950"/>
            <a:ext cx="3802000" cy="13335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Azimuth (Double)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650" y="2767012"/>
            <a:ext cx="571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1800" y="2781300"/>
            <a:ext cx="3802000" cy="13335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Distance_m (Double)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4650" y="2900362"/>
            <a:ext cx="571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1800" y="2914650"/>
            <a:ext cx="3802000" cy="13335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Beamwidth (Double)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C84683-3E04-0311-24CA-4DCB1E39354F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548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Orbitron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4</cp:revision>
  <dcterms:created xsi:type="dcterms:W3CDTF">2013-01-27T09:14:16Z</dcterms:created>
  <dcterms:modified xsi:type="dcterms:W3CDTF">2026-10-25T04:55:12Z</dcterms:modified>
  <cp:category/>
</cp:coreProperties>
</file>