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EFC733-AD20-B2A4-7F23-CD9CDCE89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301" y="2497362"/>
            <a:ext cx="1219048" cy="12190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66DE69-70FA-5398-BA75-951E9A103C32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D4FC6D-5E7A-051D-F5FF-5D45323136AC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20DD9-5EFF-C536-0FAD-381D8768D384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802FB-8DC4-DF46-4B3E-0B1E8E1B3B0D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2FDB0-C14D-BF59-2F59-9ED860FCF3E4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D41E5-60A4-48CF-B770-0537CBD221D5}"/>
              </a:ext>
            </a:extLst>
          </p:cNvPr>
          <p:cNvSpPr txBox="1"/>
          <p:nvPr/>
        </p:nvSpPr>
        <p:spPr>
          <a:xfrm>
            <a:off x="609600" y="2243137"/>
            <a:ext cx="8899488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Timing Advance Coverage Analyzer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3D2E6-D72B-CD81-10F7-48F53FA4020F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Interactive GIS tool for detecting cell overshooting, analyzing TA distribution arrays, and visualizing sector ranges in QGIS.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FAF39-9338-A631-CDA3-98FBCB380E5B}"/>
              </a:ext>
            </a:extLst>
          </p:cNvPr>
          <p:cNvSpPr txBox="1"/>
          <p:nvPr/>
        </p:nvSpPr>
        <p:spPr>
          <a:xfrm>
            <a:off x="609600" y="4405312"/>
            <a:ext cx="12625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Multi Vendor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0F009-C67C-9309-EE01-41A523385225}"/>
              </a:ext>
            </a:extLst>
          </p:cNvPr>
          <p:cNvSpPr txBox="1"/>
          <p:nvPr/>
        </p:nvSpPr>
        <p:spPr>
          <a:xfrm>
            <a:off x="609600" y="4738687"/>
            <a:ext cx="14956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ZTE &amp; Huawei LTE Support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D7B72-F6A9-1941-3BA5-D4BA2A1B9C49}"/>
              </a:ext>
            </a:extLst>
          </p:cNvPr>
          <p:cNvSpPr txBox="1"/>
          <p:nvPr/>
        </p:nvSpPr>
        <p:spPr>
          <a:xfrm>
            <a:off x="2981325" y="4405312"/>
            <a:ext cx="14553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Pareto Analytic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957A9-BC91-B3CC-B564-4CFE768C27E5}"/>
              </a:ext>
            </a:extLst>
          </p:cNvPr>
          <p:cNvSpPr txBox="1"/>
          <p:nvPr/>
        </p:nvSpPr>
        <p:spPr>
          <a:xfrm>
            <a:off x="2981325" y="4738687"/>
            <a:ext cx="15757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TA90 &amp; Avg Range Detection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DDAEE-B4AE-9AFC-2C22-FF75C981252C}"/>
              </a:ext>
            </a:extLst>
          </p:cNvPr>
          <p:cNvSpPr txBox="1"/>
          <p:nvPr/>
        </p:nvSpPr>
        <p:spPr>
          <a:xfrm>
            <a:off x="5591175" y="4405312"/>
            <a:ext cx="232171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Auto-Styling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D6FA0-DB81-4FE5-F8EC-0F3F4B380956}"/>
              </a:ext>
            </a:extLst>
          </p:cNvPr>
          <p:cNvSpPr txBox="1"/>
          <p:nvPr/>
        </p:nvSpPr>
        <p:spPr>
          <a:xfrm>
            <a:off x="5591175" y="4738687"/>
            <a:ext cx="170238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Dynamic Polygon &amp; Arc Render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A3071-6893-EA1C-7BA3-D795A3525521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390650"/>
            <a:ext cx="3498800" cy="5000625"/>
          </a:xfrm>
          <a:prstGeom prst="roundRect">
            <a:avLst>
              <a:gd name="adj" fmla="val 3266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6525" y="1390650"/>
            <a:ext cx="3498800" cy="5000625"/>
          </a:xfrm>
          <a:prstGeom prst="roundRect">
            <a:avLst>
              <a:gd name="adj" fmla="val 3266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3925" y="1390650"/>
            <a:ext cx="3498800" cy="5000625"/>
          </a:xfrm>
          <a:prstGeom prst="roundRect">
            <a:avLst>
              <a:gd name="adj" fmla="val 3266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50" y="5734050"/>
            <a:ext cx="3022550" cy="419100"/>
          </a:xfrm>
          <a:prstGeom prst="roundRect">
            <a:avLst>
              <a:gd name="adj" fmla="val 13636"/>
            </a:avLst>
          </a:prstGeom>
          <a:solidFill>
            <a:srgbClr val="12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7250" y="5734050"/>
            <a:ext cx="28575" cy="419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84650" y="5734050"/>
            <a:ext cx="3022550" cy="419100"/>
          </a:xfrm>
          <a:prstGeom prst="roundRect">
            <a:avLst>
              <a:gd name="adj" fmla="val 13636"/>
            </a:avLst>
          </a:prstGeom>
          <a:solidFill>
            <a:srgbClr val="12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84650" y="5734050"/>
            <a:ext cx="28575" cy="41910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12050" y="5734050"/>
            <a:ext cx="3022550" cy="419100"/>
          </a:xfrm>
          <a:prstGeom prst="roundRect">
            <a:avLst>
              <a:gd name="adj" fmla="val 13636"/>
            </a:avLst>
          </a:prstGeom>
          <a:solidFill>
            <a:srgbClr val="12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12050" y="5734050"/>
            <a:ext cx="28575" cy="4191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250" y="16287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7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4650" y="16287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1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12050" y="16287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7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5895975"/>
            <a:ext cx="76200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25" y="5895975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925" y="5895975"/>
            <a:ext cx="14287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E5FF"/>
                </a:solidFill>
                <a:latin typeface="Inter"/>
              </a:rPr>
              <a:t>STEP 01 • INTERACTIVE MAP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704850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Target Cell Selection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" y="5848350"/>
            <a:ext cx="273680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"/>
              </a:rPr>
              <a:t> Cursor changes to Pointing 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9924" y="5848350"/>
            <a:ext cx="27082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"/>
              </a:rPr>
              <a:t> Auto-detects Cell, Azimuth &amp; TA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6374" y="5848350"/>
            <a:ext cx="268917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Inter"/>
              </a:rPr>
              <a:t> Prevents GIS layer cluttering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16287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162175"/>
            <a:ext cx="396709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Activate TA Map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495550"/>
            <a:ext cx="3117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Select the TA Tool icon from the Kraken Toolbar to switch your cursor to selection mode.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1775" y="16287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2D55"/>
                </a:solidFill>
                <a:latin typeface="Inte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4650" y="2162175"/>
            <a:ext cx="396709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Canvas Interaction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4650" y="249555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Click any cell wedge on the map canvas. The tool identifies the nearest cell feature within a dynamic search radius.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9175" y="16287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2050" y="2162175"/>
            <a:ext cx="387994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Auto-Clean &amp; 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2050" y="249555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Previous overlay charts and GIS layers are automatically removed before rendering new cell metrics.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E61C9-6822-D94D-2F2D-3B8388324B9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41169" y="2080617"/>
            <a:ext cx="4831705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41169" y="3312914"/>
            <a:ext cx="4831705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41169" y="4545210"/>
            <a:ext cx="4831705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41169" y="3150989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41169" y="2080617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1169" y="2080617"/>
            <a:ext cx="38100" cy="1079896"/>
          </a:xfrm>
          <a:prstGeom prst="rect">
            <a:avLst/>
          </a:prstGeom>
          <a:solidFill>
            <a:srgbClr val="FF0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63350" y="2080617"/>
            <a:ext cx="9525" cy="1079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41169" y="4383285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41169" y="3312914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41169" y="3312914"/>
            <a:ext cx="38100" cy="1079896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63350" y="3312914"/>
            <a:ext cx="9525" cy="1079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41169" y="5615582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41169" y="4545210"/>
            <a:ext cx="48317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41169" y="4545210"/>
            <a:ext cx="38100" cy="1079896"/>
          </a:xfrm>
          <a:prstGeom prst="rect">
            <a:avLst/>
          </a:prstGeom>
          <a:solidFill>
            <a:srgbClr val="00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63350" y="4545210"/>
            <a:ext cx="9525" cy="1079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757362"/>
            <a:ext cx="5817244" cy="419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69" y="2337792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869" y="3570089"/>
            <a:ext cx="142875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69" y="4802385"/>
            <a:ext cx="1333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E5FF"/>
                </a:solidFill>
                <a:latin typeface="Inter"/>
              </a:rPr>
              <a:t>STEP 02 • SPATIAL GIS REPRESENTATION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" y="704850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Coverage Polygon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7869" y="2318742"/>
            <a:ext cx="5184130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TA Distribution Layer (TA_Dist)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7869" y="2575917"/>
            <a:ext cx="44221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Graduated 5-step red color opacity based on sample distribution share in each distance bin.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7869" y="3551039"/>
            <a:ext cx="5184130" cy="20002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Average TA Arc (Solid Cyan)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7869" y="3808214"/>
            <a:ext cx="44221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Represents the weighted average distance of the serving cell's user traffic.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7869" y="4783335"/>
            <a:ext cx="5184130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TA90 Outer Limit (Dashed Cyan)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7869" y="5040510"/>
            <a:ext cx="44221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Indicates 90th percentile coverage boundary to immediately spotlight overshooting distance.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BFD042-BA4D-DBAD-EACF-BC3FA14FE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987" y="1849321"/>
            <a:ext cx="4795519" cy="40406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FDAF92-6789-16FA-2D69-6D4E0BE5F71B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51166" y="2080617"/>
            <a:ext cx="4621708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51166" y="3312914"/>
            <a:ext cx="4621708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51166" y="4545210"/>
            <a:ext cx="4621708" cy="1079896"/>
          </a:xfrm>
          <a:prstGeom prst="roundRect">
            <a:avLst>
              <a:gd name="adj" fmla="val 10584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757362"/>
            <a:ext cx="6027241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291" y="233779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291" y="3570089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291" y="4802385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E5FF"/>
                </a:solidFill>
                <a:latin typeface="Inter"/>
              </a:rPr>
              <a:t>STEP 03 • ANALYTICS 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704850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Interactive Pareto Chart 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9291" y="2318742"/>
            <a:ext cx="5002708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676"/>
                </a:solidFill>
                <a:latin typeface="Space Grotesk"/>
              </a:rPr>
              <a:t>Green Histogram Bars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9291" y="2575917"/>
            <a:ext cx="4240708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Displays raw sample counts per vendor-specific distance bin (e.g., 234m - 546m).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9291" y="3551039"/>
            <a:ext cx="5002708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2D55"/>
                </a:solidFill>
                <a:latin typeface="Space Grotesk"/>
              </a:rPr>
              <a:t>Red Pareto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9291" y="3808214"/>
            <a:ext cx="4240708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Cumulative percentage trajectory showing traffic concentration buildup.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9291" y="4783335"/>
            <a:ext cx="5002708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EB3B"/>
                </a:solidFill>
                <a:latin typeface="Space Grotesk"/>
              </a:rPr>
              <a:t>Hover Tooltips &amp; Close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9291" y="5040510"/>
            <a:ext cx="4240708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Hover points/bars for exact counts and percentages. Click "✕" to dismiss overlay.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12F1B2-57FE-8EDB-E642-8F6BE7B4AE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3" t="1141" r="613" b="998"/>
          <a:stretch/>
        </p:blipFill>
        <p:spPr>
          <a:xfrm>
            <a:off x="750708" y="2181378"/>
            <a:ext cx="5764074" cy="3342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4625D-F9BE-9D01-5758-AB31F02EBA4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314450"/>
            <a:ext cx="5362575" cy="5076825"/>
          </a:xfrm>
          <a:prstGeom prst="roundRect">
            <a:avLst>
              <a:gd name="adj" fmla="val 2251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14450"/>
            <a:ext cx="5362575" cy="5076825"/>
          </a:xfrm>
          <a:prstGeom prst="roundRect">
            <a:avLst>
              <a:gd name="adj" fmla="val 2251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19625" y="1566862"/>
            <a:ext cx="1123950" cy="219075"/>
          </a:xfrm>
          <a:prstGeom prst="roundRect">
            <a:avLst>
              <a:gd name="adj" fmla="val 17391"/>
            </a:avLst>
          </a:prstGeom>
          <a:solidFill>
            <a:srgbClr val="164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06050" y="1566862"/>
            <a:ext cx="1028700" cy="219075"/>
          </a:xfrm>
          <a:prstGeom prst="roundRect">
            <a:avLst>
              <a:gd name="adj" fmla="val 17391"/>
            </a:avLst>
          </a:prstGeom>
          <a:solidFill>
            <a:srgbClr val="3C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7250" y="2381250"/>
          <a:ext cx="4886323" cy="939800"/>
        </p:xfrm>
        <a:graphic>
          <a:graphicData uri="http://schemas.openxmlformats.org/drawingml/2006/table">
            <a:tbl>
              <a:tblPr/>
              <a:tblGrid>
                <a:gridCol w="60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Bin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Range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Bin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Range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0 - 78m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546 - 703m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78 - 234m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703 - 859m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234 - 390m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859 - 1015m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390 - 546m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00E5FF"/>
                          </a:solidFill>
                          <a:latin typeface="Inter"/>
                        </a:rPr>
                        <a:t>TA8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1015 - 1562m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8425" y="2381250"/>
          <a:ext cx="4886323" cy="939800"/>
        </p:xfrm>
        <a:graphic>
          <a:graphicData uri="http://schemas.openxmlformats.org/drawingml/2006/table">
            <a:tbl>
              <a:tblPr/>
              <a:tblGrid>
                <a:gridCol w="55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Bin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Range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Bin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Range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0 - 156m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1014 - 1950m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156 - 234m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1950 - 3510m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234 - 546m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3510 - 6630m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546 - 1014m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2D55"/>
                          </a:solidFill>
                          <a:latin typeface="Inter"/>
                        </a:rPr>
                        <a:t>TA8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Inter"/>
                        </a:rPr>
                        <a:t>6630 - 14430m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E5FF"/>
                </a:solidFill>
                <a:latin typeface="Inter"/>
              </a:rPr>
              <a:t>REFERENCE • DISTANCE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704850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Vendor Bin Mapping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076450"/>
            <a:ext cx="6107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Fine-grained inner bins for dense urban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076450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Broader range grouping suitable for macro and rural cells.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1552575"/>
            <a:ext cx="2400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E5FF"/>
                </a:solidFill>
                <a:latin typeface="Space Grotesk"/>
              </a:rPr>
              <a:t>ZTE Distance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825" y="1604962"/>
            <a:ext cx="1066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Inter"/>
              </a:rPr>
              <a:t>Max 20 km (TA16)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1552575"/>
            <a:ext cx="28753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2D55"/>
                </a:solidFill>
                <a:latin typeface="Space Grotesk"/>
              </a:rPr>
              <a:t>HUAWEI Distance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0" y="1604962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2D55"/>
                </a:solidFill>
                <a:latin typeface="Inter"/>
              </a:rPr>
              <a:t>Extended Range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5DF52-E9C7-3FB5-A9D6-6B54A845D67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446</Words>
  <Application>Microsoft Office PowerPoint</Application>
  <PresentationFormat>Widescreen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8</cp:revision>
  <dcterms:created xsi:type="dcterms:W3CDTF">2013-01-27T09:14:16Z</dcterms:created>
  <dcterms:modified xsi:type="dcterms:W3CDTF">2026-10-25T01:51:46Z</dcterms:modified>
  <cp:category/>
</cp:coreProperties>
</file>