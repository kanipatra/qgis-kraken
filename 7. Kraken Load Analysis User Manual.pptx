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us Jakarta Sans"/>
      <p:bold r:id="rId7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D8CFF13-9BC4-0287-3338-3673E9912D93}"/>
              </a:ext>
            </a:extLst>
          </p:cNvPr>
          <p:cNvSpPr/>
          <p:nvPr/>
        </p:nvSpPr>
        <p:spPr>
          <a:xfrm>
            <a:off x="609600" y="4090987"/>
            <a:ext cx="7620000" cy="80962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FA63DB3A-09C5-E350-3D33-BA4D40E46F07}"/>
              </a:ext>
            </a:extLst>
          </p:cNvPr>
          <p:cNvSpPr/>
          <p:nvPr/>
        </p:nvSpPr>
        <p:spPr>
          <a:xfrm>
            <a:off x="609600" y="4090987"/>
            <a:ext cx="762000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5F1ECC1-EFAD-51D3-7C4A-564BDF4E20D0}"/>
              </a:ext>
            </a:extLst>
          </p:cNvPr>
          <p:cNvSpPr txBox="1"/>
          <p:nvPr/>
        </p:nvSpPr>
        <p:spPr>
          <a:xfrm>
            <a:off x="609600" y="1957387"/>
            <a:ext cx="952500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38BDF8"/>
                </a:solidFill>
                <a:latin typeface="Space Grotesk"/>
              </a:rPr>
              <a:t>KRAKEN QGIS PLUGIN • USER MANUAL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4418A6-8995-D903-1684-C5DAD8B28430}"/>
              </a:ext>
            </a:extLst>
          </p:cNvPr>
          <p:cNvSpPr txBox="1"/>
          <p:nvPr/>
        </p:nvSpPr>
        <p:spPr>
          <a:xfrm>
            <a:off x="609600" y="2243137"/>
            <a:ext cx="3452163" cy="64338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4950"/>
              </a:lnSpc>
            </a:pPr>
            <a:r>
              <a:rPr lang="en-US" sz="4800" b="1" i="0" u="none" dirty="0">
                <a:solidFill>
                  <a:srgbClr val="FFFFFF"/>
                </a:solidFill>
                <a:latin typeface="Space Grotesk"/>
              </a:rPr>
              <a:t>Load Analysis</a:t>
            </a:r>
            <a:endParaRPr sz="4500" b="1" i="0" u="none" dirty="0">
              <a:solidFill>
                <a:srgbClr val="FFFFFF"/>
              </a:solidFill>
              <a:latin typeface="Space Grotesk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60C3A885-6C10-9845-25B2-043EAAB82E63}"/>
              </a:ext>
            </a:extLst>
          </p:cNvPr>
          <p:cNvSpPr txBox="1"/>
          <p:nvPr/>
        </p:nvSpPr>
        <p:spPr>
          <a:xfrm>
            <a:off x="609599" y="3100387"/>
            <a:ext cx="7619999" cy="609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Automated dual-engine framework analyzing DL PRB Utilization and DL User Throughput to deliver precision Vertical (</a:t>
            </a:r>
            <a:r>
              <a:rPr lang="en-US" sz="1500" b="0" i="0" u="none" dirty="0" err="1">
                <a:solidFill>
                  <a:srgbClr val="94A3B8"/>
                </a:solidFill>
                <a:latin typeface="Inter"/>
              </a:rPr>
              <a:t>Cosector</a:t>
            </a:r>
            <a:r>
              <a:rPr lang="en-US" sz="1500" b="0" i="0" u="none" dirty="0">
                <a:solidFill>
                  <a:srgbClr val="94A3B8"/>
                </a:solidFill>
                <a:latin typeface="Inter"/>
              </a:rPr>
              <a:t>) and Horizontal (Inter-site) load balancing targets.</a:t>
            </a:r>
            <a:endParaRPr sz="1500" b="0" i="0" u="none" dirty="0">
              <a:solidFill>
                <a:srgbClr val="9CA3AF"/>
              </a:solidFill>
              <a:latin typeface="Inter"/>
            </a:endParaRPr>
          </a:p>
        </p:txBody>
      </p:sp>
      <p:sp>
        <p:nvSpPr>
          <p:cNvPr id="38" name="Rounded Rectangle 2">
            <a:extLst>
              <a:ext uri="{FF2B5EF4-FFF2-40B4-BE49-F238E27FC236}">
                <a16:creationId xmlns:a16="http://schemas.microsoft.com/office/drawing/2014/main" id="{54191CA1-3B73-F568-183E-F822FB9B31C0}"/>
              </a:ext>
            </a:extLst>
          </p:cNvPr>
          <p:cNvSpPr/>
          <p:nvPr/>
        </p:nvSpPr>
        <p:spPr>
          <a:xfrm>
            <a:off x="609600" y="4307978"/>
            <a:ext cx="2505075" cy="1038225"/>
          </a:xfrm>
          <a:prstGeom prst="roundRect">
            <a:avLst>
              <a:gd name="adj" fmla="val 11009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ounded Rectangle 3">
            <a:extLst>
              <a:ext uri="{FF2B5EF4-FFF2-40B4-BE49-F238E27FC236}">
                <a16:creationId xmlns:a16="http://schemas.microsoft.com/office/drawing/2014/main" id="{A7E2ECB2-F35A-7E98-1525-71D25776D3F8}"/>
              </a:ext>
            </a:extLst>
          </p:cNvPr>
          <p:cNvSpPr/>
          <p:nvPr/>
        </p:nvSpPr>
        <p:spPr>
          <a:xfrm>
            <a:off x="3267075" y="4307978"/>
            <a:ext cx="2505075" cy="1038225"/>
          </a:xfrm>
          <a:prstGeom prst="roundRect">
            <a:avLst>
              <a:gd name="adj" fmla="val 11009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4">
            <a:extLst>
              <a:ext uri="{FF2B5EF4-FFF2-40B4-BE49-F238E27FC236}">
                <a16:creationId xmlns:a16="http://schemas.microsoft.com/office/drawing/2014/main" id="{71C4F699-3CDF-92A5-9E3C-0BCC403F6AAD}"/>
              </a:ext>
            </a:extLst>
          </p:cNvPr>
          <p:cNvSpPr/>
          <p:nvPr/>
        </p:nvSpPr>
        <p:spPr>
          <a:xfrm>
            <a:off x="5924550" y="4307978"/>
            <a:ext cx="2505075" cy="1038225"/>
          </a:xfrm>
          <a:prstGeom prst="roundRect">
            <a:avLst>
              <a:gd name="adj" fmla="val 11009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1" name="Picture 40" descr="image.png">
            <a:extLst>
              <a:ext uri="{FF2B5EF4-FFF2-40B4-BE49-F238E27FC236}">
                <a16:creationId xmlns:a16="http://schemas.microsoft.com/office/drawing/2014/main" id="{F722BFB9-AE10-5064-214B-1B2921F5D3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" y="4527053"/>
            <a:ext cx="104775" cy="171450"/>
          </a:xfrm>
          <a:prstGeom prst="rect">
            <a:avLst/>
          </a:prstGeom>
        </p:spPr>
      </p:pic>
      <p:pic>
        <p:nvPicPr>
          <p:cNvPr id="42" name="Picture 41" descr="image.png">
            <a:extLst>
              <a:ext uri="{FF2B5EF4-FFF2-40B4-BE49-F238E27FC236}">
                <a16:creationId xmlns:a16="http://schemas.microsoft.com/office/drawing/2014/main" id="{5E6D1F44-B6A2-2B00-482F-AF1B37C6A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7100" y="4527053"/>
            <a:ext cx="171450" cy="171450"/>
          </a:xfrm>
          <a:prstGeom prst="rect">
            <a:avLst/>
          </a:prstGeom>
        </p:spPr>
      </p:pic>
      <p:pic>
        <p:nvPicPr>
          <p:cNvPr id="43" name="Picture 42" descr="image.png">
            <a:extLst>
              <a:ext uri="{FF2B5EF4-FFF2-40B4-BE49-F238E27FC236}">
                <a16:creationId xmlns:a16="http://schemas.microsoft.com/office/drawing/2014/main" id="{B9781958-5F28-F11F-5D2D-ADF3D6A2361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4575" y="4527053"/>
            <a:ext cx="190500" cy="17145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01E6E78-CC71-D2E1-7040-6EB650BD8237}"/>
              </a:ext>
            </a:extLst>
          </p:cNvPr>
          <p:cNvSpPr txBox="1"/>
          <p:nvPr/>
        </p:nvSpPr>
        <p:spPr>
          <a:xfrm>
            <a:off x="809625" y="4793753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Vertical Engine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06AE2058-C2FB-35D9-B2C9-C978348C4DDC}"/>
              </a:ext>
            </a:extLst>
          </p:cNvPr>
          <p:cNvSpPr txBox="1"/>
          <p:nvPr/>
        </p:nvSpPr>
        <p:spPr>
          <a:xfrm>
            <a:off x="809625" y="5003303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Cosector MLB &amp; Coverage Balance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1DB4EB29-E3A3-3038-0C0E-6097A42BE65B}"/>
              </a:ext>
            </a:extLst>
          </p:cNvPr>
          <p:cNvSpPr txBox="1"/>
          <p:nvPr/>
        </p:nvSpPr>
        <p:spPr>
          <a:xfrm>
            <a:off x="3467100" y="4793753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Horizontal Engine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FD8BB42-BF87-6687-EC7C-9EB9250B552E}"/>
              </a:ext>
            </a:extLst>
          </p:cNvPr>
          <p:cNvSpPr txBox="1"/>
          <p:nvPr/>
        </p:nvSpPr>
        <p:spPr>
          <a:xfrm>
            <a:off x="3467100" y="5003303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Multi-Tier Spatial Scoring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DDA67F5-2349-085E-AD6C-508308F48676}"/>
              </a:ext>
            </a:extLst>
          </p:cNvPr>
          <p:cNvSpPr txBox="1"/>
          <p:nvPr/>
        </p:nvSpPr>
        <p:spPr>
          <a:xfrm>
            <a:off x="6124575" y="4793753"/>
            <a:ext cx="2631281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 dirty="0">
                <a:solidFill>
                  <a:srgbClr val="FFFFFF"/>
                </a:solidFill>
                <a:latin typeface="Plus Jakarta Sans"/>
              </a:rPr>
              <a:t>Pie-Wedge Geometry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F3EA570-8C4C-3C58-7F47-BE30C4303A2A}"/>
              </a:ext>
            </a:extLst>
          </p:cNvPr>
          <p:cNvSpPr txBox="1"/>
          <p:nvPr/>
        </p:nvSpPr>
        <p:spPr>
          <a:xfrm>
            <a:off x="6124575" y="5003303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60° Beam Intersection Overlap</a:t>
            </a:r>
          </a:p>
        </p:txBody>
      </p:sp>
      <p:pic>
        <p:nvPicPr>
          <p:cNvPr id="51" name="Picture 50">
            <a:extLst>
              <a:ext uri="{FF2B5EF4-FFF2-40B4-BE49-F238E27FC236}">
                <a16:creationId xmlns:a16="http://schemas.microsoft.com/office/drawing/2014/main" id="{8C934ADC-9CA7-9833-A25E-249486E0C72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5240" y="2577802"/>
            <a:ext cx="1045170" cy="104517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5B6FC5C-2C71-33D5-6414-5B3F4D6CAEA0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467975" y="457200"/>
            <a:ext cx="1114425" cy="276225"/>
          </a:xfrm>
          <a:prstGeom prst="roundRect">
            <a:avLst>
              <a:gd name="adj" fmla="val 50000"/>
            </a:avLst>
          </a:prstGeom>
          <a:solidFill>
            <a:srgbClr val="0E253B"/>
          </a:solidFill>
          <a:ln w="9525">
            <a:solidFill>
              <a:srgbClr val="0C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09600" y="1276350"/>
            <a:ext cx="3505200" cy="5124450"/>
          </a:xfrm>
          <a:prstGeom prst="roundRect">
            <a:avLst>
              <a:gd name="adj" fmla="val 4347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43400" y="1276350"/>
            <a:ext cx="3505200" cy="5124450"/>
          </a:xfrm>
          <a:prstGeom prst="roundRect">
            <a:avLst>
              <a:gd name="adj" fmla="val 4347"/>
            </a:avLst>
          </a:prstGeom>
          <a:solidFill>
            <a:srgbClr val="0F1528"/>
          </a:solidFill>
          <a:ln w="9525">
            <a:solidFill>
              <a:srgbClr val="0C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77200" y="1276350"/>
            <a:ext cx="3505200" cy="5124450"/>
          </a:xfrm>
          <a:prstGeom prst="roundRect">
            <a:avLst>
              <a:gd name="adj" fmla="val 4347"/>
            </a:avLst>
          </a:prstGeom>
          <a:solidFill>
            <a:srgbClr val="0F1528"/>
          </a:solidFill>
          <a:ln w="9525">
            <a:solidFill>
              <a:srgbClr val="173E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923925" y="5638800"/>
            <a:ext cx="2876550" cy="4476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657725" y="5781675"/>
            <a:ext cx="2876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8391525" y="5781675"/>
            <a:ext cx="2876550" cy="3048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923925" y="5638800"/>
            <a:ext cx="28765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657725" y="5781675"/>
            <a:ext cx="28765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91525" y="5781675"/>
            <a:ext cx="2876550" cy="952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1590675"/>
            <a:ext cx="381000" cy="38100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7725" y="1590675"/>
            <a:ext cx="381000" cy="3810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1525" y="1590675"/>
            <a:ext cx="38100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8700" y="1695450"/>
            <a:ext cx="171450" cy="1714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5837" y="1695450"/>
            <a:ext cx="104775" cy="1714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6300" y="1695450"/>
            <a:ext cx="171450" cy="1714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09600" y="457200"/>
            <a:ext cx="51077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STEP 01 • SYSTEM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600" y="638175"/>
            <a:ext cx="536317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Dual Analysis Pipeline Overview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10850" y="523875"/>
            <a:ext cx="11144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Core Workflow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925" y="216217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1. Column Mapping 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925" y="2514600"/>
            <a:ext cx="297180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Resolves user fields via SettingDialog. Extracted without hardcoded aliases across QgsFeature, Pandas Series, and dictionary structures.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925" y="5800725"/>
            <a:ext cx="29718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Safe Parsing: Handles NULL, N/A, and comma decimals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57725" y="216217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2. Vertical Load Engine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57725" y="2514600"/>
            <a:ext cx="297180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Evaluates co-sector cells on the same site. Identifies high PRB utilization (&gt;80%) and checks load acceptance against band LTC throughput thresholds.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57725" y="5943600"/>
            <a:ext cx="3595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Outputs: MLB adjustment or Coverage Balancing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1525" y="2162175"/>
            <a:ext cx="3775471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FFFFFF"/>
                </a:solidFill>
                <a:latin typeface="Plus Jakarta Sans"/>
              </a:rPr>
              <a:t>3. Horizontal Load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91525" y="2514600"/>
            <a:ext cx="2971800" cy="85308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79"/>
              </a:lnSpc>
            </a:pPr>
            <a:r>
              <a:rPr sz="1050" b="0" i="0" u="none">
                <a:solidFill>
                  <a:srgbClr val="94A3B8"/>
                </a:solidFill>
                <a:latin typeface="Plus Jakarta Sans"/>
              </a:rPr>
              <a:t>Filters different site towers matching frequency band. Executes spatial cone filtering (45°) and ranks inter-site targets using composite scoring.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91525" y="5943600"/>
            <a:ext cx="35956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EF7D"/>
                </a:solidFill>
                <a:latin typeface="Plus Jakarta Sans"/>
              </a:rPr>
              <a:t>Top 5 Inter-Site Candidates Ranking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AF5DA95-2563-09C2-2AD3-0520234B3A0A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125075" y="457200"/>
            <a:ext cx="1457325" cy="276225"/>
          </a:xfrm>
          <a:prstGeom prst="roundRect">
            <a:avLst>
              <a:gd name="adj" fmla="val 50000"/>
            </a:avLst>
          </a:prstGeom>
          <a:solidFill>
            <a:srgbClr val="33272A"/>
          </a:solidFill>
          <a:ln w="9525">
            <a:solidFill>
              <a:srgbClr val="573C2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252864" y="2662237"/>
            <a:ext cx="5329535" cy="2314575"/>
          </a:xfrm>
          <a:prstGeom prst="roundRect">
            <a:avLst>
              <a:gd name="adj" fmla="val 6584"/>
            </a:avLst>
          </a:prstGeom>
          <a:solidFill>
            <a:srgbClr val="0F1629"/>
          </a:solidFill>
          <a:ln w="9525">
            <a:solidFill>
              <a:srgbClr val="272A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09600" y="2328862"/>
            <a:ext cx="5338464" cy="942975"/>
          </a:xfrm>
          <a:prstGeom prst="rect">
            <a:avLst/>
          </a:prstGeom>
          <a:solidFill>
            <a:srgbClr val="0F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09600" y="3424237"/>
            <a:ext cx="5338464" cy="942975"/>
          </a:xfrm>
          <a:prstGeom prst="rect">
            <a:avLst/>
          </a:prstGeom>
          <a:solidFill>
            <a:srgbClr val="0F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09600" y="4519612"/>
            <a:ext cx="5338464" cy="790575"/>
          </a:xfrm>
          <a:prstGeom prst="rect">
            <a:avLst/>
          </a:prstGeom>
          <a:solidFill>
            <a:srgbClr val="0F15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09600" y="2328862"/>
            <a:ext cx="38100" cy="942975"/>
          </a:xfrm>
          <a:prstGeom prst="rect">
            <a:avLst/>
          </a:prstGeom>
          <a:solidFill>
            <a:srgbClr val="FF52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09600" y="3424237"/>
            <a:ext cx="38100" cy="942975"/>
          </a:xfrm>
          <a:prstGeom prst="rect">
            <a:avLst/>
          </a:prstGeom>
          <a:solidFill>
            <a:srgbClr val="FF9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609600" y="4519612"/>
            <a:ext cx="38100" cy="790575"/>
          </a:xfrm>
          <a:prstGeom prst="rect">
            <a:avLst/>
          </a:prstGeom>
          <a:solidFill>
            <a:srgbClr val="00D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490989" y="3224212"/>
          <a:ext cx="4853283" cy="1514475"/>
        </p:xfrm>
        <a:graphic>
          <a:graphicData uri="http://schemas.openxmlformats.org/drawingml/2006/table">
            <a:tbl>
              <a:tblPr/>
              <a:tblGrid>
                <a:gridCol w="996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581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81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861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TA90 Ratio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Condition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64748B"/>
                          </a:solidFill>
                          <a:latin typeface="Plus Jakarta Sans"/>
                        </a:rPr>
                        <a:t>Recommended Action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5252"/>
                          </a:solidFill>
                          <a:latin typeface="Plus Jakarta Sans"/>
                        </a:rPr>
                        <a:t>&lt; 0.7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Target coverage shorter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38EF7D"/>
                          </a:solidFill>
                          <a:latin typeface="Plus Jakarta Sans"/>
                        </a:rPr>
                        <a:t>Coverage Balancing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8618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FF9F43"/>
                          </a:solidFill>
                          <a:latin typeface="Plus Jakarta Sans"/>
                        </a:rPr>
                        <a:t>&gt; 1.3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Target coverage larger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0D2FF"/>
                          </a:solidFill>
                          <a:latin typeface="Plus Jakarta Sans"/>
                        </a:rPr>
                        <a:t>Check MLB Parameter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8621"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0D2FF"/>
                          </a:solidFill>
                          <a:latin typeface="Plus Jakarta Sans"/>
                        </a:rPr>
                        <a:t>0.7 - 1.3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0" i="0" u="none">
                          <a:solidFill>
                            <a:srgbClr val="CBD5E1"/>
                          </a:solidFill>
                          <a:latin typeface="Plus Jakarta Sans"/>
                        </a:rPr>
                        <a:t>Similar coverage profile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75" b="1" i="0" u="none">
                          <a:solidFill>
                            <a:srgbClr val="00D2FF"/>
                          </a:solidFill>
                          <a:latin typeface="Plus Jakarta Sans"/>
                        </a:rPr>
                        <a:t>Adjust MLB Target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62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09600" y="457200"/>
            <a:ext cx="49887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STEP 02 • VERTICAL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38175"/>
            <a:ext cx="5238154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Cosector Load Balancing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67950" y="523875"/>
            <a:ext cx="14644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9F43"/>
                </a:solidFill>
                <a:latin typeface="Plus Jakarta Sans"/>
              </a:rPr>
              <a:t>Threshold PRB &gt; 80%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0989" y="2900362"/>
            <a:ext cx="5701010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00D2FF"/>
                </a:solidFill>
                <a:latin typeface="Plus Jakarta Sans"/>
              </a:rPr>
              <a:t>ACTION RECOMMENDATION MATRIX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8200" y="2519362"/>
            <a:ext cx="64566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Trigger 01: High PRB Cell Detection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8200" y="2776537"/>
            <a:ext cx="501461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Identifies cells with PRB utilization exceeding 80%. Flags severe congestion when PRB exceeds 90%.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8200" y="3614737"/>
            <a:ext cx="64566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Trigger 02: Candidate Acceptor Validation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8200" y="3871912"/>
            <a:ext cx="5014614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Target cell must satisfy: PRB delta &gt; 30% and throughput meeting/exceeding band LTC threshold.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200" y="4710112"/>
            <a:ext cx="6456666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FFFFF"/>
                </a:solidFill>
                <a:latin typeface="Plus Jakarta Sans"/>
              </a:rPr>
              <a:t>Trigger 03: Automated Action Logic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8200" y="4967287"/>
            <a:ext cx="614920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94A3B8"/>
                </a:solidFill>
                <a:latin typeface="Plus Jakarta Sans"/>
              </a:rPr>
              <a:t>Evaluates TA90 coverage ratio between high load cell and acceptor candidate: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4C00CCD-C0D4-A17F-BE9A-64F869407325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609600" y="2638425"/>
            <a:ext cx="10972800" cy="1438275"/>
          </a:xfrm>
          <a:prstGeom prst="roundRect">
            <a:avLst>
              <a:gd name="adj" fmla="val 10596"/>
            </a:avLst>
          </a:prstGeom>
          <a:solidFill>
            <a:srgbClr val="0F1629"/>
          </a:solidFill>
          <a:ln w="9525">
            <a:solidFill>
              <a:srgbClr val="0C38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763125" y="457200"/>
            <a:ext cx="1819275" cy="276225"/>
          </a:xfrm>
          <a:prstGeom prst="roundRect">
            <a:avLst>
              <a:gd name="adj" fmla="val 50000"/>
            </a:avLst>
          </a:prstGeom>
          <a:solidFill>
            <a:srgbClr val="13282E"/>
          </a:solidFill>
          <a:ln w="9525">
            <a:solidFill>
              <a:srgbClr val="1B54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09600" y="1200150"/>
            <a:ext cx="3530649" cy="1209675"/>
          </a:xfrm>
          <a:prstGeom prst="roundRect">
            <a:avLst>
              <a:gd name="adj" fmla="val 9448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30749" y="1200150"/>
            <a:ext cx="3530649" cy="1209675"/>
          </a:xfrm>
          <a:prstGeom prst="roundRect">
            <a:avLst>
              <a:gd name="adj" fmla="val 9448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051899" y="1200150"/>
            <a:ext cx="3530649" cy="1209675"/>
          </a:xfrm>
          <a:prstGeom prst="roundRect">
            <a:avLst>
              <a:gd name="adj" fmla="val 9448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886325" y="2876550"/>
            <a:ext cx="1771650" cy="962025"/>
          </a:xfrm>
          <a:prstGeom prst="roundRect">
            <a:avLst>
              <a:gd name="adj" fmla="val 11881"/>
            </a:avLst>
          </a:prstGeom>
          <a:solidFill>
            <a:srgbClr val="161D2F"/>
          </a:solidFill>
          <a:ln w="9525">
            <a:solidFill>
              <a:srgbClr val="1B22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7239000" y="2876550"/>
            <a:ext cx="1847850" cy="962025"/>
          </a:xfrm>
          <a:prstGeom prst="roundRect">
            <a:avLst>
              <a:gd name="adj" fmla="val 11881"/>
            </a:avLst>
          </a:prstGeom>
          <a:solidFill>
            <a:srgbClr val="161D2F"/>
          </a:solidFill>
          <a:ln w="9525">
            <a:solidFill>
              <a:srgbClr val="1B22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67875" y="2876550"/>
            <a:ext cx="1676400" cy="962025"/>
          </a:xfrm>
          <a:prstGeom prst="roundRect">
            <a:avLst>
              <a:gd name="adj" fmla="val 11881"/>
            </a:avLst>
          </a:prstGeom>
          <a:solidFill>
            <a:srgbClr val="161D2F"/>
          </a:solidFill>
          <a:ln w="9525">
            <a:solidFill>
              <a:srgbClr val="1B22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9625" y="1400175"/>
            <a:ext cx="638175" cy="219075"/>
          </a:xfrm>
          <a:prstGeom prst="roundRect">
            <a:avLst>
              <a:gd name="adj" fmla="val 26086"/>
            </a:avLst>
          </a:prstGeom>
          <a:solidFill>
            <a:srgbClr val="0D31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30774" y="1400175"/>
            <a:ext cx="657225" cy="219075"/>
          </a:xfrm>
          <a:prstGeom prst="roundRect">
            <a:avLst>
              <a:gd name="adj" fmla="val 26086"/>
            </a:avLst>
          </a:prstGeom>
          <a:solidFill>
            <a:srgbClr val="332A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251924" y="1400175"/>
            <a:ext cx="657225" cy="219075"/>
          </a:xfrm>
          <a:prstGeom prst="roundRect">
            <a:avLst>
              <a:gd name="adj" fmla="val 26086"/>
            </a:avLst>
          </a:prstGeom>
          <a:solidFill>
            <a:srgbClr val="33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09600" y="457200"/>
            <a:ext cx="620315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EF7D"/>
                </a:solidFill>
                <a:latin typeface="Plus Jakarta Sans"/>
              </a:rPr>
              <a:t>STEP 03 • HORIZONTAL ANALYSIS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38175"/>
            <a:ext cx="6513314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Spatial Cone Search &amp; Iterative Stages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906000" y="523875"/>
            <a:ext cx="19169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38EF7D"/>
                </a:solidFill>
                <a:latin typeface="Plus Jakarta Sans"/>
              </a:rPr>
              <a:t>Co-Band Inter-Site Filtering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625" y="1714500"/>
            <a:ext cx="39132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inter-site_2Km_90degree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625" y="1924050"/>
            <a:ext cx="32258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Primary dense urban offloading radius inside 45° angle cone.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30774" y="1714500"/>
            <a:ext cx="39132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inter-site_5Km_90degree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30774" y="1924050"/>
            <a:ext cx="3225849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Suburban expansion search if Stage 1 yields zero candidates.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51924" y="1714500"/>
            <a:ext cx="3913249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inter-site_10Km_90degree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51924" y="1924050"/>
            <a:ext cx="39132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Macro rural fallback boundary for distant neighbor search.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7725" y="2995612"/>
            <a:ext cx="38100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CANDIDATE RANKING MODEL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7725" y="3176587"/>
            <a:ext cx="4000500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FFFFF"/>
                </a:solidFill>
                <a:latin typeface="Plus Jakarta Sans"/>
              </a:rPr>
              <a:t>Total Score Formula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7725" y="3433762"/>
            <a:ext cx="31432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 i="0" u="none">
                <a:solidFill>
                  <a:srgbClr val="64748B"/>
                </a:solidFill>
                <a:latin typeface="Plus Jakarta Sans"/>
              </a:rPr>
              <a:t>Weighted composite scoring evaluates sector alignment, distance proximity, and coverage overlap.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86575" y="3238500"/>
            <a:ext cx="409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4748B"/>
                </a:solidFill>
                <a:latin typeface="Plus Jakarta Sans"/>
              </a:rPr>
              <a:t>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15450" y="3238500"/>
            <a:ext cx="40957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 u="none">
                <a:solidFill>
                  <a:srgbClr val="64748B"/>
                </a:solidFill>
                <a:latin typeface="Plus Jakarta Sans"/>
              </a:rPr>
              <a:t>+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4875" y="1438275"/>
            <a:ext cx="54292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STAGE 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005435" y="1433512"/>
            <a:ext cx="122053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Plus Jakarta Sans"/>
              </a:rPr>
              <a:t>Radius ≤ 2.0 km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26024" y="1438275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9F43"/>
                </a:solidFill>
                <a:latin typeface="Plus Jakarta Sans"/>
              </a:rPr>
              <a:t>STAGE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6584" y="1433512"/>
            <a:ext cx="122053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Plus Jakarta Sans"/>
              </a:rPr>
              <a:t>Radius ≤ 5.0 km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47174" y="1438275"/>
            <a:ext cx="561975" cy="1428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5252"/>
                </a:solidFill>
                <a:latin typeface="Plus Jakarta Sans"/>
              </a:rPr>
              <a:t>STAGE 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390584" y="1433512"/>
            <a:ext cx="1277689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94A3B8"/>
                </a:solidFill>
                <a:latin typeface="Plus Jakarta Sans"/>
              </a:rPr>
              <a:t>Radius ≤ 10.0 km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962525" y="3038475"/>
            <a:ext cx="161925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00D2FF"/>
                </a:solidFill>
                <a:latin typeface="Plus Jakarta Sans"/>
              </a:rPr>
              <a:t>40%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62525" y="3409950"/>
            <a:ext cx="16192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CBD5E1"/>
                </a:solidFill>
                <a:latin typeface="Plus Jakarta Sans"/>
              </a:rPr>
              <a:t>Intersection Overlap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62525" y="3552825"/>
            <a:ext cx="161925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60° Pie-wedge Area Ratio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05675" y="3038475"/>
            <a:ext cx="1714500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38EF7D"/>
                </a:solidFill>
                <a:latin typeface="Plus Jakarta Sans"/>
              </a:rPr>
              <a:t>40%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05675" y="3409950"/>
            <a:ext cx="171450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CBD5E1"/>
                </a:solidFill>
                <a:latin typeface="Plus Jakarta Sans"/>
              </a:rPr>
              <a:t>Face-to-Face Alignment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05675" y="3552825"/>
            <a:ext cx="17145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Cos²(d_A) × Cos²(d_B)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755981" y="3038475"/>
            <a:ext cx="1500187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 u="none">
                <a:solidFill>
                  <a:srgbClr val="FF9F43"/>
                </a:solidFill>
                <a:latin typeface="Plus Jakarta Sans"/>
              </a:rPr>
              <a:t>20%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755981" y="3409950"/>
            <a:ext cx="1500187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1" i="0" u="none">
                <a:solidFill>
                  <a:srgbClr val="CBD5E1"/>
                </a:solidFill>
                <a:latin typeface="Plus Jakarta Sans"/>
              </a:rPr>
              <a:t>Distance Score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55981" y="3552825"/>
            <a:ext cx="150018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25" b="0" i="0" u="none">
                <a:solidFill>
                  <a:srgbClr val="64748B"/>
                </a:solidFill>
                <a:latin typeface="Plus Jakarta Sans"/>
              </a:rPr>
              <a:t>Proximity Buffer Scaling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766EB434-5A16-6EFC-E37A-421314779BF1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2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10239375" y="457200"/>
            <a:ext cx="1343025" cy="276225"/>
          </a:xfrm>
          <a:prstGeom prst="roundRect">
            <a:avLst>
              <a:gd name="adj" fmla="val 50000"/>
            </a:avLst>
          </a:prstGeom>
          <a:solidFill>
            <a:srgbClr val="0E253B"/>
          </a:solidFill>
          <a:ln w="9525">
            <a:solidFill>
              <a:srgbClr val="0B4C6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845944" y="2290762"/>
            <a:ext cx="4736455" cy="904875"/>
          </a:xfrm>
          <a:prstGeom prst="roundRect">
            <a:avLst>
              <a:gd name="adj" fmla="val 12631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845944" y="3348037"/>
            <a:ext cx="4736455" cy="904875"/>
          </a:xfrm>
          <a:prstGeom prst="roundRect">
            <a:avLst>
              <a:gd name="adj" fmla="val 12631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845944" y="4405312"/>
            <a:ext cx="4736455" cy="904875"/>
          </a:xfrm>
          <a:prstGeom prst="roundRect">
            <a:avLst>
              <a:gd name="adj" fmla="val 12631"/>
            </a:avLst>
          </a:prstGeom>
          <a:solidFill>
            <a:srgbClr val="0F1528"/>
          </a:solidFill>
          <a:ln w="9525">
            <a:solidFill>
              <a:srgbClr val="22253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94503"/>
            <a:ext cx="5931544" cy="4725322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7869" y="2476500"/>
            <a:ext cx="133350" cy="1333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07869" y="3533775"/>
            <a:ext cx="133350" cy="1333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7869" y="4591050"/>
            <a:ext cx="152400" cy="1333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09600" y="457200"/>
            <a:ext cx="651271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STEP 04 • USER INTERFACE &amp; 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9600" y="638175"/>
            <a:ext cx="6838354" cy="3333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2100" b="1" i="0" u="none">
                <a:solidFill>
                  <a:srgbClr val="FFFFFF"/>
                </a:solidFill>
                <a:latin typeface="Plus Jakarta Sans"/>
              </a:rPr>
              <a:t>Load Balancing Analysis Results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382250" y="523875"/>
            <a:ext cx="13430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00D2FF"/>
                </a:solidFill>
                <a:latin typeface="Plus Jakarta Sans"/>
              </a:rPr>
              <a:t>GUI Execution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07869" y="2690812"/>
            <a:ext cx="450785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Displays all carrier bands in the sector with TA90, PRB Util (%), and Throughput (Mbps) highlighted by load color codes.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07869" y="3748087"/>
            <a:ext cx="450785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Automated diagnostic messages advising whether to adjust MLB parameters or initiate coverage balancing per cell.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07869" y="4805362"/>
            <a:ext cx="4507855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94A3B8"/>
                </a:solidFill>
                <a:latin typeface="Plus Jakarta Sans"/>
              </a:rPr>
              <a:t>Ranked list showing Distance, Beam Intersect (%), F2F Alignment (%), DistScore, Total Score, target PRB, and Throughput.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36469" y="2452687"/>
            <a:ext cx="2475309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1. Cosector Cells Overview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6469" y="3509962"/>
            <a:ext cx="2450306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2. Cosector Load Remarks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55519" y="4567237"/>
            <a:ext cx="2762845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3. Top 5 Inter-Site Candidates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57EA97E2-3865-843E-C9B1-29761C9847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5929" y="1599894"/>
            <a:ext cx="5000577" cy="45543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A9A46D8-5945-3A66-A98A-51B5E987D730}"/>
              </a:ext>
            </a:extLst>
          </p:cNvPr>
          <p:cNvSpPr txBox="1"/>
          <p:nvPr/>
        </p:nvSpPr>
        <p:spPr>
          <a:xfrm>
            <a:off x="270007" y="6511106"/>
            <a:ext cx="2096728" cy="1500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975" b="0" i="0" u="none" dirty="0">
                <a:solidFill>
                  <a:srgbClr val="94A3B8"/>
                </a:solidFill>
                <a:latin typeface="Space Grotesk"/>
              </a:rPr>
              <a:t>Kraken © 2026 |</a:t>
            </a:r>
            <a:r>
              <a:rPr sz="975" b="0" i="0" u="none" dirty="0">
                <a:solidFill>
                  <a:srgbClr val="94A3B8"/>
                </a:solidFill>
                <a:latin typeface="Space Grotesk"/>
              </a:rPr>
              <a:t> akanipatra@gmail.com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555</Words>
  <Application>Microsoft Office PowerPoint</Application>
  <PresentationFormat>Widescreen</PresentationFormat>
  <Paragraphs>86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Plus Jakarta Sans</vt:lpstr>
      <vt:lpstr>Calibri</vt:lpstr>
      <vt:lpstr>Inter</vt:lpstr>
      <vt:lpstr>Space Grotesk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Andi Kanipatra</cp:lastModifiedBy>
  <cp:revision>4</cp:revision>
  <dcterms:created xsi:type="dcterms:W3CDTF">2013-01-27T09:14:16Z</dcterms:created>
  <dcterms:modified xsi:type="dcterms:W3CDTF">2026-10-25T01:51:19Z</dcterms:modified>
  <cp:category/>
</cp:coreProperties>
</file>