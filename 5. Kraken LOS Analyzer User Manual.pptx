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Plus Jakarta Sans"/>
      <p:bold r:id="rId7"/>
    </p:embeddedFont>
    <p:embeddedFont>
      <p:font typeface="Space Grotesk"/>
      <p:bold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0729D37-FF75-A461-5D49-377EA9837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9850" y="2638911"/>
            <a:ext cx="935950" cy="93595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9906D286-3165-2950-F01D-8C63EA328D14}"/>
              </a:ext>
            </a:extLst>
          </p:cNvPr>
          <p:cNvSpPr/>
          <p:nvPr/>
        </p:nvSpPr>
        <p:spPr>
          <a:xfrm>
            <a:off x="609600" y="4090987"/>
            <a:ext cx="7620000" cy="8096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907D06C-F39E-D151-DF21-DAEDACC706F9}"/>
              </a:ext>
            </a:extLst>
          </p:cNvPr>
          <p:cNvSpPr/>
          <p:nvPr/>
        </p:nvSpPr>
        <p:spPr>
          <a:xfrm>
            <a:off x="609600" y="4090987"/>
            <a:ext cx="7620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2322F33-88BF-F3AE-EB9C-DE09E17F1950}"/>
              </a:ext>
            </a:extLst>
          </p:cNvPr>
          <p:cNvSpPr/>
          <p:nvPr/>
        </p:nvSpPr>
        <p:spPr>
          <a:xfrm>
            <a:off x="2667000" y="4405312"/>
            <a:ext cx="9525" cy="495300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C7A51CF-A760-90B2-02D0-20ED98EDD84B}"/>
              </a:ext>
            </a:extLst>
          </p:cNvPr>
          <p:cNvSpPr/>
          <p:nvPr/>
        </p:nvSpPr>
        <p:spPr>
          <a:xfrm>
            <a:off x="5276850" y="4405312"/>
            <a:ext cx="9525" cy="495300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4C8038C-4A2D-AB84-5D69-AC74694ED45C}"/>
              </a:ext>
            </a:extLst>
          </p:cNvPr>
          <p:cNvSpPr txBox="1"/>
          <p:nvPr/>
        </p:nvSpPr>
        <p:spPr>
          <a:xfrm>
            <a:off x="609600" y="1957387"/>
            <a:ext cx="9525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Space Grotesk"/>
              </a:rPr>
              <a:t>KRAKEN QGIS PLUGIN • USER MANUAL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1C6B21-78CE-A9DA-42D9-EA0150684F26}"/>
              </a:ext>
            </a:extLst>
          </p:cNvPr>
          <p:cNvSpPr txBox="1"/>
          <p:nvPr/>
        </p:nvSpPr>
        <p:spPr>
          <a:xfrm>
            <a:off x="609600" y="2243137"/>
            <a:ext cx="6957546" cy="64338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800" b="1" i="0" u="none" dirty="0">
                <a:solidFill>
                  <a:srgbClr val="FFFFFF"/>
                </a:solidFill>
                <a:latin typeface="Space Grotesk"/>
              </a:rPr>
              <a:t>Line of Sight (LOS) Analyzer</a:t>
            </a:r>
            <a:endParaRPr sz="4500" b="1" i="0" u="none" dirty="0">
              <a:solidFill>
                <a:srgbClr val="FFFFFF"/>
              </a:solidFill>
              <a:latin typeface="Space Grotesk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A9A934-4AAC-0274-620B-4896C047BC4F}"/>
              </a:ext>
            </a:extLst>
          </p:cNvPr>
          <p:cNvSpPr txBox="1"/>
          <p:nvPr/>
        </p:nvSpPr>
        <p:spPr>
          <a:xfrm>
            <a:off x="609599" y="3100387"/>
            <a:ext cx="7619999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500" b="0" i="0" u="none" dirty="0">
                <a:solidFill>
                  <a:srgbClr val="94A3B8"/>
                </a:solidFill>
                <a:latin typeface="Inter"/>
              </a:rPr>
              <a:t>Interactive GIS clearance tool for evaluating signal propagation paths, terrain DEM profiles, building obstacles, and 3dB vertical beam tilt cones.</a:t>
            </a:r>
            <a:endParaRPr sz="1500" b="0" i="0" u="none" dirty="0">
              <a:solidFill>
                <a:srgbClr val="9CA3AF"/>
              </a:solidFill>
              <a:latin typeface="Inter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B9D43A2-357D-CB41-9D5B-8274EA5D1AC1}"/>
              </a:ext>
            </a:extLst>
          </p:cNvPr>
          <p:cNvSpPr txBox="1"/>
          <p:nvPr/>
        </p:nvSpPr>
        <p:spPr>
          <a:xfrm>
            <a:off x="609600" y="4405312"/>
            <a:ext cx="1581843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800" b="1" i="0" u="none" dirty="0">
                <a:solidFill>
                  <a:srgbClr val="38BDF8"/>
                </a:solidFill>
                <a:latin typeface="Space Grotesk"/>
              </a:rPr>
              <a:t>Elevation Source</a:t>
            </a:r>
            <a:endParaRPr sz="1800" b="1" i="0" u="none" dirty="0">
              <a:solidFill>
                <a:srgbClr val="38BDF8"/>
              </a:solidFill>
              <a:latin typeface="Space Grotesk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910F4F-14FF-B278-80C5-13524D913973}"/>
              </a:ext>
            </a:extLst>
          </p:cNvPr>
          <p:cNvSpPr txBox="1"/>
          <p:nvPr/>
        </p:nvSpPr>
        <p:spPr>
          <a:xfrm>
            <a:off x="609600" y="4738687"/>
            <a:ext cx="1606209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050" b="0" i="0" u="none" dirty="0">
                <a:solidFill>
                  <a:srgbClr val="6B7280"/>
                </a:solidFill>
                <a:latin typeface="Inter"/>
              </a:rPr>
              <a:t>Terrain DEM + OSM Buildings</a:t>
            </a:r>
            <a:endParaRPr sz="1050" b="0" i="0" u="none" dirty="0">
              <a:solidFill>
                <a:srgbClr val="6B7280"/>
              </a:solidFill>
              <a:latin typeface="Inter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BBD5F53-D40E-BB8E-947C-C7D21AD40121}"/>
              </a:ext>
            </a:extLst>
          </p:cNvPr>
          <p:cNvSpPr txBox="1"/>
          <p:nvPr/>
        </p:nvSpPr>
        <p:spPr>
          <a:xfrm>
            <a:off x="2981325" y="4405312"/>
            <a:ext cx="1667251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800" b="1" i="0" u="none" dirty="0">
                <a:solidFill>
                  <a:srgbClr val="38BDF8"/>
                </a:solidFill>
                <a:latin typeface="Space Grotesk"/>
              </a:rPr>
              <a:t>RF Beam Analysis</a:t>
            </a:r>
            <a:endParaRPr sz="1800" b="1" i="0" u="none" dirty="0">
              <a:solidFill>
                <a:srgbClr val="38BDF8"/>
              </a:solidFill>
              <a:latin typeface="Space Grotesk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1D19A08-854B-02F5-30E2-74FD9B0B19BD}"/>
              </a:ext>
            </a:extLst>
          </p:cNvPr>
          <p:cNvSpPr txBox="1"/>
          <p:nvPr/>
        </p:nvSpPr>
        <p:spPr>
          <a:xfrm>
            <a:off x="2981325" y="4738687"/>
            <a:ext cx="1788951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050" b="0" i="0" u="none" dirty="0">
                <a:solidFill>
                  <a:srgbClr val="6B7280"/>
                </a:solidFill>
                <a:latin typeface="Inter"/>
              </a:rPr>
              <a:t>Mechanical &amp; Electrical Tilt Cone</a:t>
            </a:r>
            <a:endParaRPr sz="1050" b="0" i="0" u="none" dirty="0">
              <a:solidFill>
                <a:srgbClr val="6B7280"/>
              </a:solidFill>
              <a:latin typeface="Inter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E320E9-C7FA-8B7A-EC7B-6B09795B8452}"/>
              </a:ext>
            </a:extLst>
          </p:cNvPr>
          <p:cNvSpPr txBox="1"/>
          <p:nvPr/>
        </p:nvSpPr>
        <p:spPr>
          <a:xfrm>
            <a:off x="5591175" y="4405312"/>
            <a:ext cx="1810624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800" b="1" i="0" u="none" dirty="0">
                <a:solidFill>
                  <a:srgbClr val="38BDF8"/>
                </a:solidFill>
                <a:latin typeface="Space Grotesk"/>
              </a:rPr>
              <a:t>Obstacle Detection</a:t>
            </a:r>
            <a:endParaRPr sz="1800" b="1" i="0" u="none" dirty="0">
              <a:solidFill>
                <a:srgbClr val="38BDF8"/>
              </a:solidFill>
              <a:latin typeface="Space Grotesk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59198FD-FC11-BE50-313F-43D14C3EDDB4}"/>
              </a:ext>
            </a:extLst>
          </p:cNvPr>
          <p:cNvSpPr txBox="1"/>
          <p:nvPr/>
        </p:nvSpPr>
        <p:spPr>
          <a:xfrm>
            <a:off x="5591175" y="4738687"/>
            <a:ext cx="1463542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050" b="0" i="0" u="none" dirty="0">
                <a:solidFill>
                  <a:srgbClr val="6B7280"/>
                </a:solidFill>
                <a:latin typeface="Inter"/>
              </a:rPr>
              <a:t>Auto Obstacle Coordinates</a:t>
            </a:r>
            <a:endParaRPr sz="1050" b="0" i="0" u="none" dirty="0">
              <a:solidFill>
                <a:srgbClr val="6B7280"/>
              </a:solidFill>
              <a:latin typeface="Inte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E6E06A-0347-82E2-CC56-4F04C0E3F698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19125" y="466725"/>
            <a:ext cx="2266950" cy="295275"/>
          </a:xfrm>
          <a:prstGeom prst="roundRect">
            <a:avLst>
              <a:gd name="adj" fmla="val 50000"/>
            </a:avLst>
          </a:prstGeom>
          <a:solidFill>
            <a:srgbClr val="0A1E32"/>
          </a:solidFill>
          <a:ln w="9525">
            <a:solidFill>
              <a:srgbClr val="0B3C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62425" y="2297608"/>
            <a:ext cx="7410450" cy="1655266"/>
          </a:xfrm>
          <a:prstGeom prst="roundRect">
            <a:avLst>
              <a:gd name="adj" fmla="val 6905"/>
            </a:avLst>
          </a:prstGeom>
          <a:solidFill>
            <a:srgbClr val="0D1425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162425" y="4105275"/>
            <a:ext cx="7410450" cy="1655266"/>
          </a:xfrm>
          <a:prstGeom prst="roundRect">
            <a:avLst>
              <a:gd name="adj" fmla="val 6905"/>
            </a:avLst>
          </a:prstGeom>
          <a:solidFill>
            <a:srgbClr val="0D1425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1838325"/>
            <a:ext cx="3238500" cy="4381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552450"/>
            <a:ext cx="128587" cy="1238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0550" y="2559546"/>
            <a:ext cx="19050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0550" y="4367212"/>
            <a:ext cx="13335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00550" y="2892921"/>
            <a:ext cx="104775" cy="1238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00550" y="3174801"/>
            <a:ext cx="104775" cy="1238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00550" y="3456682"/>
            <a:ext cx="104775" cy="1238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00550" y="4700587"/>
            <a:ext cx="104775" cy="1238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00550" y="4982467"/>
            <a:ext cx="104775" cy="1238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00550" y="5264348"/>
            <a:ext cx="104775" cy="1238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57262" y="523875"/>
            <a:ext cx="1890712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Space Grotesk"/>
              </a:rPr>
              <a:t>STEP 01 • PARAMETER SETUP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125" y="876300"/>
            <a:ext cx="7175896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Space Grotesk"/>
              </a:rPr>
              <a:t>Configure Cell &amp; Receiver Parameters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125" y="1295400"/>
            <a:ext cx="683418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94A3B8"/>
                </a:solidFill>
                <a:latin typeface="Plus Jakarta Sans"/>
              </a:rPr>
              <a:t>Map layer fields or assign manual RF values for accurate clearance computation.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6300" y="2535733"/>
            <a:ext cx="7505700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Plus Jakarta Sans"/>
              </a:rPr>
              <a:t>Cell Antenna Mapping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9150" y="4343400"/>
            <a:ext cx="7562850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Plus Jakarta Sans"/>
              </a:rPr>
              <a:t>Target Receiver (UE) Settings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00575" y="2869108"/>
            <a:ext cx="7591425" cy="1866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Field Mapping: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Map layer columns for Antenna Height, RS Power, Gain, H/V Beam Width, and Tilts.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00575" y="3150989"/>
            <a:ext cx="7591425" cy="1866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Tilt Combination: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Automatically sums Mechanical Tilt (M-Tilt) and Electrical Tilt (E-Tilt) for total inclination.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00575" y="3432869"/>
            <a:ext cx="7591425" cy="1866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Manual Fallback: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Input fixed spinbox values when layer attribute fields are missing.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00575" y="4676775"/>
            <a:ext cx="7591425" cy="1866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User Height: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Define UE receiver height above ground (default: 1.5m).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00575" y="4958655"/>
            <a:ext cx="7591425" cy="1866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Penetration Loss: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Set outdoor-to-indoor attenuation factor (dB).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0575" y="5240535"/>
            <a:ext cx="7591425" cy="1866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Persistent Memory: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Click </a:t>
            </a:r>
            <a:r>
              <a:rPr sz="1050" b="1" i="0" u="none">
                <a:solidFill>
                  <a:srgbClr val="CBD5E1"/>
                </a:solidFill>
                <a:latin typeface="Plus Jakarta Sans"/>
              </a:rPr>
              <a:t>"Save Mapping"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to store defaults permanently in QGIS settings.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A18E337-29FC-E17E-4DE0-0AB1CA5B426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6306" y="1956679"/>
            <a:ext cx="3069113" cy="40489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A966DE0-13A7-9AA5-DC30-24B1C95B763A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19125" y="1704975"/>
            <a:ext cx="3498800" cy="4686300"/>
          </a:xfrm>
          <a:prstGeom prst="roundRect">
            <a:avLst>
              <a:gd name="adj" fmla="val 3266"/>
            </a:avLst>
          </a:prstGeom>
          <a:solidFill>
            <a:srgbClr val="0D1425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46525" y="1704975"/>
            <a:ext cx="3498800" cy="4686300"/>
          </a:xfrm>
          <a:prstGeom prst="roundRect">
            <a:avLst>
              <a:gd name="adj" fmla="val 3266"/>
            </a:avLst>
          </a:prstGeom>
          <a:solidFill>
            <a:srgbClr val="0D1425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73925" y="1704975"/>
            <a:ext cx="3498800" cy="4686300"/>
          </a:xfrm>
          <a:prstGeom prst="roundRect">
            <a:avLst>
              <a:gd name="adj" fmla="val 3266"/>
            </a:avLst>
          </a:prstGeom>
          <a:solidFill>
            <a:srgbClr val="0D1425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9125" y="466725"/>
            <a:ext cx="2219325" cy="295275"/>
          </a:xfrm>
          <a:prstGeom prst="roundRect">
            <a:avLst>
              <a:gd name="adj" fmla="val 50000"/>
            </a:avLst>
          </a:prstGeom>
          <a:solidFill>
            <a:srgbClr val="0A1E32"/>
          </a:solidFill>
          <a:ln w="9525">
            <a:solidFill>
              <a:srgbClr val="0B3C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57250" y="5467350"/>
            <a:ext cx="3022550" cy="571500"/>
          </a:xfrm>
          <a:prstGeom prst="rect">
            <a:avLst/>
          </a:prstGeom>
          <a:solidFill>
            <a:srgbClr val="0C1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84650" y="5467350"/>
            <a:ext cx="3022550" cy="571500"/>
          </a:xfrm>
          <a:prstGeom prst="rect">
            <a:avLst/>
          </a:prstGeom>
          <a:solidFill>
            <a:srgbClr val="0C1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312050" y="5467350"/>
            <a:ext cx="3022550" cy="571500"/>
          </a:xfrm>
          <a:prstGeom prst="rect">
            <a:avLst/>
          </a:prstGeom>
          <a:solidFill>
            <a:srgbClr val="0C1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57250" y="5467350"/>
            <a:ext cx="28575" cy="5715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84650" y="5467350"/>
            <a:ext cx="28575" cy="5715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312050" y="5467350"/>
            <a:ext cx="28575" cy="5715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52450"/>
            <a:ext cx="109537" cy="1238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2519362"/>
            <a:ext cx="133350" cy="1714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4650" y="2519362"/>
            <a:ext cx="171450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2050" y="2519362"/>
            <a:ext cx="171450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3605212"/>
            <a:ext cx="76200" cy="1238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3887092"/>
            <a:ext cx="76200" cy="1238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4650" y="3405187"/>
            <a:ext cx="76200" cy="1238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4650" y="3687067"/>
            <a:ext cx="76200" cy="1238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2050" y="3405187"/>
            <a:ext cx="76200" cy="1238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2050" y="3687067"/>
            <a:ext cx="76200" cy="12382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38212" y="523875"/>
            <a:ext cx="1862137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Space Grotesk"/>
              </a:rPr>
              <a:t>STEP 02 • MAP INTERACTION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125" y="876300"/>
            <a:ext cx="648831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Space Grotesk"/>
              </a:rPr>
              <a:t>Interactive 2-Point Ray Selection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125" y="1295400"/>
            <a:ext cx="617934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94A3B8"/>
                </a:solidFill>
                <a:latin typeface="Plus Jakarta Sans"/>
              </a:rPr>
              <a:t>Simple map canvas selection to trace line-of-sight signal paths instantly.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7250" y="1943100"/>
            <a:ext cx="3778187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284C7"/>
                </a:solidFill>
                <a:latin typeface="Space Grotesk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5850" y="2495550"/>
            <a:ext cx="3549587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Plus Jakarta Sans"/>
              </a:rPr>
              <a:t>Select Cell Site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7250" y="2828925"/>
            <a:ext cx="31178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Plus Jakarta Sans"/>
              </a:rPr>
              <a:t>Hover and click near any sector wedge on the map canvas. Cursor mode starts as </a:t>
            </a:r>
            <a:r>
              <a:rPr sz="1050" b="1" i="0" u="none">
                <a:solidFill>
                  <a:srgbClr val="94A3B8"/>
                </a:solidFill>
                <a:latin typeface="Plus Jakarta Sans"/>
              </a:rPr>
              <a:t>Pointing Hand</a:t>
            </a:r>
            <a:r>
              <a:rPr sz="1050" b="0" i="0" u="none">
                <a:solidFill>
                  <a:srgbClr val="94A3B8"/>
                </a:solidFill>
                <a:latin typeface="Plus Jakarta Sans"/>
              </a:rPr>
              <a:t>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8225" y="5581650"/>
            <a:ext cx="3361469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CURSOR FEEDBACK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8225" y="5743575"/>
            <a:ext cx="3361469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E2E8F0"/>
                </a:solidFill>
                <a:latin typeface="Plus Jakarta Sans"/>
              </a:rPr>
              <a:t>Hand Cursor → Target Mode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84650" y="1943100"/>
            <a:ext cx="3778187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284C7"/>
                </a:solidFill>
                <a:latin typeface="Space Grotesk"/>
              </a:rP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51350" y="2495550"/>
            <a:ext cx="3511487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Plus Jakarta Sans"/>
              </a:rPr>
              <a:t>Drop UE Target Point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84650" y="2828925"/>
            <a:ext cx="31178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Plus Jakarta Sans"/>
              </a:rPr>
              <a:t>Click target point on map using </a:t>
            </a:r>
            <a:r>
              <a:rPr sz="1050" b="1" i="0" u="none">
                <a:solidFill>
                  <a:srgbClr val="94A3B8"/>
                </a:solidFill>
                <a:latin typeface="Plus Jakarta Sans"/>
              </a:rPr>
              <a:t>Crosshair Cursor</a:t>
            </a:r>
            <a:r>
              <a:rPr sz="1050" b="0" i="0" u="none">
                <a:solidFill>
                  <a:srgbClr val="94A3B8"/>
                </a:solidFill>
                <a:latin typeface="Plus Jakarta Sans"/>
              </a:rPr>
              <a:t>. Draws red vector line and places UE marker.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65625" y="5581650"/>
            <a:ext cx="3361469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CANVAS 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65625" y="5743575"/>
            <a:ext cx="3361469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E2E8F0"/>
                </a:solidFill>
                <a:latin typeface="Plus Jakarta Sans"/>
              </a:rPr>
              <a:t>Geodesic Sampling (10m step)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12050" y="1943100"/>
            <a:ext cx="3778187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284C7"/>
                </a:solidFill>
                <a:latin typeface="Space Grotesk"/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78750" y="2495550"/>
            <a:ext cx="3511487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Plus Jakarta Sans"/>
              </a:rPr>
              <a:t>Cancel / Reset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12050" y="2828925"/>
            <a:ext cx="31178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Plus Jakarta Sans"/>
              </a:rPr>
              <a:t>Right-click anywhere on canvas to cancel current selection and re-select Cell site.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93025" y="5581650"/>
            <a:ext cx="3361469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SHORTCUT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93025" y="5743575"/>
            <a:ext cx="3361469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E2E8F0"/>
                </a:solidFill>
                <a:latin typeface="Plus Jakarta Sans"/>
              </a:rPr>
              <a:t>Right-Click to Abort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8700" y="3581400"/>
            <a:ext cx="3606737" cy="1866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Auto-identifies closest cell feature.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8700" y="3863280"/>
            <a:ext cx="294635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Auto-populates RF dialog from feature attributes.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6100" y="3381375"/>
            <a:ext cx="3606737" cy="1866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Red rubber band line highlights direct path.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6100" y="3663255"/>
            <a:ext cx="3606737" cy="1866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Red 'X' marker highlights target UE position.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83500" y="3381375"/>
            <a:ext cx="3606737" cy="1866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Clears active lines and UE markers.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83500" y="3663255"/>
            <a:ext cx="3606737" cy="1866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Restores default selection state immediately.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62D0827-ACE0-90CF-5E5C-BA30725577C5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19125" y="466725"/>
            <a:ext cx="2314575" cy="295275"/>
          </a:xfrm>
          <a:prstGeom prst="roundRect">
            <a:avLst>
              <a:gd name="adj" fmla="val 50000"/>
            </a:avLst>
          </a:prstGeom>
          <a:solidFill>
            <a:srgbClr val="0A1E32"/>
          </a:solidFill>
          <a:ln w="9525">
            <a:solidFill>
              <a:srgbClr val="0B3C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29425" y="2643187"/>
            <a:ext cx="4743450" cy="847725"/>
          </a:xfrm>
          <a:prstGeom prst="roundRect">
            <a:avLst>
              <a:gd name="adj" fmla="val 13483"/>
            </a:avLst>
          </a:prstGeom>
          <a:solidFill>
            <a:srgbClr val="0D1425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29425" y="3605212"/>
            <a:ext cx="4743450" cy="847725"/>
          </a:xfrm>
          <a:prstGeom prst="roundRect">
            <a:avLst>
              <a:gd name="adj" fmla="val 13483"/>
            </a:avLst>
          </a:prstGeom>
          <a:solidFill>
            <a:srgbClr val="0D1425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29425" y="4567237"/>
            <a:ext cx="4743450" cy="847725"/>
          </a:xfrm>
          <a:prstGeom prst="roundRect">
            <a:avLst>
              <a:gd name="adj" fmla="val 13483"/>
            </a:avLst>
          </a:prstGeom>
          <a:solidFill>
            <a:srgbClr val="0D1425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991350" y="283845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991350" y="3800475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991350" y="47625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2219325"/>
            <a:ext cx="5905500" cy="3619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552450"/>
            <a:ext cx="128587" cy="1238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57262" y="523875"/>
            <a:ext cx="1938337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Space Grotesk"/>
              </a:rPr>
              <a:t>STEP 03 • PROFILE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125" y="876300"/>
            <a:ext cx="8026003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Space Grotesk"/>
              </a:rPr>
              <a:t>Elevation Profile &amp; Obstacle Inspection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125" y="1295400"/>
            <a:ext cx="764381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94A3B8"/>
                </a:solidFill>
                <a:latin typeface="Plus Jakarta Sans"/>
              </a:rPr>
              <a:t>Comprehensive profile plot integrating terrain, structures, and antenna radiation patterns.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1350" y="3024187"/>
            <a:ext cx="45148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Plus Jakarta Sans"/>
              </a:rPr>
              <a:t>Green dashed ray indicates </a:t>
            </a:r>
            <a:r>
              <a:rPr sz="975" b="1" i="0" u="none">
                <a:solidFill>
                  <a:srgbClr val="94A3B8"/>
                </a:solidFill>
                <a:latin typeface="Plus Jakarta Sans"/>
              </a:rPr>
              <a:t>LOS CLEAR</a:t>
            </a:r>
            <a:r>
              <a:rPr sz="975" b="0" i="0" u="none">
                <a:solidFill>
                  <a:srgbClr val="94A3B8"/>
                </a:solidFill>
                <a:latin typeface="Plus Jakarta Sans"/>
              </a:rPr>
              <a:t>. Red ray indicates </a:t>
            </a:r>
            <a:r>
              <a:rPr sz="975" b="1" i="0" u="none">
                <a:solidFill>
                  <a:srgbClr val="94A3B8"/>
                </a:solidFill>
                <a:latin typeface="Plus Jakarta Sans"/>
              </a:rPr>
              <a:t>LOS BLOCKED</a:t>
            </a:r>
            <a:r>
              <a:rPr sz="975" b="0" i="0" u="none">
                <a:solidFill>
                  <a:srgbClr val="94A3B8"/>
                </a:solidFill>
                <a:latin typeface="Plus Jakarta Sans"/>
              </a:rPr>
              <a:t> by terrain/building intersections.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1350" y="3986212"/>
            <a:ext cx="45148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Plus Jakarta Sans"/>
              </a:rPr>
              <a:t>Grey bars display structural height fetched live from OpenStreetMap Overpass API.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1350" y="4948237"/>
            <a:ext cx="45148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Plus Jakarta Sans"/>
              </a:rPr>
              <a:t>Amber shaded cone visualizes vertical 3dB beam coverage based on total tilt angle.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900" y="2805112"/>
            <a:ext cx="13620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Plus Jakarta Sans"/>
              </a:rPr>
              <a:t>LOS Ray 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900" y="3767137"/>
            <a:ext cx="165496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Plus Jakarta Sans"/>
              </a:rPr>
              <a:t>Building Obstacles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0900" y="4729162"/>
            <a:ext cx="20955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Plus Jakarta Sans"/>
              </a:rPr>
              <a:t>3dB Vertical Beam Cone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D4D736F-EF86-63B9-3FBC-E2B493BACB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235" y="2523629"/>
            <a:ext cx="5745726" cy="300846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E0BE5D6-81A7-BBDC-16AE-A38EE1BF132F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19125" y="1704975"/>
            <a:ext cx="3498800" cy="4686300"/>
          </a:xfrm>
          <a:prstGeom prst="roundRect">
            <a:avLst>
              <a:gd name="adj" fmla="val 3266"/>
            </a:avLst>
          </a:prstGeom>
          <a:solidFill>
            <a:srgbClr val="0D1425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46525" y="1704975"/>
            <a:ext cx="3498800" cy="4686300"/>
          </a:xfrm>
          <a:prstGeom prst="roundRect">
            <a:avLst>
              <a:gd name="adj" fmla="val 3266"/>
            </a:avLst>
          </a:prstGeom>
          <a:solidFill>
            <a:srgbClr val="0D1425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73925" y="1704975"/>
            <a:ext cx="3498800" cy="4686300"/>
          </a:xfrm>
          <a:prstGeom prst="roundRect">
            <a:avLst>
              <a:gd name="adj" fmla="val 3266"/>
            </a:avLst>
          </a:prstGeom>
          <a:solidFill>
            <a:srgbClr val="0D1425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9125" y="466725"/>
            <a:ext cx="2843212" cy="295275"/>
          </a:xfrm>
          <a:prstGeom prst="roundRect">
            <a:avLst>
              <a:gd name="adj" fmla="val 50000"/>
            </a:avLst>
          </a:prstGeom>
          <a:solidFill>
            <a:srgbClr val="0A1E32"/>
          </a:solidFill>
          <a:ln w="9525">
            <a:solidFill>
              <a:srgbClr val="0B3C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57250" y="5581650"/>
            <a:ext cx="3022550" cy="571500"/>
          </a:xfrm>
          <a:prstGeom prst="rect">
            <a:avLst/>
          </a:prstGeom>
          <a:solidFill>
            <a:srgbClr val="0C1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84650" y="5581650"/>
            <a:ext cx="3022550" cy="571500"/>
          </a:xfrm>
          <a:prstGeom prst="rect">
            <a:avLst/>
          </a:prstGeom>
          <a:solidFill>
            <a:srgbClr val="0C1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312050" y="5581650"/>
            <a:ext cx="3022550" cy="571500"/>
          </a:xfrm>
          <a:prstGeom prst="rect">
            <a:avLst/>
          </a:prstGeom>
          <a:solidFill>
            <a:srgbClr val="0C1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57250" y="5581650"/>
            <a:ext cx="28575" cy="5715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84650" y="5581650"/>
            <a:ext cx="28575" cy="5715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312050" y="5581650"/>
            <a:ext cx="28575" cy="5715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52450"/>
            <a:ext cx="128587" cy="1238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966912"/>
            <a:ext cx="190500" cy="1714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4650" y="1966912"/>
            <a:ext cx="219075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2050" y="1966912"/>
            <a:ext cx="133350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2557462"/>
            <a:ext cx="104775" cy="1238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3025973"/>
            <a:ext cx="104775" cy="1238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3494484"/>
            <a:ext cx="104775" cy="1238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4650" y="2557462"/>
            <a:ext cx="104775" cy="1238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4650" y="3025973"/>
            <a:ext cx="104775" cy="1238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4650" y="3494484"/>
            <a:ext cx="104775" cy="1238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2050" y="2557462"/>
            <a:ext cx="104775" cy="1238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2050" y="3025973"/>
            <a:ext cx="104775" cy="1238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2050" y="3494484"/>
            <a:ext cx="104775" cy="12382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57262" y="523875"/>
            <a:ext cx="2466975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Space Grotesk"/>
              </a:rPr>
              <a:t>REFERENCE • BACKEND ARCHITECTURE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125" y="876300"/>
            <a:ext cx="8026003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Space Grotesk"/>
              </a:rPr>
              <a:t>Elevation &amp; Building Data 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125" y="1295400"/>
            <a:ext cx="764381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94A3B8"/>
                </a:solidFill>
                <a:latin typeface="Plus Jakarta Sans"/>
              </a:rPr>
              <a:t>Multi-tier failover mechanism ensures robust performance even without local raster DEMs.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1943100"/>
            <a:ext cx="3492437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Plus Jakarta Sans"/>
              </a:rPr>
              <a:t>Local Raster DEM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7250" y="2276475"/>
            <a:ext cx="37781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Plus Jakarta Sans"/>
              </a:rPr>
              <a:t>PRIMARY TERRAIN PROVIDER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8975" y="1943100"/>
            <a:ext cx="3463862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Plus Jakarta Sans"/>
              </a:rPr>
              <a:t>OpenTopoData 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84650" y="2276475"/>
            <a:ext cx="37781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Plus Jakarta Sans"/>
              </a:rPr>
              <a:t>FALLBACK TERRAIN PROVIDER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0650" y="1943100"/>
            <a:ext cx="3549587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Plus Jakarta Sans"/>
              </a:rPr>
              <a:t>OSM Overpass API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12050" y="2276475"/>
            <a:ext cx="37781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Plus Jakarta Sans"/>
              </a:rPr>
              <a:t>BUILDING HEIGHT ENGINE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7275" y="2533650"/>
            <a:ext cx="2917775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Auto-detects DEM layers in active QGIS project.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7275" y="3002160"/>
            <a:ext cx="2917775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Supports local DEM, SRTM, and DEMNAS raster formats.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7275" y="3470671"/>
            <a:ext cx="3578162" cy="1866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High performance local elevation sampling.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8225" y="5695950"/>
            <a:ext cx="3361469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LATENCY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8225" y="5857875"/>
            <a:ext cx="3361469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E2E8F0"/>
                </a:solidFill>
                <a:latin typeface="Plus Jakarta Sans"/>
              </a:rPr>
              <a:t>&lt; 100ms (Offline)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84675" y="2533650"/>
            <a:ext cx="2917775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Automatic online API fallback if local DEM is missing.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84675" y="3002160"/>
            <a:ext cx="2917775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Uses Mapzen elevation dataset in 90-point chunk batches.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84675" y="3470671"/>
            <a:ext cx="3578162" cy="1866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Built-in HTTP rate-limit handling &amp; failover.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65625" y="5695950"/>
            <a:ext cx="3361469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COVERAGE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65625" y="5857875"/>
            <a:ext cx="3361469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E2E8F0"/>
                </a:solidFill>
                <a:latin typeface="Plus Jakarta Sans"/>
              </a:rPr>
              <a:t>Global Mapzen Dataset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12075" y="2533650"/>
            <a:ext cx="2917775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Queries OSM ways and relations for building polygons.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12075" y="3002160"/>
            <a:ext cx="2917775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Multi-endpoint failover (France, Germany, Kumi).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12075" y="3470671"/>
            <a:ext cx="2917775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Parses exact building heights or level counts (* 3.5m).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93025" y="5695950"/>
            <a:ext cx="3361469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ENDPOINTS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93025" y="5857875"/>
            <a:ext cx="3361469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E2E8F0"/>
                </a:solidFill>
                <a:latin typeface="Plus Jakarta Sans"/>
              </a:rPr>
              <a:t>3 Server Failover Cluster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2CAB45B-4742-758E-E49B-B4D6CEEA1D48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584</Words>
  <Application>Microsoft Office PowerPoint</Application>
  <PresentationFormat>Widescreen</PresentationFormat>
  <Paragraphs>82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Plus Jakarta Sans</vt:lpstr>
      <vt:lpstr>Calibri</vt:lpstr>
      <vt:lpstr>Inter</vt:lpstr>
      <vt:lpstr>Space Grotesk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Andi Kanipatra</cp:lastModifiedBy>
  <cp:revision>5</cp:revision>
  <dcterms:created xsi:type="dcterms:W3CDTF">2013-01-27T09:14:16Z</dcterms:created>
  <dcterms:modified xsi:type="dcterms:W3CDTF">2026-10-25T01:51:33Z</dcterms:modified>
  <cp:category/>
</cp:coreProperties>
</file>