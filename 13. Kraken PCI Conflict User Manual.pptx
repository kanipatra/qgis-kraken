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/>
      <p:bold r:id="rId7"/>
    </p:embeddedFont>
    <p:embeddedFont>
      <p:font typeface="Orbitron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9765F42-86F5-CFFA-DECA-4022A3D59AF1}"/>
              </a:ext>
            </a:extLst>
          </p:cNvPr>
          <p:cNvSpPr/>
          <p:nvPr/>
        </p:nvSpPr>
        <p:spPr>
          <a:xfrm>
            <a:off x="609600" y="4090987"/>
            <a:ext cx="76200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52818C-C6D2-81EE-661F-826A4B7C7929}"/>
              </a:ext>
            </a:extLst>
          </p:cNvPr>
          <p:cNvSpPr/>
          <p:nvPr/>
        </p:nvSpPr>
        <p:spPr>
          <a:xfrm>
            <a:off x="609600" y="4090987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3DCA6F-7D9B-DD4A-365A-C6964BB3695A}"/>
              </a:ext>
            </a:extLst>
          </p:cNvPr>
          <p:cNvSpPr/>
          <p:nvPr/>
        </p:nvSpPr>
        <p:spPr>
          <a:xfrm>
            <a:off x="266700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CEDDC8-BF51-B770-0361-3A451AC5DB3C}"/>
              </a:ext>
            </a:extLst>
          </p:cNvPr>
          <p:cNvSpPr/>
          <p:nvPr/>
        </p:nvSpPr>
        <p:spPr>
          <a:xfrm>
            <a:off x="527685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03B8D0-3E53-DE3A-F258-9CF0595D7F2B}"/>
              </a:ext>
            </a:extLst>
          </p:cNvPr>
          <p:cNvSpPr txBox="1"/>
          <p:nvPr/>
        </p:nvSpPr>
        <p:spPr>
          <a:xfrm>
            <a:off x="609600" y="1957387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14E0D4-E46A-B655-6F24-0E6F40D7A994}"/>
              </a:ext>
            </a:extLst>
          </p:cNvPr>
          <p:cNvSpPr txBox="1"/>
          <p:nvPr/>
        </p:nvSpPr>
        <p:spPr>
          <a:xfrm>
            <a:off x="609600" y="2243137"/>
            <a:ext cx="5075748" cy="6433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800" b="1" i="0" u="none" dirty="0">
                <a:solidFill>
                  <a:srgbClr val="FFFFFF"/>
                </a:solidFill>
                <a:latin typeface="Space Grotesk"/>
              </a:rPr>
              <a:t>PCI Conflict Checker</a:t>
            </a:r>
            <a:endParaRPr sz="45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1DF200-2D05-1FFC-375C-5A6332DB66F5}"/>
              </a:ext>
            </a:extLst>
          </p:cNvPr>
          <p:cNvSpPr txBox="1"/>
          <p:nvPr/>
        </p:nvSpPr>
        <p:spPr>
          <a:xfrm>
            <a:off x="609599" y="3100387"/>
            <a:ext cx="7619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Automated spatial overlapping sector detection for identical Physical Cell IDs (PCI) and Modulo collisions across RAN network layers.</a:t>
            </a:r>
            <a:endParaRPr sz="1500" b="0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796204-4377-4A59-C58B-C47C5DEB4C68}"/>
              </a:ext>
            </a:extLst>
          </p:cNvPr>
          <p:cNvSpPr txBox="1"/>
          <p:nvPr/>
        </p:nvSpPr>
        <p:spPr>
          <a:xfrm>
            <a:off x="609600" y="4405312"/>
            <a:ext cx="128650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Analysis Type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70FAF5-9852-ECA3-69CC-02CA829FBC5A}"/>
              </a:ext>
            </a:extLst>
          </p:cNvPr>
          <p:cNvSpPr txBox="1"/>
          <p:nvPr/>
        </p:nvSpPr>
        <p:spPr>
          <a:xfrm>
            <a:off x="609600" y="4738687"/>
            <a:ext cx="11637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PCI &amp; Modulo 3/6/30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D702E3-A123-8F35-C53B-8E6E21D85271}"/>
              </a:ext>
            </a:extLst>
          </p:cNvPr>
          <p:cNvSpPr txBox="1"/>
          <p:nvPr/>
        </p:nvSpPr>
        <p:spPr>
          <a:xfrm>
            <a:off x="2981325" y="4405312"/>
            <a:ext cx="134280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Spatial Engine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511A6F-7C0D-F61C-11EB-2F269F9C1169}"/>
              </a:ext>
            </a:extLst>
          </p:cNvPr>
          <p:cNvSpPr txBox="1"/>
          <p:nvPr/>
        </p:nvSpPr>
        <p:spPr>
          <a:xfrm>
            <a:off x="2981325" y="4738687"/>
            <a:ext cx="110126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Pie Wedge &amp; R-Tree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304874-3A64-D305-E364-196F07ABF8B2}"/>
              </a:ext>
            </a:extLst>
          </p:cNvPr>
          <p:cNvSpPr txBox="1"/>
          <p:nvPr/>
        </p:nvSpPr>
        <p:spPr>
          <a:xfrm>
            <a:off x="5591175" y="4405312"/>
            <a:ext cx="131606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Output Visual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6BEA7F-1861-A968-8B65-D88221CC32D4}"/>
              </a:ext>
            </a:extLst>
          </p:cNvPr>
          <p:cNvSpPr txBox="1"/>
          <p:nvPr/>
        </p:nvSpPr>
        <p:spPr>
          <a:xfrm>
            <a:off x="5591175" y="4738687"/>
            <a:ext cx="114775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Polygons &amp; Ray Lines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A60A9D-8B8E-2E58-306D-CC0607C8305E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778D82A-5571-F660-F0D1-1510B3909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430" y="2567522"/>
            <a:ext cx="1135919" cy="113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03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9125" y="619125"/>
            <a:ext cx="7953375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140969" y="2045196"/>
            <a:ext cx="6431905" cy="1078110"/>
          </a:xfrm>
          <a:prstGeom prst="roundRect">
            <a:avLst>
              <a:gd name="adj" fmla="val 10601"/>
            </a:avLst>
          </a:prstGeom>
          <a:solidFill>
            <a:srgbClr val="0B1429"/>
          </a:solidFill>
          <a:ln w="9525">
            <a:solidFill>
              <a:srgbClr val="063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40969" y="3275707"/>
            <a:ext cx="6431905" cy="1078110"/>
          </a:xfrm>
          <a:prstGeom prst="roundRect">
            <a:avLst>
              <a:gd name="adj" fmla="val 10601"/>
            </a:avLst>
          </a:prstGeom>
          <a:solidFill>
            <a:srgbClr val="0B1429"/>
          </a:solidFill>
          <a:ln w="9525">
            <a:solidFill>
              <a:srgbClr val="063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40969" y="4506217"/>
            <a:ext cx="6431905" cy="1078110"/>
          </a:xfrm>
          <a:prstGeom prst="roundRect">
            <a:avLst>
              <a:gd name="adj" fmla="val 10601"/>
            </a:avLst>
          </a:prstGeom>
          <a:solidFill>
            <a:srgbClr val="0B1429"/>
          </a:solidFill>
          <a:ln w="9525">
            <a:solidFill>
              <a:srgbClr val="063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79094" y="2283321"/>
            <a:ext cx="400050" cy="400050"/>
          </a:xfrm>
          <a:prstGeom prst="roundRect">
            <a:avLst>
              <a:gd name="adj" fmla="val 19047"/>
            </a:avLst>
          </a:prstGeom>
          <a:solidFill>
            <a:srgbClr val="0A2A3E"/>
          </a:solidFill>
          <a:ln w="9525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79094" y="3513832"/>
            <a:ext cx="400050" cy="400050"/>
          </a:xfrm>
          <a:prstGeom prst="roundRect">
            <a:avLst>
              <a:gd name="adj" fmla="val 19047"/>
            </a:avLst>
          </a:prstGeom>
          <a:solidFill>
            <a:srgbClr val="0A2A3E"/>
          </a:solidFill>
          <a:ln w="9525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79094" y="4744342"/>
            <a:ext cx="400050" cy="400050"/>
          </a:xfrm>
          <a:prstGeom prst="roundRect">
            <a:avLst>
              <a:gd name="adj" fmla="val 19047"/>
            </a:avLst>
          </a:prstGeom>
          <a:solidFill>
            <a:srgbClr val="0A2A3E"/>
          </a:solidFill>
          <a:ln w="9525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14512"/>
            <a:ext cx="4293244" cy="400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0F2FE"/>
                </a:solidFill>
                <a:latin typeface="Orbitron"/>
              </a:rPr>
              <a:t>STEP 01 • INPUT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695325"/>
            <a:ext cx="115728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2400" b="1" i="0" u="none">
                <a:solidFill>
                  <a:srgbClr val="FFFFFF"/>
                </a:solidFill>
                <a:latin typeface="Orbitron"/>
              </a:rPr>
              <a:t>PARAMETER &amp; MAPPING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1133475"/>
            <a:ext cx="11572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Inter"/>
              </a:rPr>
              <a:t>Configure cell layer fields, spatial coverage radius, and select target site types.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6219" y="2283321"/>
            <a:ext cx="6858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F2FE"/>
                </a:solidFill>
                <a:latin typeface="Orbitron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6219" y="3513832"/>
            <a:ext cx="6858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F2FE"/>
                </a:solidFill>
                <a:latin typeface="Orbitron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6219" y="4744342"/>
            <a:ext cx="6858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F2FE"/>
                </a:solidFill>
                <a:latin typeface="Orbitron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1544" y="2283321"/>
            <a:ext cx="626045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Frequency Band &amp; PCI Column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1544" y="2511921"/>
            <a:ext cx="549845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Select targeted frequency band (e.g. 1800) and map PCI attribute column from active GCELL layer.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1544" y="3513832"/>
            <a:ext cx="626045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Distance Radius &amp; Beamwidth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1544" y="3742432"/>
            <a:ext cx="549845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Specify dynamic radius column (e.g. TA) or manual custom distance. Default horizontal Beamwidth is set to 30°.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1544" y="4744342"/>
            <a:ext cx="626045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Site Type Filter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1544" y="4972942"/>
            <a:ext cx="549845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Toggle site categories (MACRO, MICRO, PICO, etc.) to include or exclude specific network nodes from detection.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253CF8D-62CF-7CBC-BC72-7C269A653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706" y="1878123"/>
            <a:ext cx="3142128" cy="389058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573712E-10ED-5C21-4C0B-C65D31CE8C41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9125" y="619125"/>
            <a:ext cx="80010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2005012"/>
            <a:ext cx="5362575" cy="3619500"/>
          </a:xfrm>
          <a:prstGeom prst="roundRect">
            <a:avLst>
              <a:gd name="adj" fmla="val 3157"/>
            </a:avLst>
          </a:prstGeom>
          <a:solidFill>
            <a:srgbClr val="0B1429"/>
          </a:solidFill>
          <a:ln w="9525">
            <a:solidFill>
              <a:srgbClr val="063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2005012"/>
            <a:ext cx="5362575" cy="3619500"/>
          </a:xfrm>
          <a:prstGeom prst="roundRect">
            <a:avLst>
              <a:gd name="adj" fmla="val 3157"/>
            </a:avLst>
          </a:prstGeom>
          <a:solidFill>
            <a:srgbClr val="0B1429"/>
          </a:solidFill>
          <a:ln w="9525">
            <a:solidFill>
              <a:srgbClr val="063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5350" y="5014912"/>
            <a:ext cx="4810125" cy="333375"/>
          </a:xfrm>
          <a:prstGeom prst="roundRect">
            <a:avLst>
              <a:gd name="adj" fmla="val 17142"/>
            </a:avLst>
          </a:prstGeom>
          <a:solidFill>
            <a:srgbClr val="0A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5350" y="5014912"/>
            <a:ext cx="28575" cy="33337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86525" y="5014912"/>
            <a:ext cx="4810125" cy="333375"/>
          </a:xfrm>
          <a:prstGeom prst="roundRect">
            <a:avLst>
              <a:gd name="adj" fmla="val 17142"/>
            </a:avLst>
          </a:prstGeom>
          <a:solidFill>
            <a:srgbClr val="171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6525" y="5014912"/>
            <a:ext cx="28575" cy="333375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5350" y="2281237"/>
            <a:ext cx="1190625" cy="228600"/>
          </a:xfrm>
          <a:prstGeom prst="roundRect">
            <a:avLst>
              <a:gd name="adj" fmla="val 16666"/>
            </a:avLst>
          </a:prstGeom>
          <a:solidFill>
            <a:srgbClr val="093549"/>
          </a:solidFill>
          <a:ln w="9525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86525" y="2281237"/>
            <a:ext cx="1333500" cy="228600"/>
          </a:xfrm>
          <a:prstGeom prst="roundRect">
            <a:avLst>
              <a:gd name="adj" fmla="val 16666"/>
            </a:avLst>
          </a:prstGeom>
          <a:solidFill>
            <a:srgbClr val="302623"/>
          </a:solidFill>
          <a:ln w="9525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612653"/>
            <a:ext cx="641151" cy="857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975" y="4281041"/>
            <a:ext cx="1000125" cy="1419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0F2FE"/>
                </a:solidFill>
                <a:latin typeface="Orbitron"/>
              </a:rPr>
              <a:t>STEP 02 • ALGORITHMIC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" y="695325"/>
            <a:ext cx="115728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2400" b="1" i="0" u="none">
                <a:solidFill>
                  <a:srgbClr val="FFFFFF"/>
                </a:solidFill>
                <a:latin typeface="Orbitron"/>
              </a:rPr>
              <a:t>DETECTION MODULO &amp; CALCULATION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1133475"/>
            <a:ext cx="11572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Inter"/>
              </a:rPr>
              <a:t>Understand collision math and spatial pie wedge intersection geometry.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5110162"/>
            <a:ext cx="4638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Fast spatial indexing using QgsSpatialIndex (R-Tree) for instant spatial lookup.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5110162"/>
            <a:ext cx="4638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Handles both geographic (WGS84) and projected coordinate reference systems.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" y="2319337"/>
            <a:ext cx="1095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0F2FE"/>
                </a:solidFill>
                <a:latin typeface="Orbitron"/>
              </a:rPr>
              <a:t>MODULO MODES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624137"/>
            <a:ext cx="631328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Inter"/>
              </a:rPr>
              <a:t>Conflict Logic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2967037"/>
            <a:ext cx="49053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Algorithm screens candidate pairs in current map canvas extent matching specified collision criteria: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1775" y="2319337"/>
            <a:ext cx="1238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8C00"/>
                </a:solidFill>
                <a:latin typeface="Orbitron"/>
              </a:rPr>
              <a:t>GEOMETRY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2624137"/>
            <a:ext cx="5705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Inter"/>
              </a:rPr>
              <a:t>Pie Wedge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525" y="2967037"/>
            <a:ext cx="490537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Synthesizes realistic directional sector wedges based on site coordinates, azimuth, and radius.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125" y="3547883"/>
            <a:ext cx="6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6800" y="3545978"/>
            <a:ext cx="5798343" cy="22279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00F2FE"/>
                </a:solidFill>
                <a:latin typeface="Inter"/>
              </a:rPr>
              <a:t>Same PCI: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Direct identical PCI ID collision ( 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125" y="3770679"/>
            <a:ext cx="6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800" y="3768774"/>
            <a:ext cx="5798343" cy="22279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00F2FE"/>
                </a:solidFill>
                <a:latin typeface="Inter"/>
              </a:rPr>
              <a:t>Mod 3: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PSS (Primary Sync Signal) collision.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125" y="3993475"/>
            <a:ext cx="6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800" y="3991570"/>
            <a:ext cx="5798343" cy="22279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00F2FE"/>
                </a:solidFill>
                <a:latin typeface="Inter"/>
              </a:rPr>
              <a:t>Mod 6: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RS (Reference Signal) pilot pollution.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125" y="4216271"/>
            <a:ext cx="6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800" y="4214366"/>
            <a:ext cx="5798343" cy="22279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00F2FE"/>
                </a:solidFill>
                <a:latin typeface="Inter"/>
              </a:rPr>
              <a:t>Mod 30: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Pattern grouping conflict.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1300" y="3547883"/>
            <a:ext cx="6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7975" y="3545978"/>
            <a:ext cx="4733925" cy="445591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FF8C00"/>
                </a:solidFill>
                <a:latin typeface="Inter"/>
              </a:rPr>
              <a:t>Geographic Correction: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Auto converts meters to degrees using latitude scale factors.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1300" y="3993475"/>
            <a:ext cx="6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7975" y="3991570"/>
            <a:ext cx="4733925" cy="445591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FF8C00"/>
                </a:solidFill>
                <a:latin typeface="Inter"/>
              </a:rPr>
              <a:t>Polygon Intersection: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Computes exact spatial overlap geometry ( 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1300" y="4439066"/>
            <a:ext cx="6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7975" y="4437161"/>
            <a:ext cx="5534025" cy="22279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FF8C00"/>
                </a:solidFill>
                <a:latin typeface="Inter"/>
              </a:rPr>
              <a:t>Area Filtering: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Filters out zero-area point/line touches.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78C2F9-6432-6F14-949A-F4A82F970379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9125" y="619125"/>
            <a:ext cx="7134225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76453" y="2108001"/>
            <a:ext cx="5896421" cy="1181100"/>
          </a:xfrm>
          <a:prstGeom prst="roundRect">
            <a:avLst>
              <a:gd name="adj" fmla="val 9677"/>
            </a:avLst>
          </a:prstGeom>
          <a:solidFill>
            <a:srgbClr val="0B1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76453" y="3479601"/>
            <a:ext cx="5896421" cy="1181100"/>
          </a:xfrm>
          <a:prstGeom prst="roundRect">
            <a:avLst>
              <a:gd name="adj" fmla="val 9677"/>
            </a:avLst>
          </a:prstGeom>
          <a:solidFill>
            <a:srgbClr val="0B1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76453" y="4851201"/>
            <a:ext cx="5896421" cy="670321"/>
          </a:xfrm>
          <a:prstGeom prst="roundRect">
            <a:avLst>
              <a:gd name="adj" fmla="val 17051"/>
            </a:avLst>
          </a:prstGeom>
          <a:solidFill>
            <a:srgbClr val="081628"/>
          </a:solidFill>
          <a:ln w="9525">
            <a:solidFill>
              <a:srgbClr val="063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76453" y="3279576"/>
            <a:ext cx="5896421" cy="952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76453" y="2108001"/>
            <a:ext cx="5896421" cy="952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76453" y="2108001"/>
            <a:ext cx="38100" cy="1181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63350" y="2108001"/>
            <a:ext cx="9525" cy="118110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76453" y="4651176"/>
            <a:ext cx="5896421" cy="952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76453" y="3479601"/>
            <a:ext cx="5896421" cy="952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76453" y="3479601"/>
            <a:ext cx="38100" cy="118110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63350" y="3479601"/>
            <a:ext cx="9525" cy="118110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20325" y="2346126"/>
            <a:ext cx="1114425" cy="228600"/>
          </a:xfrm>
          <a:prstGeom prst="roundRect">
            <a:avLst>
              <a:gd name="adj" fmla="val 16666"/>
            </a:avLst>
          </a:prstGeom>
          <a:solidFill>
            <a:srgbClr val="302623"/>
          </a:solidFill>
          <a:ln w="9525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7975" y="3717726"/>
            <a:ext cx="866775" cy="228600"/>
          </a:xfrm>
          <a:prstGeom prst="roundRect">
            <a:avLst>
              <a:gd name="adj" fmla="val 16666"/>
            </a:avLst>
          </a:prstGeom>
          <a:solidFill>
            <a:srgbClr val="093549"/>
          </a:solidFill>
          <a:ln w="9525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09762"/>
            <a:ext cx="4828728" cy="38100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478" y="5091112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0F2FE"/>
                </a:solidFill>
                <a:latin typeface="Orbitron"/>
              </a:rPr>
              <a:t>STEP 03 • SPATIAL GIS REPRESENTATION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125" y="695325"/>
            <a:ext cx="115728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2400" b="1" i="0" u="none">
                <a:solidFill>
                  <a:srgbClr val="FFFFFF"/>
                </a:solidFill>
                <a:latin typeface="Orbitron"/>
              </a:rPr>
              <a:t>GIS OUTPUT LAYERS &amp; VISUALS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" y="1133475"/>
            <a:ext cx="11572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Inter"/>
              </a:rPr>
              <a:t>Automatically rendered conflict layers directly added into QGIS project map canvas.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153" y="2650926"/>
            <a:ext cx="548684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Orange semi-transparent polygon shapes representing overlapping coverage zones where PCI or Modulo collisions physically occur.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153" y="4022526"/>
            <a:ext cx="548684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Dotted red connector lines linking serving cell site centroids directly to the conflict zone centroid with automated inline PCI label tags.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153" y="2365176"/>
            <a:ext cx="276284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Inter"/>
              </a:rPr>
              <a:t>1. PCI Conflict Areas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15575" y="2384226"/>
            <a:ext cx="10191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8C00"/>
                </a:solidFill>
                <a:latin typeface="Orbitron"/>
              </a:rPr>
              <a:t>Polygon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153" y="3736776"/>
            <a:ext cx="276284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Inter"/>
              </a:rPr>
              <a:t>2. PCI Conflict Lines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3225" y="3755826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0F2FE"/>
                </a:solidFill>
                <a:latin typeface="Orbitron"/>
              </a:rPr>
              <a:t>Line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278" y="5013126"/>
            <a:ext cx="5286821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Attribute Table Data: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Layers store detailed metadata including Cell A/B IDs, Cell Names, PCIs, Band, and Modulo values.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D65D405-26FA-049C-2AA2-8FF24E574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75" y="2173234"/>
            <a:ext cx="4690518" cy="331485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8C2E871-EA8B-ED67-5FF7-C3719B3B6854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9125" y="619125"/>
            <a:ext cx="83820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2100262"/>
            <a:ext cx="3524250" cy="3429000"/>
          </a:xfrm>
          <a:prstGeom prst="roundRect">
            <a:avLst>
              <a:gd name="adj" fmla="val 3333"/>
            </a:avLst>
          </a:prstGeom>
          <a:solidFill>
            <a:srgbClr val="0B1429"/>
          </a:solidFill>
          <a:ln w="9525">
            <a:solidFill>
              <a:srgbClr val="063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33875" y="2100262"/>
            <a:ext cx="3524250" cy="3429000"/>
          </a:xfrm>
          <a:prstGeom prst="roundRect">
            <a:avLst>
              <a:gd name="adj" fmla="val 3333"/>
            </a:avLst>
          </a:prstGeom>
          <a:solidFill>
            <a:srgbClr val="0B1429"/>
          </a:solidFill>
          <a:ln w="9525">
            <a:solidFill>
              <a:srgbClr val="063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8625" y="2100262"/>
            <a:ext cx="3524250" cy="3429000"/>
          </a:xfrm>
          <a:prstGeom prst="roundRect">
            <a:avLst>
              <a:gd name="adj" fmla="val 3333"/>
            </a:avLst>
          </a:prstGeom>
          <a:solidFill>
            <a:srgbClr val="0B1429"/>
          </a:solidFill>
          <a:ln w="9525">
            <a:solidFill>
              <a:srgbClr val="063C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90700" y="4986337"/>
            <a:ext cx="1181100" cy="228600"/>
          </a:xfrm>
          <a:prstGeom prst="roundRect">
            <a:avLst>
              <a:gd name="adj" fmla="val 16666"/>
            </a:avLst>
          </a:prstGeom>
          <a:solidFill>
            <a:srgbClr val="093549"/>
          </a:solidFill>
          <a:ln w="9525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34025" y="4986337"/>
            <a:ext cx="1123950" cy="228600"/>
          </a:xfrm>
          <a:prstGeom prst="roundRect">
            <a:avLst>
              <a:gd name="adj" fmla="val 16666"/>
            </a:avLst>
          </a:prstGeom>
          <a:solidFill>
            <a:srgbClr val="302623"/>
          </a:solidFill>
          <a:ln w="9525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34475" y="4986337"/>
            <a:ext cx="1352550" cy="228600"/>
          </a:xfrm>
          <a:prstGeom prst="roundRect">
            <a:avLst>
              <a:gd name="adj" fmla="val 16666"/>
            </a:avLst>
          </a:prstGeom>
          <a:solidFill>
            <a:srgbClr val="093549"/>
          </a:solidFill>
          <a:ln w="9525">
            <a:solidFill>
              <a:srgbClr val="0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2414587"/>
            <a:ext cx="533400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414587"/>
            <a:ext cx="533400" cy="533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4050" y="2414587"/>
            <a:ext cx="533400" cy="533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6950" y="2566987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1700" y="2566987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0737" y="2566987"/>
            <a:ext cx="20002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0F2FE"/>
                </a:solidFill>
                <a:latin typeface="Orbitron"/>
              </a:rPr>
              <a:t>STEP 04 • BEST PRACTICES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125" y="695325"/>
            <a:ext cx="115728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2400" b="1" i="0" u="none">
                <a:solidFill>
                  <a:srgbClr val="FFFFFF"/>
                </a:solidFill>
                <a:latin typeface="Orbitron"/>
              </a:rPr>
              <a:t>EXECUTION &amp;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5" y="1133475"/>
            <a:ext cx="11572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Inter"/>
              </a:rPr>
              <a:t>Key operational tips for optimal performance and accurate RAN optimization audits.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8312" y="5024437"/>
            <a:ext cx="1285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0F2FE"/>
                </a:solidFill>
                <a:latin typeface="Orbitron"/>
              </a:rPr>
              <a:t>SPATIAL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024437"/>
            <a:ext cx="1219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FF8C00"/>
                </a:solidFill>
                <a:latin typeface="Orbitron"/>
              </a:rPr>
              <a:t>RADIUS 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0656" y="5024437"/>
            <a:ext cx="15001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0F2FE"/>
                </a:solidFill>
                <a:latin typeface="Orbitron"/>
              </a:rPr>
              <a:t>SETTINGS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" y="3138487"/>
            <a:ext cx="4000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Inter"/>
              </a:rPr>
              <a:t>Map Canvas Extent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452812"/>
            <a:ext cx="3316605" cy="6350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>
                <a:solidFill>
                  <a:srgbClr val="94A3B8"/>
                </a:solidFill>
                <a:latin typeface="Inter"/>
              </a:rPr>
              <a:t>Analysis operates strictly on features within current map canvas bounds for maximum calculation speed. Zoom to cluster area before running.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5750" y="3138487"/>
            <a:ext cx="4000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Inter"/>
              </a:rPr>
              <a:t>Dynamic vs Custom Radius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3452812"/>
            <a:ext cx="3337179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>
                <a:solidFill>
                  <a:srgbClr val="94A3B8"/>
                </a:solidFill>
                <a:latin typeface="Inter"/>
              </a:rPr>
              <a:t>Use TA distance mapping for realistic coverage bounds. Apply fixed Custom Radius (e.g. 1000m) when TA distance field is unavailable.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0500" y="3138487"/>
            <a:ext cx="4000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Inter"/>
              </a:rPr>
              <a:t>Auto Memory &amp; 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4256" y="3452812"/>
            <a:ext cx="3358896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 dirty="0">
                <a:solidFill>
                  <a:srgbClr val="94A3B8"/>
                </a:solidFill>
                <a:latin typeface="Inter"/>
              </a:rPr>
              <a:t>All dropdown mappings and unchecked site types are automatically saved to </a:t>
            </a:r>
            <a:r>
              <a:rPr sz="1050" b="0" i="0" u="none" dirty="0" err="1">
                <a:solidFill>
                  <a:srgbClr val="94A3B8"/>
                </a:solidFill>
                <a:latin typeface="Inter"/>
              </a:rPr>
              <a:t>QSettings</a:t>
            </a:r>
            <a:r>
              <a:rPr sz="1050" b="0" i="0" u="none" dirty="0">
                <a:solidFill>
                  <a:srgbClr val="94A3B8"/>
                </a:solidFill>
                <a:latin typeface="Inter"/>
              </a:rPr>
              <a:t> for seamless re-analysis in future sessions.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E7A682-BEF3-6BC6-9288-778F2B2EC964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571</Words>
  <Application>Microsoft Office PowerPoint</Application>
  <PresentationFormat>Widescreen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Orbitron</vt:lpstr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4</cp:revision>
  <dcterms:created xsi:type="dcterms:W3CDTF">2013-01-27T09:14:16Z</dcterms:created>
  <dcterms:modified xsi:type="dcterms:W3CDTF">2026-10-25T03:14:39Z</dcterms:modified>
  <cp:category/>
</cp:coreProperties>
</file>