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1"/>
    </p:embeddedFont>
    <p:embeddedFont>
      <p:font typeface="JetBrains Mono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96D620-A612-4D09-4C19-9820CC757221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1CB43B-9BB4-D0EF-F231-61DC1BF89F1B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5119E1-AAB9-3110-024F-75C9AFB9119C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66494-1CDD-BFF3-0435-F04554A65D9B}"/>
              </a:ext>
            </a:extLst>
          </p:cNvPr>
          <p:cNvSpPr/>
          <p:nvPr/>
        </p:nvSpPr>
        <p:spPr>
          <a:xfrm>
            <a:off x="266700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408834-7E4C-0FB0-F15C-25A37ACB6F28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5200F0-7C02-C5B4-5F29-D560F08181DC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67CED3-3A0B-FCF2-CA07-C3A927975D98}"/>
              </a:ext>
            </a:extLst>
          </p:cNvPr>
          <p:cNvSpPr txBox="1"/>
          <p:nvPr/>
        </p:nvSpPr>
        <p:spPr>
          <a:xfrm>
            <a:off x="609600" y="2243137"/>
            <a:ext cx="2422138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KPI Trend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E4DB95-BB02-6398-90C5-62E674DF6429}"/>
              </a:ext>
            </a:extLst>
          </p:cNvPr>
          <p:cNvSpPr txBox="1"/>
          <p:nvPr/>
        </p:nvSpPr>
        <p:spPr>
          <a:xfrm>
            <a:off x="609599" y="3100387"/>
            <a:ext cx="7619999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Historical Performance Analytics, Custom SQL Aggregations, Multi-Engine Database Querying &amp; Custom Interactive Chart Styling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518AD-0317-3372-D0DA-16C63CEBFAA8}"/>
              </a:ext>
            </a:extLst>
          </p:cNvPr>
          <p:cNvSpPr txBox="1"/>
          <p:nvPr/>
        </p:nvSpPr>
        <p:spPr>
          <a:xfrm>
            <a:off x="609600" y="4405312"/>
            <a:ext cx="186531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Dual Query Engines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4646BE-D6C3-BFEF-761C-32757170A863}"/>
              </a:ext>
            </a:extLst>
          </p:cNvPr>
          <p:cNvSpPr txBox="1"/>
          <p:nvPr/>
        </p:nvSpPr>
        <p:spPr>
          <a:xfrm>
            <a:off x="609601" y="4738687"/>
            <a:ext cx="189294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Ultra-fast local processing via </a:t>
            </a:r>
            <a:r>
              <a:rPr lang="en-US" sz="1050" b="0" i="0" u="none" dirty="0" err="1">
                <a:solidFill>
                  <a:srgbClr val="6B7280"/>
                </a:solidFill>
                <a:latin typeface="Inter"/>
              </a:rPr>
              <a:t>DuckDB</a:t>
            </a:r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 or direct connection to remote PostgreSQL/</a:t>
            </a:r>
            <a:r>
              <a:rPr lang="en-US" sz="1050" b="0" i="0" u="none" dirty="0" err="1">
                <a:solidFill>
                  <a:srgbClr val="6B7280"/>
                </a:solidFill>
                <a:latin typeface="Inter"/>
              </a:rPr>
              <a:t>PostGIS</a:t>
            </a:r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 servers.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A923E9-1BE6-E523-109B-97576050D8F0}"/>
              </a:ext>
            </a:extLst>
          </p:cNvPr>
          <p:cNvSpPr txBox="1"/>
          <p:nvPr/>
        </p:nvSpPr>
        <p:spPr>
          <a:xfrm>
            <a:off x="2981325" y="4405312"/>
            <a:ext cx="202869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Flexible Aggregations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FD4B61-3C30-1BDE-6456-9B17620473A7}"/>
              </a:ext>
            </a:extLst>
          </p:cNvPr>
          <p:cNvSpPr txBox="1"/>
          <p:nvPr/>
        </p:nvSpPr>
        <p:spPr>
          <a:xfrm>
            <a:off x="2981325" y="4738687"/>
            <a:ext cx="2121541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Hourly and daily trend grouping with dynamic multi-level breakdown dimensions.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5BDC0-1976-D09B-CF6D-5978250157D5}"/>
              </a:ext>
            </a:extLst>
          </p:cNvPr>
          <p:cNvSpPr txBox="1"/>
          <p:nvPr/>
        </p:nvSpPr>
        <p:spPr>
          <a:xfrm>
            <a:off x="5591175" y="4405312"/>
            <a:ext cx="171591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Interactive Styling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DE3040-0BC4-F34F-CB39-3C9B23F70120}"/>
              </a:ext>
            </a:extLst>
          </p:cNvPr>
          <p:cNvSpPr txBox="1"/>
          <p:nvPr/>
        </p:nvSpPr>
        <p:spPr>
          <a:xfrm>
            <a:off x="5591175" y="4738687"/>
            <a:ext cx="240982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Custom chart visuals, Y-axis limits, line styles, and SHA-256 state persistence.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28DA798-A4C6-4BF3-49EB-99CE3285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930" y="2639991"/>
            <a:ext cx="933790" cy="93379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306050" y="700980"/>
            <a:ext cx="1419225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6725" y="2960340"/>
            <a:ext cx="3600450" cy="1676400"/>
          </a:xfrm>
          <a:prstGeom prst="roundRect">
            <a:avLst>
              <a:gd name="adj" fmla="val 6451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5775" y="2960340"/>
            <a:ext cx="3600450" cy="1676400"/>
          </a:xfrm>
          <a:prstGeom prst="roundRect">
            <a:avLst>
              <a:gd name="adj" fmla="val 5681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4825" y="2960340"/>
            <a:ext cx="3600450" cy="1676400"/>
          </a:xfrm>
          <a:prstGeom prst="roundRect">
            <a:avLst>
              <a:gd name="adj" fmla="val 6451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260377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3160365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3260377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2250" y="720030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kpi_trend_dialog.py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352425"/>
            <a:ext cx="5060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MODULE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571500"/>
            <a:ext cx="5313164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Core Capabilities &amp;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3641377"/>
            <a:ext cx="4100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Dual Engine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936652"/>
            <a:ext cx="3219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Native execution on DuckDB high-performance local files &amp; PostgreSQL spatial server schemas.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900" y="3541365"/>
            <a:ext cx="4100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Multi-Level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900" y="3836640"/>
            <a:ext cx="3219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Flexible X-axis temporal grouping across composite fields like Date, Time, Hour, or Custom Categories.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2950" y="3641377"/>
            <a:ext cx="38290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Cascading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2950" y="3936652"/>
            <a:ext cx="3219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Real-time dynamic inter-dependent filter updates preventing invalid queries and zero-result views.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8356DE-1B60-5273-C529-208181DED41E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506075" y="700980"/>
            <a:ext cx="1219200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6725" y="2256532"/>
            <a:ext cx="5534025" cy="1607492"/>
          </a:xfrm>
          <a:prstGeom prst="roundRect">
            <a:avLst>
              <a:gd name="adj" fmla="val 5925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256532"/>
            <a:ext cx="5534025" cy="1607492"/>
          </a:xfrm>
          <a:prstGeom prst="roundRect">
            <a:avLst>
              <a:gd name="adj" fmla="val 5925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6725" y="4054524"/>
            <a:ext cx="11258550" cy="1285875"/>
          </a:xfrm>
          <a:prstGeom prst="roundRect">
            <a:avLst>
              <a:gd name="adj" fmla="val 7407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4850" y="4778424"/>
            <a:ext cx="10782300" cy="361950"/>
          </a:xfrm>
          <a:prstGeom prst="roundRect">
            <a:avLst>
              <a:gd name="adj" fmla="val 15789"/>
            </a:avLst>
          </a:prstGeom>
          <a:solidFill>
            <a:srgbClr val="03071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86025" y="2789932"/>
            <a:ext cx="55245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62300" y="2789932"/>
            <a:ext cx="81915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86875" y="3012727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76600" y="4273599"/>
            <a:ext cx="108585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480369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480369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4278362"/>
            <a:ext cx="1905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275" y="720030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QgsSettings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725" y="352425"/>
            <a:ext cx="4071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CONFIGURATION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25" y="571500"/>
            <a:ext cx="4275534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Data Input Specifications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530774"/>
            <a:ext cx="11487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CA3AF"/>
                </a:solidFill>
                <a:latin typeface="Inter"/>
              </a:rPr>
              <a:t>Defines metric assignment to visual cards with specific aggregation methods.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4873674"/>
            <a:ext cx="10687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[{"kpi_name": "Payload_GB", "calc": "SUM", "card": 1}, {"kpi_name": "PRB_Util", "calc": "AVG", "card": 2}]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2456557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1. Connection &amp; Source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2770882"/>
            <a:ext cx="6322218" cy="2247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kpi_file_type: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Engine choice ( /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2995612"/>
            <a:ext cx="6322218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kpi_file_path: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Local database file path (.duckdb / .db)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3218408"/>
            <a:ext cx="6322218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kpi_table_name: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Target data table name or active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3441203"/>
            <a:ext cx="6322218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pg_host / pg_dbname: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PostgreSQL host, port, user, schema credentials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7025" y="2456557"/>
            <a:ext cx="25628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2. Dimension &amp; Filter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2770882"/>
            <a:ext cx="57626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kpi_filter: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Comma-separated dynamic filter columns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2993677"/>
            <a:ext cx="5762625" cy="2247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kpi_xaxis: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X-axis datetime grouping fields (e.g.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3218408"/>
            <a:ext cx="57626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kpi_xorder: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Sorting sequence columns for timeline continuity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3441203"/>
            <a:ext cx="5762625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E5E7EB"/>
                </a:solidFill>
                <a:latin typeface="Inter"/>
              </a:rPr>
              <a:t>kpi_object: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Primary key/entity column (e.g. Cell_ID, Site_ID)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4254549"/>
            <a:ext cx="4500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3. KPI Metrics Definition JSON 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2225" y="2808982"/>
            <a:ext cx="685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duckdb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8500" y="2808982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3075" y="3031777"/>
            <a:ext cx="885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Date,Time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2800" y="4292649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JetBrains Mono"/>
              </a:rPr>
              <a:t>kpi_items_json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BAF284-7400-92B8-2299-926476E96058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839325" y="700980"/>
            <a:ext cx="1885950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79840" y="2831603"/>
            <a:ext cx="5145434" cy="1933575"/>
          </a:xfrm>
          <a:prstGeom prst="roundRect">
            <a:avLst>
              <a:gd name="adj" fmla="val 3940"/>
            </a:avLst>
          </a:prstGeom>
          <a:solidFill>
            <a:srgbClr val="03071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6725" y="3918346"/>
            <a:ext cx="5846415" cy="952500"/>
          </a:xfrm>
          <a:prstGeom prst="roundRect">
            <a:avLst>
              <a:gd name="adj" fmla="val 10000"/>
            </a:avLst>
          </a:prstGeom>
          <a:solidFill>
            <a:srgbClr val="0F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95625" y="3107084"/>
            <a:ext cx="1685925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725" y="4861321"/>
            <a:ext cx="5846415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725" y="3918346"/>
            <a:ext cx="5846415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725" y="3918346"/>
            <a:ext cx="28575" cy="9525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3615" y="3918346"/>
            <a:ext cx="9525" cy="952500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14725" y="4337446"/>
            <a:ext cx="219075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2950" y="4337446"/>
            <a:ext cx="28575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90650" y="4499371"/>
            <a:ext cx="41910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85950" y="4499371"/>
            <a:ext cx="55245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514600" y="4499371"/>
            <a:ext cx="55245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15525" y="720030"/>
            <a:ext cx="1828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get_base_source_and_cols()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25" y="352425"/>
            <a:ext cx="5345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" y="571500"/>
            <a:ext cx="5613201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Virtual CTE &amp; Custom Expressions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1290" y="3003053"/>
            <a:ext cx="4897784" cy="1590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B7280"/>
                </a:solidFill>
                <a:latin typeface="JetBrains Mono"/>
              </a:rPr>
              <a:t>-- DuckDB CTE Injection Generated Code</a:t>
            </a:r>
            <a:r>
              <a:t>
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WITH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src_data 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AS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(</a:t>
            </a:r>
            <a:r>
              <a:t>
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  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SELECT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* EXCLUDE (Custom_Accessibility),</a:t>
            </a:r>
            <a:r>
              <a:t>
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  (</a:t>
            </a:r>
            <a:r>
              <a:rPr sz="825" b="0" i="0" u="none">
                <a:solidFill>
                  <a:srgbClr val="38BDF8"/>
                </a:solidFill>
                <a:latin typeface="JetBrains Mono"/>
              </a:rPr>
              <a:t>RRC_Setup_Success_Rate * ERAB_Setup_Success_Rate / 100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) </a:t>
            </a:r>
            <a:r>
              <a:t>
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    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AS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"Custom_Accessibility"</a:t>
            </a:r>
            <a:r>
              <a:t>
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  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FROM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"tbl_kpi_hourly"</a:t>
            </a:r>
            <a:r>
              <a:t>
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)</a:t>
            </a:r>
            <a:r>
              <a:t>
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SELECT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"Date", </a:t>
            </a:r>
            <a:r>
              <a:rPr sz="825" b="0" i="0" u="none">
                <a:solidFill>
                  <a:srgbClr val="38BDF8"/>
                </a:solidFill>
                <a:latin typeface="JetBrains Mono"/>
              </a:rPr>
              <a:t>AVG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("Custom_Accessibility")</a:t>
            </a:r>
            <a:r>
              <a:t>
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FROM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src_data</a:t>
            </a:r>
            <a:r>
              <a:t>
</a:t>
            </a:r>
            <a:r>
              <a:rPr sz="825" b="0" i="0" u="none">
                <a:solidFill>
                  <a:srgbClr val="F472B6"/>
                </a:solidFill>
                <a:latin typeface="JetBrains Mono"/>
              </a:rPr>
              <a:t>GROUP BY</a:t>
            </a:r>
            <a:r>
              <a:rPr sz="825" b="0" i="0" u="none">
                <a:solidFill>
                  <a:srgbClr val="E5E7EB"/>
                </a:solidFill>
                <a:latin typeface="JetBrains Mono"/>
              </a:rPr>
              <a:t> "Date";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25" y="2726084"/>
            <a:ext cx="767341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Dynamic On-the-Fly SQL Expression Calculation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25" y="3088034"/>
            <a:ext cx="5941665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CA3AF"/>
                </a:solidFill>
                <a:latin typeface="Inter"/>
              </a:rPr>
              <a:t>The engine injects custom formula JSON () into a virtual CTE table subquery, exposing synthetic metrics directly to filtering, grouping, and charting routines without mutating physical database schemas.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1825" y="3126134"/>
            <a:ext cx="1955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kpi_custom_columns_json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118371"/>
            <a:ext cx="702333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Security Guardrails Built-in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4346971"/>
            <a:ext cx="544636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CA3AF"/>
                </a:solidFill>
                <a:latin typeface="Inter"/>
              </a:rPr>
              <a:t>SQL Injection sanitizer blocks stacked queries (), comments (), and DDL/DML keywords (, , 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0925" y="4356496"/>
            <a:ext cx="161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9150" y="4356496"/>
            <a:ext cx="2286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--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6850" y="4518421"/>
            <a:ext cx="361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DROP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2150" y="451842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0800" y="4518421"/>
            <a:ext cx="495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INSERT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35DF-28F5-62C6-9C4C-C1C23DDBFEFA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506075" y="700980"/>
            <a:ext cx="1219200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6725" y="2882354"/>
            <a:ext cx="4874269" cy="1832223"/>
          </a:xfrm>
          <a:prstGeom prst="roundRect">
            <a:avLst>
              <a:gd name="adj" fmla="val 5198"/>
            </a:avLst>
          </a:prstGeom>
          <a:solidFill>
            <a:srgbClr val="0F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531494" y="2882354"/>
            <a:ext cx="6193780" cy="1832223"/>
          </a:xfrm>
          <a:prstGeom prst="roundRect">
            <a:avLst>
              <a:gd name="adj" fmla="val 5198"/>
            </a:avLst>
          </a:prstGeom>
          <a:solidFill>
            <a:srgbClr val="0F1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6725" y="4705052"/>
            <a:ext cx="4874269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725" y="2882354"/>
            <a:ext cx="4874269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725" y="2882354"/>
            <a:ext cx="9525" cy="1832223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1469" y="2882354"/>
            <a:ext cx="9525" cy="1832223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31494" y="4705052"/>
            <a:ext cx="6193780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31494" y="2882354"/>
            <a:ext cx="6193780" cy="28575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1494" y="2882354"/>
            <a:ext cx="9525" cy="1832223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715750" y="2882354"/>
            <a:ext cx="9525" cy="1832223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29100" y="3415754"/>
            <a:ext cx="221456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4850" y="3640484"/>
            <a:ext cx="428625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82275" y="720030"/>
            <a:ext cx="1162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QSplitter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725" y="352425"/>
            <a:ext cx="581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INTERFACE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725" y="571500"/>
            <a:ext cx="6100762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Dialog Workspace &amp; Layout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3101429"/>
            <a:ext cx="577240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Left Control Panel (270px)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9619" y="3101429"/>
            <a:ext cx="642238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Right Chart Canvas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3396704"/>
            <a:ext cx="4493269" cy="449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FFFF"/>
                </a:solidFill>
                <a:latin typeface="Inter"/>
              </a:rPr>
              <a:t>Display Mode Switcher: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Quick 1 to 4 Column Grid buttons ( to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3846165"/>
            <a:ext cx="449326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FFFF"/>
                </a:solidFill>
                <a:latin typeface="Inter"/>
              </a:rPr>
              <a:t>Dynamic Filter Scroll Area: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Searchable listboxes per configured dimension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4291756"/>
            <a:ext cx="5497524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FFFF"/>
                </a:solidFill>
                <a:latin typeface="Inter"/>
              </a:rPr>
              <a:t>X-Axis Format Controls: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Inline datetime string pattern formatters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9619" y="3396704"/>
            <a:ext cx="6422380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FFFF"/>
                </a:solidFill>
                <a:latin typeface="Inter"/>
              </a:rPr>
              <a:t>Active Filter Status Bar: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Displays selected parameters with item counter badges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9619" y="3619500"/>
            <a:ext cx="6422380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FFFF"/>
                </a:solidFill>
                <a:latin typeface="Inter"/>
              </a:rPr>
              <a:t>Responsive Scroll Area: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Scrollable dynamic grid housing Matplotlib KPI 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9619" y="3842295"/>
            <a:ext cx="6422380" cy="2227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975" b="1" i="0" u="none">
                <a:solidFill>
                  <a:srgbClr val="FFFFFF"/>
                </a:solidFill>
                <a:latin typeface="Inter"/>
              </a:rPr>
              <a:t>Spatial GIS Lookup Override:</a:t>
            </a:r>
            <a:r>
              <a:rPr sz="975" b="0" i="0" u="none">
                <a:solidFill>
                  <a:srgbClr val="9CA3AF"/>
                </a:solidFill>
                <a:latin typeface="Inter"/>
              </a:rPr>
              <a:t> Direct external filter injection via map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5300" y="3434804"/>
            <a:ext cx="3548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3659534"/>
            <a:ext cx="5619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■■■■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F304D8-56EB-7E87-FB7F-DF687232810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639425" y="700980"/>
            <a:ext cx="1085850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6725" y="2731740"/>
            <a:ext cx="5248275" cy="2133600"/>
          </a:xfrm>
          <a:prstGeom prst="roundRect">
            <a:avLst>
              <a:gd name="adj" fmla="val 4464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77000" y="2731740"/>
            <a:ext cx="5248275" cy="2133600"/>
          </a:xfrm>
          <a:prstGeom prst="roundRect">
            <a:avLst>
              <a:gd name="adj" fmla="val 4464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81212" y="4379565"/>
            <a:ext cx="2019300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91450" y="4379565"/>
            <a:ext cx="2619375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412" y="3046065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5" y="3046065"/>
            <a:ext cx="390525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15625" y="720030"/>
            <a:ext cx="10287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kpi_chart_type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352425"/>
            <a:ext cx="615553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VISUALIZATION 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571500"/>
            <a:ext cx="6463307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Multi-Object vs Multi-KPI Trend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60427"/>
            <a:ext cx="5905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8FAFC"/>
                </a:solidFill>
                <a:latin typeface="Inter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90785" y="3541365"/>
            <a:ext cx="636329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Space Grotesk"/>
              </a:rPr>
              <a:t>Multi Object Single 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21" y="3836640"/>
            <a:ext cx="606028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Inter"/>
              </a:rPr>
              <a:t>Plots one KPI metric across multiple selected RAN entities (e.g., comparing 10 cells on one chart).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4398615"/>
            <a:ext cx="2371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JetBrains Mono"/>
              </a:rPr>
              <a:t>GROUP BY X-Cols + Object_Col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0635" y="3541365"/>
            <a:ext cx="61210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Space Grotesk"/>
              </a:rPr>
              <a:t>Single Object Multi KPI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0996" y="3836640"/>
            <a:ext cx="606028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CA3AF"/>
                </a:solidFill>
                <a:latin typeface="Inter"/>
              </a:rPr>
              <a:t>Plots multiple different KPI metrics simultaneously for a single selected network object.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0228" y="4398615"/>
            <a:ext cx="31218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38BDF8"/>
                </a:solidFill>
                <a:latin typeface="JetBrains Mono"/>
              </a:rPr>
              <a:t>GROUP BY X-Cols (Multi-Metric SELECT)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E8990F-35DA-ACA3-2CA9-C2416BD4D11C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372725" y="700980"/>
            <a:ext cx="1352550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42894" y="2279153"/>
            <a:ext cx="4282380" cy="923925"/>
          </a:xfrm>
          <a:prstGeom prst="roundRect">
            <a:avLst>
              <a:gd name="adj" fmla="val 10309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42894" y="3336428"/>
            <a:ext cx="4282380" cy="923925"/>
          </a:xfrm>
          <a:prstGeom prst="roundRect">
            <a:avLst>
              <a:gd name="adj" fmla="val 10309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42894" y="4393703"/>
            <a:ext cx="4282380" cy="923925"/>
          </a:xfrm>
          <a:prstGeom prst="roundRect">
            <a:avLst>
              <a:gd name="adj" fmla="val 10309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830139"/>
            <a:ext cx="6671369" cy="39366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48925" y="720030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ChartSettingDialog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" y="352425"/>
            <a:ext cx="610790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USER INTERFACE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" y="571500"/>
            <a:ext cx="6413301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Captured Chart Custom Setting Dialog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1019" y="2479178"/>
            <a:ext cx="45109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1. Chart Title &amp; SQL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1019" y="2717303"/>
            <a:ext cx="39013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Inter"/>
              </a:rPr>
              <a:t>Editable chart title alongside read-only executable SQL preview for analytical query auditing.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1019" y="3536453"/>
            <a:ext cx="45109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2. KPI Granular Table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1019" y="3774578"/>
            <a:ext cx="39013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Inter"/>
              </a:rPr>
              <a:t>Per-series scale bounds (Min/Max), Chart Type selector, Color Picker modal, and Axis Assignment (Primary/Secondary).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019" y="4593728"/>
            <a:ext cx="45109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3. Display &amp; Legend Customization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1019" y="4831853"/>
            <a:ext cx="390138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CA3AF"/>
                </a:solidFill>
                <a:latin typeface="Inter"/>
              </a:rPr>
              <a:t>Legend position dropdowns, grid line options, and custom Primary/Secondary Y-axis text labels.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61CFFC-A802-647F-282B-5E8590BC1779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8A444A5-DA34-70D8-D19E-A7EC28D36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33" y="1973198"/>
            <a:ext cx="6473364" cy="3680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906000" y="700980"/>
            <a:ext cx="1819275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6725" y="2520404"/>
          <a:ext cx="11258548" cy="2556123"/>
        </p:xfrm>
        <a:graphic>
          <a:graphicData uri="http://schemas.openxmlformats.org/drawingml/2006/table">
            <a:tbl>
              <a:tblPr/>
              <a:tblGrid>
                <a:gridCol w="1070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2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22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Supported Configuration Options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Space Grotesk"/>
                        </a:rPr>
                        <a:t>Engine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22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Inter"/>
                        </a:rPr>
                        <a:t>Chart 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Line with Markers, Simple Line, Smooth Line, Stepped Line, Simple Bar, Stacked Bar, Horizontal Bar, Simple Area, Stacked 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Renders via Matplotlib artists with custom smooth spline interpolation (make_interp_spline).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22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Inter"/>
                        </a:rPr>
                        <a:t>Y-Axis Controls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Primary Y-Axis, Secondary Y-Axis, Custom Min/Max bounds, Dynamic Auto-scaling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Independent twin axes (ax.twinx()) with isolated numeric limits.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224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Inter"/>
                        </a:rPr>
                        <a:t>Grid Lines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Major Grid, Major &amp; Minor, Horizontal Major, Vertical Major, 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Custom alpha styling (#e0e0e0) with automatic minor tick locators.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22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Inter"/>
                        </a:rPr>
                        <a:t>Legend Positions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Floating, Top, Right, Bottom, Left, Hidden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D1D5DB"/>
                          </a:solidFill>
                          <a:latin typeface="Inter"/>
                        </a:rPr>
                        <a:t>BBox anchor positioning with multi-column automatic legend layout.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0D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982200" y="720030"/>
            <a:ext cx="17621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kpi_trend_dialog_chart.py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52425"/>
            <a:ext cx="5786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STYLING OPTIONS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571500"/>
            <a:ext cx="6075759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Comprehensive Chart Styling Matrix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43837-94F7-900B-9A42-C2F55B90C0F6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306050" y="700980"/>
            <a:ext cx="1419225" cy="190500"/>
          </a:xfrm>
          <a:prstGeom prst="roundRect">
            <a:avLst>
              <a:gd name="adj" fmla="val 20000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6725" y="2854672"/>
            <a:ext cx="3600450" cy="1887735"/>
          </a:xfrm>
          <a:prstGeom prst="roundRect">
            <a:avLst>
              <a:gd name="adj" fmla="val 5045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5775" y="2854672"/>
            <a:ext cx="3600450" cy="1887735"/>
          </a:xfrm>
          <a:prstGeom prst="roundRect">
            <a:avLst>
              <a:gd name="adj" fmla="val 5045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24825" y="2951857"/>
            <a:ext cx="3600450" cy="1693366"/>
          </a:xfrm>
          <a:prstGeom prst="roundRect">
            <a:avLst>
              <a:gd name="adj" fmla="val 5624"/>
            </a:avLst>
          </a:prstGeom>
          <a:solidFill>
            <a:srgbClr val="0F1522"/>
          </a:solidFill>
          <a:ln w="9525">
            <a:solidFill>
              <a:srgbClr val="1F2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62950" y="4054822"/>
            <a:ext cx="885825" cy="190500"/>
          </a:xfrm>
          <a:prstGeom prst="roundRect">
            <a:avLst>
              <a:gd name="adj" fmla="val 20000"/>
            </a:avLst>
          </a:prstGeom>
          <a:solidFill>
            <a:srgbClr val="13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054697"/>
            <a:ext cx="1714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305469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3151882"/>
            <a:ext cx="2381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2250" y="720030"/>
            <a:ext cx="1362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QgsSettings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25" y="352425"/>
            <a:ext cx="5988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JetBrains Mono"/>
              </a:rPr>
              <a:t>INTERACTIVE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" y="571500"/>
            <a:ext cx="628828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Space Grotesk"/>
              </a:rPr>
              <a:t>Context Menu &amp; SHA-256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454747"/>
            <a:ext cx="4100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Right-Click Context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750022"/>
            <a:ext cx="321945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CA3AF"/>
                </a:solidFill>
                <a:latin typeface="Inter"/>
              </a:rPr>
              <a:t>Instant right-click menu on canvas providing quick shortcuts to change colors per series, swap chart types, re-position legends, or toggle grid styles on the fly.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900" y="3454747"/>
            <a:ext cx="4100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Hover Precision Tooltips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900" y="3750022"/>
            <a:ext cx="321945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CA3AF"/>
                </a:solidFill>
                <a:latin typeface="Inter"/>
              </a:rPr>
              <a:t>Real-time Matplotlib motion notification listener tracking coordinates across Line markers, Bar patches, and Area polygons to display instant metric tooltips.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2950" y="3551932"/>
            <a:ext cx="38290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SHA-256 Config 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2950" y="3847207"/>
            <a:ext cx="3219450" cy="597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9CA3AF"/>
                </a:solidFill>
                <a:latin typeface="Inter"/>
              </a:rPr>
              <a:t>Chart configurations automatically saved into using SHA-256 hash keys generated from title + SQL query string.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150" y="4073872"/>
            <a:ext cx="10191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 u="none">
                <a:solidFill>
                  <a:srgbClr val="38BDF8"/>
                </a:solidFill>
                <a:latin typeface="JetBrains Mono"/>
              </a:rPr>
              <a:t>QgsSettings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CFE256-2B07-F831-1FFE-9A9ABB73439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1063</Words>
  <Application>Microsoft Office PowerPoint</Application>
  <PresentationFormat>Widescreen</PresentationFormat>
  <Paragraphs>121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JetBrains Mono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4</cp:revision>
  <dcterms:created xsi:type="dcterms:W3CDTF">2013-01-27T09:14:16Z</dcterms:created>
  <dcterms:modified xsi:type="dcterms:W3CDTF">2026-10-25T06:15:48Z</dcterms:modified>
  <cp:category/>
</cp:coreProperties>
</file>