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/>
      <p:bold r:id="rId7"/>
    </p:embeddedFont>
    <p:embeddedFont>
      <p:font typeface="Space Grotesk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4090987"/>
            <a:ext cx="76200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090987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66700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7685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1957387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KRAKEN QGIS PLUGIN • USER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243137"/>
            <a:ext cx="10001250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sz="4500" b="1" i="0" u="none">
                <a:solidFill>
                  <a:srgbClr val="FFFFFF"/>
                </a:solidFill>
                <a:latin typeface="Space Grotesk"/>
              </a:rPr>
              <a:t>GCell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100387"/>
            <a:ext cx="6572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Inter"/>
              </a:rPr>
              <a:t>High-performance spatial sector geometry engine for large-scale RAN optimization and network visualization in QGIS.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05312"/>
            <a:ext cx="21907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Space Grotesk"/>
              </a:rPr>
              <a:t>600k+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738687"/>
            <a:ext cx="2190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B7280"/>
                </a:solidFill>
                <a:latin typeface="Inter"/>
              </a:rPr>
              <a:t>Rows Processed in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1325" y="4405312"/>
            <a:ext cx="248840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Space Grotesk"/>
              </a:rPr>
              <a:t>Multi-Engine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1325" y="4738687"/>
            <a:ext cx="248840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B7280"/>
                </a:solidFill>
                <a:latin typeface="Inter"/>
              </a:rPr>
              <a:t>PyArrow, Calamine &amp; GDAL C++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1175" y="4405312"/>
            <a:ext cx="232171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Space Grotesk"/>
              </a:rPr>
              <a:t>Auto-Styling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1175" y="4738687"/>
            <a:ext cx="23217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B7280"/>
                </a:solidFill>
                <a:latin typeface="Inter"/>
              </a:rPr>
              <a:t>GPKG &amp; Dynamic QML Export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2C51B9-45F9-8BC3-59BC-312D2BE5F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011" y="2490939"/>
            <a:ext cx="1219048" cy="12190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D7E433A-0CBA-6525-B427-5ACE642B60D3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78223"/>
            <a:ext cx="5324475" cy="1133475"/>
          </a:xfrm>
          <a:prstGeom prst="roundRect">
            <a:avLst>
              <a:gd name="adj" fmla="val 10084"/>
            </a:avLst>
          </a:prstGeom>
          <a:solidFill>
            <a:srgbClr val="0F1523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02198"/>
            <a:ext cx="5324475" cy="1133475"/>
          </a:xfrm>
          <a:prstGeom prst="roundRect">
            <a:avLst>
              <a:gd name="adj" fmla="val 10084"/>
            </a:avLst>
          </a:prstGeom>
          <a:solidFill>
            <a:srgbClr val="0F1523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26173"/>
            <a:ext cx="5324475" cy="1133475"/>
          </a:xfrm>
          <a:prstGeom prst="roundRect">
            <a:avLst>
              <a:gd name="adj" fmla="val 10084"/>
            </a:avLst>
          </a:prstGeom>
          <a:solidFill>
            <a:srgbClr val="0F1523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221634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3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540323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3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486429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3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582935"/>
            <a:ext cx="5343525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WORKFLOW PHASE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Space Grotesk"/>
              </a:rPr>
              <a:t>Data Ingestion &amp; Field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216348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3540323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4864298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1125" y="2216348"/>
            <a:ext cx="566320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Select Source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1125" y="2473523"/>
            <a:ext cx="44100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Load cellular dump data via </a:t>
            </a:r>
            <a:r>
              <a:rPr sz="1050" b="1" i="0" u="none">
                <a:solidFill>
                  <a:srgbClr val="38BDF8"/>
                </a:solidFill>
                <a:latin typeface="Inter"/>
              </a:rPr>
              <a:t>.csv</a:t>
            </a:r>
            <a:r>
              <a:rPr sz="1050" b="0" i="0" u="none">
                <a:solidFill>
                  <a:srgbClr val="9CA3AF"/>
                </a:solidFill>
                <a:latin typeface="Inter"/>
              </a:rPr>
              <a:t> or </a:t>
            </a:r>
            <a:r>
              <a:rPr sz="1050" b="1" i="0" u="none">
                <a:solidFill>
                  <a:srgbClr val="38BDF8"/>
                </a:solidFill>
                <a:latin typeface="Inter"/>
              </a:rPr>
              <a:t>.xlsx</a:t>
            </a:r>
            <a:r>
              <a:rPr sz="1050" b="0" i="0" u="none">
                <a:solidFill>
                  <a:srgbClr val="9CA3AF"/>
                </a:solidFill>
                <a:latin typeface="Inter"/>
              </a:rPr>
              <a:t>. Accelerated by PyArrow C-Engine and Rust Calamine parser.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125" y="3540323"/>
            <a:ext cx="566320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Set Coordinates &amp; Azimuth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1125" y="3797498"/>
            <a:ext cx="44100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Map </a:t>
            </a:r>
            <a:r>
              <a:rPr sz="1050" b="1" i="0" u="none">
                <a:solidFill>
                  <a:srgbClr val="9CA3AF"/>
                </a:solidFill>
                <a:latin typeface="Inter"/>
              </a:rPr>
              <a:t>Longitude</a:t>
            </a:r>
            <a:r>
              <a:rPr sz="1050" b="0" i="0" u="none">
                <a:solidFill>
                  <a:srgbClr val="9CA3AF"/>
                </a:solidFill>
                <a:latin typeface="Inter"/>
              </a:rPr>
              <a:t>, </a:t>
            </a:r>
            <a:r>
              <a:rPr sz="1050" b="1" i="0" u="none">
                <a:solidFill>
                  <a:srgbClr val="9CA3AF"/>
                </a:solidFill>
                <a:latin typeface="Inter"/>
              </a:rPr>
              <a:t>Latitude</a:t>
            </a:r>
            <a:r>
              <a:rPr sz="1050" b="0" i="0" u="none">
                <a:solidFill>
                  <a:srgbClr val="9CA3AF"/>
                </a:solidFill>
                <a:latin typeface="Inter"/>
              </a:rPr>
              <a:t>, and orientation columns (</a:t>
            </a:r>
            <a:r>
              <a:rPr sz="1050" b="1" i="0" u="none">
                <a:solidFill>
                  <a:srgbClr val="9CA3AF"/>
                </a:solidFill>
                <a:latin typeface="Inter"/>
              </a:rPr>
              <a:t>Dir</a:t>
            </a:r>
            <a:r>
              <a:rPr sz="1050" b="0" i="0" u="none">
                <a:solidFill>
                  <a:srgbClr val="9CA3AF"/>
                </a:solidFill>
                <a:latin typeface="Inter"/>
              </a:rPr>
              <a:t> &amp; </a:t>
            </a:r>
            <a:r>
              <a:rPr sz="1050" b="1" i="0" u="none">
                <a:solidFill>
                  <a:srgbClr val="9CA3AF"/>
                </a:solidFill>
                <a:latin typeface="Inter"/>
              </a:rPr>
              <a:t>Logical Dir</a:t>
            </a:r>
            <a:r>
              <a:rPr sz="1050" b="0" i="0" u="none">
                <a:solidFill>
                  <a:srgbClr val="9CA3AF"/>
                </a:solidFill>
                <a:latin typeface="Inter"/>
              </a:rPr>
              <a:t> with automatic fallback logic).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1125" y="4864298"/>
            <a:ext cx="566320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Designate Layer 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1125" y="5121473"/>
            <a:ext cx="44100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Select the </a:t>
            </a:r>
            <a:r>
              <a:rPr sz="1050" b="1" i="0" u="none">
                <a:solidFill>
                  <a:srgbClr val="9CA3AF"/>
                </a:solidFill>
                <a:latin typeface="Inter"/>
              </a:rPr>
              <a:t>Band</a:t>
            </a:r>
            <a:r>
              <a:rPr sz="1050" b="0" i="0" u="none">
                <a:solidFill>
                  <a:srgbClr val="9CA3AF"/>
                </a:solidFill>
                <a:latin typeface="Inter"/>
              </a:rPr>
              <a:t> column to trigger automatic distinct value scanning for multi-layer sector customization.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F527FB-089A-B000-E351-7EC5A28C7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9" y="1678154"/>
            <a:ext cx="4105275" cy="4369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7FD824-622A-B077-B543-22803C2580F2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421385"/>
            <a:ext cx="10972800" cy="866775"/>
          </a:xfrm>
          <a:prstGeom prst="roundRect">
            <a:avLst>
              <a:gd name="adj" fmla="val 13186"/>
            </a:avLst>
          </a:prstGeom>
          <a:solidFill>
            <a:srgbClr val="0D131F"/>
          </a:solidFill>
          <a:ln w="9525">
            <a:solidFill>
              <a:srgbClr val="194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49710"/>
            <a:ext cx="3505200" cy="1743075"/>
          </a:xfrm>
          <a:prstGeom prst="roundRect">
            <a:avLst>
              <a:gd name="adj" fmla="val 6557"/>
            </a:avLst>
          </a:prstGeom>
          <a:solidFill>
            <a:srgbClr val="0F1523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449710"/>
            <a:ext cx="3505200" cy="1743075"/>
          </a:xfrm>
          <a:prstGeom prst="roundRect">
            <a:avLst>
              <a:gd name="adj" fmla="val 6557"/>
            </a:avLst>
          </a:prstGeom>
          <a:solidFill>
            <a:srgbClr val="0F1523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449710"/>
            <a:ext cx="3505200" cy="1743075"/>
          </a:xfrm>
          <a:prstGeom prst="roundRect">
            <a:avLst>
              <a:gd name="adj" fmla="val 6557"/>
            </a:avLst>
          </a:prstGeom>
          <a:solidFill>
            <a:srgbClr val="0F1523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429875" y="4730948"/>
            <a:ext cx="914400" cy="247650"/>
          </a:xfrm>
          <a:prstGeom prst="roundRect">
            <a:avLst>
              <a:gd name="adj" fmla="val 23076"/>
            </a:avLst>
          </a:prstGeom>
          <a:solidFill>
            <a:srgbClr val="112435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706885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706885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706885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WORKFLOW PHASE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Space Grotesk"/>
              </a:rPr>
              <a:t>Sector Geometry &amp; Symbology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25125" y="4769048"/>
            <a:ext cx="819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Space Grotesk"/>
              </a:rPr>
              <a:t>Auto-Z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07836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Coverage Radius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354585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Specify radius in meters per frequency band to visualize cell coverage boundaries effectively.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078360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Beamwidth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354585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Set horizontal aperture width in degrees. Macro cells generate pie wedges; PICO sites form full circles.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078360"/>
            <a:ext cx="3876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Layer Palette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354585"/>
            <a:ext cx="31242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Customize hex fill colors for each band using integrated QGIS color buttons with HSV auto-distribution.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659510"/>
            <a:ext cx="1036379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Automated Plot Ordering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888110"/>
            <a:ext cx="9870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CA3AF"/>
                </a:solidFill>
                <a:latin typeface="Inter"/>
              </a:rPr>
              <a:t>Bands are automatically assigned rendering priority to prevent smaller frequency sectors from being hidden under larger ones.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26D45B-034D-C66A-85C5-0405ED0D1188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57925" y="1916310"/>
            <a:ext cx="5324475" cy="1200150"/>
          </a:xfrm>
          <a:prstGeom prst="roundRect">
            <a:avLst>
              <a:gd name="adj" fmla="val 9523"/>
            </a:avLst>
          </a:prstGeom>
          <a:solidFill>
            <a:srgbClr val="0F1523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7925" y="3268860"/>
            <a:ext cx="5324475" cy="1200150"/>
          </a:xfrm>
          <a:prstGeom prst="roundRect">
            <a:avLst>
              <a:gd name="adj" fmla="val 9523"/>
            </a:avLst>
          </a:prstGeom>
          <a:solidFill>
            <a:srgbClr val="0F1523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7925" y="4621410"/>
            <a:ext cx="5324475" cy="1200150"/>
          </a:xfrm>
          <a:prstGeom prst="roundRect">
            <a:avLst>
              <a:gd name="adj" fmla="val 9523"/>
            </a:avLst>
          </a:prstGeom>
          <a:solidFill>
            <a:srgbClr val="0F1523"/>
          </a:solidFill>
          <a:ln w="9525">
            <a:solidFill>
              <a:srgbClr val="1432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363200" y="2154435"/>
            <a:ext cx="981075" cy="247650"/>
          </a:xfrm>
          <a:prstGeom prst="roundRect">
            <a:avLst>
              <a:gd name="adj" fmla="val 23076"/>
            </a:avLst>
          </a:prstGeom>
          <a:solidFill>
            <a:srgbClr val="132638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20275" y="3506985"/>
            <a:ext cx="1524000" cy="247650"/>
          </a:xfrm>
          <a:prstGeom prst="roundRect">
            <a:avLst>
              <a:gd name="adj" fmla="val 23076"/>
            </a:avLst>
          </a:prstGeom>
          <a:solidFill>
            <a:srgbClr val="132638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48900" y="4859535"/>
            <a:ext cx="1095375" cy="247650"/>
          </a:xfrm>
          <a:prstGeom prst="roundRect">
            <a:avLst>
              <a:gd name="adj" fmla="val 23076"/>
            </a:avLst>
          </a:prstGeom>
          <a:solidFill>
            <a:srgbClr val="132638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82935"/>
            <a:ext cx="5343525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WORKFLOW PHASE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Space Grotesk"/>
              </a:rPr>
              <a:t>Generation &amp; Spatial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2478285"/>
            <a:ext cx="4943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Outputs high-performance spatial databases with native C++ bulk transactions and auto-generated spatial indexes.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3830835"/>
            <a:ext cx="4943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Creates paired QML style files matching configured band colors, opacity settings, and rendering order rules.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5183385"/>
            <a:ext cx="4943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Instantly imports structured vector layers into the active QGIS project canvas upon completion.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2183010"/>
            <a:ext cx="263782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GeoPackage Export (.gpkg)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8450" y="2192535"/>
            <a:ext cx="8858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Space Grotesk"/>
              </a:rPr>
              <a:t>Spatial 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6050" y="3535560"/>
            <a:ext cx="247530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Style File Generator (.qml)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5525" y="3545085"/>
            <a:ext cx="14287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Space Grotesk"/>
              </a:rPr>
              <a:t>Categorized Symbology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6050" y="4888110"/>
            <a:ext cx="23002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Automatic Canvas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44150" y="4897635"/>
            <a:ext cx="10001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Space Grotesk"/>
              </a:rPr>
              <a:t>QGIS Integration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1712C3-F450-5636-536C-9EBAF99C4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242" y="1719389"/>
            <a:ext cx="4542957" cy="43704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007F19-F90B-E401-B9E9-E1E3E1A09063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771775"/>
            <a:ext cx="3022550" cy="1885950"/>
          </a:xfrm>
          <a:prstGeom prst="roundRect">
            <a:avLst>
              <a:gd name="adj" fmla="val 6060"/>
            </a:avLst>
          </a:prstGeom>
          <a:solidFill>
            <a:srgbClr val="101826"/>
          </a:solidFill>
          <a:ln w="9525">
            <a:solidFill>
              <a:srgbClr val="163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84650" y="2771775"/>
            <a:ext cx="3022550" cy="1885950"/>
          </a:xfrm>
          <a:prstGeom prst="roundRect">
            <a:avLst>
              <a:gd name="adj" fmla="val 6060"/>
            </a:avLst>
          </a:prstGeom>
          <a:solidFill>
            <a:srgbClr val="101826"/>
          </a:solidFill>
          <a:ln w="9525">
            <a:solidFill>
              <a:srgbClr val="163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35800" y="2771775"/>
            <a:ext cx="3022550" cy="1885950"/>
          </a:xfrm>
          <a:prstGeom prst="roundRect">
            <a:avLst>
              <a:gd name="adj" fmla="val 6060"/>
            </a:avLst>
          </a:prstGeom>
          <a:solidFill>
            <a:srgbClr val="101826"/>
          </a:solidFill>
          <a:ln w="9525">
            <a:solidFill>
              <a:srgbClr val="1639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3028950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775" y="302895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3028950"/>
            <a:ext cx="2190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-381000" y="1581150"/>
            <a:ext cx="12954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Space Grotesk"/>
              </a:rPr>
              <a:t>SUMMARY &amp; PERFORMANCE TIPS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1905000"/>
            <a:ext cx="12954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FFFFF"/>
                </a:solidFill>
                <a:latin typeface="Space Grotesk"/>
              </a:rPr>
              <a:t>Optimization Best Practices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81000" y="5114925"/>
            <a:ext cx="12954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B7280"/>
                </a:solidFill>
                <a:latin typeface="Inter"/>
              </a:rPr>
              <a:t>Kraken QGIS RAN Optimization Plugin • GCell Module Engine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1625" y="3352800"/>
            <a:ext cx="334201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Use CSV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1625" y="3619500"/>
            <a:ext cx="26415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For massive dumps exceeding 500k rows, convert .xlsx to .csv to leverage multi-threaded PyArrow processing.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2775" y="3352800"/>
            <a:ext cx="334201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Direction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2775" y="3619500"/>
            <a:ext cx="26415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Logical Dir is prioritized over physical Dir. Missing azimuths automatically default to 0.0° North orientation.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3925" y="3352800"/>
            <a:ext cx="334201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PICO Cell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3925" y="3619500"/>
            <a:ext cx="26415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Omni-directional PICO sites automatically render as centered circular geometries and take top rendering priority.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574D2A-2C10-36EF-3AE2-77FAD2102D22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398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Inter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4</cp:revision>
  <dcterms:created xsi:type="dcterms:W3CDTF">2013-01-27T09:14:16Z</dcterms:created>
  <dcterms:modified xsi:type="dcterms:W3CDTF">2026-10-25T01:52:01Z</dcterms:modified>
  <cp:category/>
</cp:coreProperties>
</file>