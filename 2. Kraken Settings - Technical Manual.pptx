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</p:sldIdLst>
  <p:sldSz cx="12192000" cy="6858000"/>
  <p:notesSz cx="6858000" cy="9144000"/>
  <p:embeddedFontLst>
    <p:embeddedFont>
      <p:font typeface="JetBrains Mono"/>
      <p:bold r:id="rId17"/>
    </p:embeddedFont>
    <p:embeddedFont>
      <p:font typeface="Space Grotesk"/>
      <p:bold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9125" y="4274790"/>
            <a:ext cx="4171950" cy="809625"/>
          </a:xfrm>
          <a:prstGeom prst="roundRect">
            <a:avLst>
              <a:gd name="adj" fmla="val 9411"/>
            </a:avLst>
          </a:prstGeom>
          <a:solidFill>
            <a:srgbClr val="0B1722"/>
          </a:solidFill>
          <a:ln w="9525">
            <a:solidFill>
              <a:srgbClr val="0A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19675" y="4274790"/>
            <a:ext cx="4171950" cy="809625"/>
          </a:xfrm>
          <a:prstGeom prst="roundRect">
            <a:avLst>
              <a:gd name="adj" fmla="val 9411"/>
            </a:avLst>
          </a:prstGeom>
          <a:solidFill>
            <a:srgbClr val="0C181C"/>
          </a:solidFill>
          <a:ln w="9525">
            <a:solidFill>
              <a:srgbClr val="10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125" y="1754534"/>
            <a:ext cx="6160770" cy="1215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sz="4350" b="1" i="0" u="none">
                <a:solidFill>
                  <a:srgbClr val="FFFFFF"/>
                </a:solidFill>
                <a:latin typeface="Space Grotesk"/>
              </a:rPr>
              <a:t>Kraken Settings</a:t>
            </a:r>
            <a:r>
              <a:t>
</a:t>
            </a:r>
            <a:r>
              <a:rPr sz="4350" b="1" i="0" u="none">
                <a:solidFill>
                  <a:srgbClr val="06B6D4"/>
                </a:solidFill>
                <a:latin typeface="Space Grotesk"/>
              </a:rPr>
              <a:t>Technical User Manual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" y="3122265"/>
            <a:ext cx="6572250" cy="494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94A3B8"/>
                </a:solidFill>
                <a:latin typeface="Space Grotesk"/>
              </a:rPr>
              <a:t>Comprehensive operational reference &amp; technical specification for the Kraken Core Settings Architecture.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4474815"/>
            <a:ext cx="4714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CORE MODULE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4665315"/>
            <a:ext cx="47148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Space Grotesk"/>
              </a:rPr>
              <a:t>SettingDialog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9700" y="4474815"/>
            <a:ext cx="4714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SUPPORTED DATA LAKES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9700" y="4665315"/>
            <a:ext cx="47148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ADE80"/>
                </a:solidFill>
                <a:latin typeface="Space Grotesk"/>
              </a:rPr>
              <a:t>DuckDB &amp; PostgreSQL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945E07-10CB-AA15-3B4C-6165EF6FBB1E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92558A-7623-7B40-5D6F-1CE1CAD58713}"/>
              </a:ext>
            </a:extLst>
          </p:cNvPr>
          <p:cNvSpPr txBox="1"/>
          <p:nvPr/>
        </p:nvSpPr>
        <p:spPr>
          <a:xfrm>
            <a:off x="609600" y="1529193"/>
            <a:ext cx="9525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8BDF8"/>
                </a:solidFill>
                <a:latin typeface="Space Grotesk"/>
              </a:rPr>
              <a:t>KRAKEN QGIS PLUGIN • USER MANUAL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7185489-0E07-33CC-F90A-37D446B7D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8301" y="1614918"/>
            <a:ext cx="1219048" cy="1219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19125" y="3351609"/>
            <a:ext cx="10953750" cy="1962150"/>
          </a:xfrm>
          <a:prstGeom prst="roundRect">
            <a:avLst>
              <a:gd name="adj" fmla="val 3883"/>
            </a:avLst>
          </a:prstGeom>
          <a:solidFill>
            <a:srgbClr val="050913"/>
          </a:solidFill>
          <a:ln w="9525">
            <a:solidFill>
              <a:srgbClr val="0A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" y="2119312"/>
            <a:ext cx="2624137" cy="1041796"/>
          </a:xfrm>
          <a:prstGeom prst="roundRect">
            <a:avLst>
              <a:gd name="adj" fmla="val 7314"/>
            </a:avLst>
          </a:prstGeom>
          <a:solidFill>
            <a:srgbClr val="0E1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395662" y="2119312"/>
            <a:ext cx="2624137" cy="1041796"/>
          </a:xfrm>
          <a:prstGeom prst="roundRect">
            <a:avLst>
              <a:gd name="adj" fmla="val 7314"/>
            </a:avLst>
          </a:prstGeom>
          <a:solidFill>
            <a:srgbClr val="0E1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72200" y="2119312"/>
            <a:ext cx="2624137" cy="1041796"/>
          </a:xfrm>
          <a:prstGeom prst="roundRect">
            <a:avLst>
              <a:gd name="adj" fmla="val 7314"/>
            </a:avLst>
          </a:prstGeom>
          <a:solidFill>
            <a:srgbClr val="0E1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948737" y="2119312"/>
            <a:ext cx="2624137" cy="1041796"/>
          </a:xfrm>
          <a:prstGeom prst="roundRect">
            <a:avLst>
              <a:gd name="adj" fmla="val 7314"/>
            </a:avLst>
          </a:prstGeom>
          <a:solidFill>
            <a:srgbClr val="0E1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125" y="3151584"/>
            <a:ext cx="262413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125" y="2119312"/>
            <a:ext cx="262413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125" y="2119312"/>
            <a:ext cx="28575" cy="10417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33737" y="2119312"/>
            <a:ext cx="9525" cy="10417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95662" y="3151584"/>
            <a:ext cx="262413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95662" y="2119312"/>
            <a:ext cx="262413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95662" y="2119312"/>
            <a:ext cx="28575" cy="10417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10275" y="2119312"/>
            <a:ext cx="9525" cy="10417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3151584"/>
            <a:ext cx="262413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2119312"/>
            <a:ext cx="262413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2119312"/>
            <a:ext cx="28575" cy="10417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786812" y="2119312"/>
            <a:ext cx="9525" cy="10417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48737" y="3151584"/>
            <a:ext cx="262413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48737" y="2119312"/>
            <a:ext cx="262413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48737" y="2119312"/>
            <a:ext cx="28575" cy="10417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1563350" y="2119312"/>
            <a:ext cx="9525" cy="10417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19150" y="3799284"/>
            <a:ext cx="5305425" cy="1314450"/>
          </a:xfrm>
          <a:prstGeom prst="roundRect">
            <a:avLst>
              <a:gd name="adj" fmla="val 4347"/>
            </a:avLst>
          </a:prstGeom>
          <a:solidFill>
            <a:srgbClr val="030712"/>
          </a:solidFill>
          <a:ln w="9525">
            <a:solidFill>
              <a:srgbClr val="05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45" y="485775"/>
            <a:ext cx="171450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3570684"/>
            <a:ext cx="114300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343150"/>
            <a:ext cx="152400" cy="152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4737" y="2343150"/>
            <a:ext cx="152400" cy="1524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275" y="2343150"/>
            <a:ext cx="133350" cy="1524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812" y="2343150"/>
            <a:ext cx="152400" cy="1524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66775" y="466725"/>
            <a:ext cx="11325225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6B6D4"/>
                </a:solidFill>
                <a:latin typeface="JetBrains Mono"/>
              </a:rPr>
              <a:t>ARCHITECTURE OVERVIEW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125" y="742950"/>
            <a:ext cx="11572875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8FAFC"/>
                </a:solidFill>
                <a:latin typeface="Space Grotesk"/>
              </a:rPr>
              <a:t>SettingDialog Structural Flow &amp; Modular Design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9150" y="3551634"/>
            <a:ext cx="11372850" cy="171450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pace Grotesk"/>
              </a:rPr>
              <a:t>Inter-Tab Signal Propagation Architecture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5850" y="2319337"/>
            <a:ext cx="2508646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Tab 1: Main GCELL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2614612"/>
            <a:ext cx="2300287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Space Grotesk"/>
              </a:rPr>
              <a:t>Primary cell layer binding &amp; LTC threshold bounds mapping.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62387" y="2319337"/>
            <a:ext cx="2508646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Tab 2: Route Path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4737" y="2614612"/>
            <a:ext cx="2300287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Space Grotesk"/>
              </a:rPr>
              <a:t>Drive test trajectory mapping &amp; spatial topology toggles.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19875" y="2319337"/>
            <a:ext cx="2527696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Tab 3: KPI Setting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1275" y="2614612"/>
            <a:ext cx="2300287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Space Grotesk"/>
              </a:rPr>
              <a:t>DuckDB &amp; PostgreSQL analytical engine query builder.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5462" y="2319337"/>
            <a:ext cx="2508646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Tab 4: Other / MR Spider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67812" y="2614612"/>
            <a:ext cx="2300287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Space Grotesk"/>
              </a:rPr>
              <a:t>Line of Sight (LOS) profile &amp; Measurement Report vectorization.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2500" y="3932634"/>
            <a:ext cx="5133975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A5F3FC"/>
                </a:solidFill>
                <a:latin typeface="JetBrains Mono"/>
              </a:rPr>
              <a:t>self.tab_gcell.layer_changed_signal.connect( self.tab_kpi.set_main_gcell_fields ) self.tab_gcell.layer_changed_signal.connect( self.tab_other.set_main_gcell_fields 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3175" y="4085034"/>
            <a:ext cx="511492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Space Grotesk"/>
              </a:rPr>
              <a:t>• Dynamically refreshes </a:t>
            </a:r>
            <a:r>
              <a:rPr sz="975" b="0" i="0" u="none">
                <a:solidFill>
                  <a:srgbClr val="38BDF8"/>
                </a:solidFill>
                <a:latin typeface="Space Grotesk"/>
              </a:rPr>
              <a:t>Main_GCell Lookups</a:t>
            </a:r>
            <a:r>
              <a:rPr sz="975" b="0" i="0" u="none">
                <a:solidFill>
                  <a:srgbClr val="CBD5E1"/>
                </a:solidFill>
                <a:latin typeface="Space Grotesk"/>
              </a:rPr>
              <a:t> inside Tab 3 (KPI) whenever active GIS layer switches.</a:t>
            </a:r>
            <a:r>
              <a:t>
</a:t>
            </a:r>
            <a:r>
              <a:rPr sz="975" b="0" i="0" u="none">
                <a:solidFill>
                  <a:srgbClr val="CBD5E1"/>
                </a:solidFill>
                <a:latin typeface="Space Grotesk"/>
              </a:rPr>
              <a:t> • Automatically propagates spatial schema updates to Tab 4 for MR Spider vector calculation.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3924DED-4F5D-5F02-14A7-3791B9A2C414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82755" y="2084189"/>
            <a:ext cx="4290119" cy="1041796"/>
          </a:xfrm>
          <a:prstGeom prst="roundRect">
            <a:avLst>
              <a:gd name="adj" fmla="val 7314"/>
            </a:avLst>
          </a:prstGeom>
          <a:solidFill>
            <a:srgbClr val="0E1525"/>
          </a:solidFill>
          <a:ln w="9525">
            <a:solidFill>
              <a:srgbClr val="232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282755" y="3259335"/>
            <a:ext cx="4290119" cy="1041796"/>
          </a:xfrm>
          <a:prstGeom prst="roundRect">
            <a:avLst>
              <a:gd name="adj" fmla="val 7314"/>
            </a:avLst>
          </a:prstGeom>
          <a:solidFill>
            <a:srgbClr val="0E1525"/>
          </a:solidFill>
          <a:ln w="9525">
            <a:solidFill>
              <a:srgbClr val="232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282755" y="4434482"/>
            <a:ext cx="4290119" cy="914400"/>
          </a:xfrm>
          <a:prstGeom prst="roundRect">
            <a:avLst>
              <a:gd name="adj" fmla="val 8333"/>
            </a:avLst>
          </a:prstGeom>
          <a:solidFill>
            <a:srgbClr val="0B1722"/>
          </a:solidFill>
          <a:ln w="9525">
            <a:solidFill>
              <a:srgbClr val="0A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45" y="485775"/>
            <a:ext cx="161925" cy="1238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1432470"/>
            <a:ext cx="6435030" cy="4568279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2780" y="2308026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2780" y="3483173"/>
            <a:ext cx="1524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7250" y="466725"/>
            <a:ext cx="11334750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6B6D4"/>
                </a:solidFill>
                <a:latin typeface="JetBrains Mono"/>
              </a:rPr>
              <a:t>INTERFACE SPECIFICATION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" y="742950"/>
            <a:ext cx="11572875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8FAFC"/>
                </a:solidFill>
                <a:latin typeface="Space Grotesk"/>
              </a:rPr>
              <a:t>Tab 1 UI: Main GCELL Setting 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30430" y="2284214"/>
            <a:ext cx="4461569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Field Selection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82780" y="2579489"/>
            <a:ext cx="3985319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Space Grotesk"/>
              </a:rPr>
              <a:t>Allows explicit binding of Sector Layer, Site ID, Sector ID, Latitude, Longitude, Azimuth, and Tilt columns.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0430" y="3459360"/>
            <a:ext cx="4461569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LTC Threshold Limits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2780" y="3754635"/>
            <a:ext cx="3985319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Space Grotesk"/>
              </a:rPr>
              <a:t>Configures operational bounds for coordinates, orientation, and mechanical tilt verification during optimization runs.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2780" y="4634507"/>
            <a:ext cx="470921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6B6D4"/>
                </a:solidFill>
                <a:latin typeface="Space Grotesk"/>
              </a:rPr>
              <a:t>AUTOMATION FEATURE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2780" y="4825007"/>
            <a:ext cx="3985319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E2E8F0"/>
                </a:solidFill>
                <a:latin typeface="Space Grotesk"/>
              </a:rPr>
              <a:t>Triggers </a:t>
            </a:r>
            <a:r>
              <a:rPr sz="975" b="0" i="0" u="none">
                <a:solidFill>
                  <a:srgbClr val="38BDF8"/>
                </a:solidFill>
                <a:latin typeface="Space Grotesk"/>
              </a:rPr>
              <a:t>populate_layers_silent()</a:t>
            </a:r>
            <a:r>
              <a:rPr sz="975" b="0" i="0" u="none">
                <a:solidFill>
                  <a:srgbClr val="E2E8F0"/>
                </a:solidFill>
                <a:latin typeface="Space Grotesk"/>
              </a:rPr>
              <a:t> on dialog load to auto-detect matching attribute names.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5C39B4-7B46-1753-AA9E-15A6BE26EDDE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9125" y="2447925"/>
            <a:ext cx="2127646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6771" y="2447925"/>
            <a:ext cx="1183183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929955" y="2447925"/>
            <a:ext cx="247516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5116" y="2447925"/>
            <a:ext cx="5167758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9125" y="4291012"/>
            <a:ext cx="5400675" cy="1041796"/>
          </a:xfrm>
          <a:prstGeom prst="roundRect">
            <a:avLst>
              <a:gd name="adj" fmla="val 7314"/>
            </a:avLst>
          </a:prstGeom>
          <a:solidFill>
            <a:srgbClr val="0E1525"/>
          </a:solidFill>
          <a:ln w="9525">
            <a:solidFill>
              <a:srgbClr val="232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4291012"/>
            <a:ext cx="5400675" cy="1041796"/>
          </a:xfrm>
          <a:prstGeom prst="roundRect">
            <a:avLst>
              <a:gd name="adj" fmla="val 7314"/>
            </a:avLst>
          </a:prstGeom>
          <a:solidFill>
            <a:srgbClr val="0E1525"/>
          </a:solidFill>
          <a:ln w="9525">
            <a:solidFill>
              <a:srgbClr val="232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125" y="2857500"/>
            <a:ext cx="212764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6771" y="2857500"/>
            <a:ext cx="1183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929955" y="2857500"/>
            <a:ext cx="247516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5116" y="2857500"/>
            <a:ext cx="516775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125" y="3267075"/>
            <a:ext cx="212764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6771" y="3267075"/>
            <a:ext cx="1183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929955" y="3267075"/>
            <a:ext cx="247516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5116" y="3267075"/>
            <a:ext cx="516775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9125" y="3676650"/>
            <a:ext cx="212764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6771" y="3676650"/>
            <a:ext cx="1183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929955" y="3676650"/>
            <a:ext cx="247516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5116" y="3676650"/>
            <a:ext cx="516775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9125" y="4086225"/>
            <a:ext cx="212764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6771" y="4086225"/>
            <a:ext cx="1183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929955" y="4086225"/>
            <a:ext cx="247516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5116" y="4086225"/>
            <a:ext cx="516775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880121" y="2557462"/>
            <a:ext cx="571500" cy="209550"/>
          </a:xfrm>
          <a:prstGeom prst="roundRect">
            <a:avLst>
              <a:gd name="adj" fmla="val 18181"/>
            </a:avLst>
          </a:prstGeom>
          <a:solidFill>
            <a:srgbClr val="0A2835"/>
          </a:solidFill>
          <a:ln w="9525">
            <a:solidFill>
              <a:srgbClr val="0A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880121" y="2967037"/>
            <a:ext cx="571500" cy="209550"/>
          </a:xfrm>
          <a:prstGeom prst="roundRect">
            <a:avLst>
              <a:gd name="adj" fmla="val 18181"/>
            </a:avLst>
          </a:prstGeom>
          <a:solidFill>
            <a:srgbClr val="0A2835"/>
          </a:solidFill>
          <a:ln w="9525">
            <a:solidFill>
              <a:srgbClr val="0A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880121" y="3376612"/>
            <a:ext cx="571500" cy="209550"/>
          </a:xfrm>
          <a:prstGeom prst="roundRect">
            <a:avLst>
              <a:gd name="adj" fmla="val 18181"/>
            </a:avLst>
          </a:prstGeom>
          <a:solidFill>
            <a:srgbClr val="0A2835"/>
          </a:solidFill>
          <a:ln w="9525">
            <a:solidFill>
              <a:srgbClr val="0A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880121" y="3786187"/>
            <a:ext cx="438150" cy="209550"/>
          </a:xfrm>
          <a:prstGeom prst="roundRect">
            <a:avLst>
              <a:gd name="adj" fmla="val 18181"/>
            </a:avLst>
          </a:prstGeom>
          <a:solidFill>
            <a:srgbClr val="0A2835"/>
          </a:solidFill>
          <a:ln w="9525">
            <a:solidFill>
              <a:srgbClr val="0A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45" y="485775"/>
            <a:ext cx="142875" cy="1238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4514850"/>
            <a:ext cx="190500" cy="1524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5" y="4514850"/>
            <a:ext cx="152400" cy="152400"/>
          </a:xfrm>
          <a:prstGeom prst="rect">
            <a:avLst/>
          </a:prstGeom>
        </p:spPr>
      </p:pic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19125" y="2100262"/>
          <a:ext cx="10953747" cy="2000250"/>
        </p:xfrm>
        <a:graphic>
          <a:graphicData uri="http://schemas.openxmlformats.org/drawingml/2006/table">
            <a:tbl>
              <a:tblPr/>
              <a:tblGrid>
                <a:gridCol w="2127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1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5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677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8BDF8"/>
                          </a:solidFill>
                          <a:latin typeface="JetBrains Mono"/>
                        </a:rPr>
                        <a:t>Setting Key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8BDF8"/>
                          </a:solidFill>
                          <a:latin typeface="JetBrains Mono"/>
                        </a:rPr>
                        <a:t>Data 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8BDF8"/>
                          </a:solidFill>
                          <a:latin typeface="JetBrains Mono"/>
                        </a:rPr>
                        <a:t>Target UI Element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8BDF8"/>
                          </a:solidFill>
                          <a:latin typeface="JetBrains Mono"/>
                        </a:rPr>
                        <a:t>Description &amp; Operational Impact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8BDF8"/>
                          </a:solidFill>
                          <a:latin typeface="JetBrains Mono"/>
                        </a:rPr>
                        <a:t>main_gcell_layer_id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cmb_main_gcell_layer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Unique QGIS vector layer ID containing sector geometry.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8BDF8"/>
                          </a:solidFill>
                          <a:latin typeface="JetBrains Mono"/>
                        </a:rPr>
                        <a:t>field_cellid / siteid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cmb_field_cellid / siteid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Maps GIS attribute fields to primary cell/site spatial identifiers.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8BDF8"/>
                          </a:solidFill>
                          <a:latin typeface="JetBrains Mono"/>
                        </a:rPr>
                        <a:t>field_azimuth / tilt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cmb_field_azimuth / tilt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Directs spatial wedge orientation and beam rendering parameters.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8BDF8"/>
                          </a:solidFill>
                          <a:latin typeface="JetBrains Mono"/>
                        </a:rPr>
                        <a:t>ltc_thresholds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spn_ltc_* controls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Enforces min/max lat/lon and orientation thresholds for network sanity.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838200" y="466725"/>
            <a:ext cx="11353800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6B6D4"/>
                </a:solidFill>
                <a:latin typeface="JetBrains Mono"/>
              </a:rPr>
              <a:t>TAB 1 CONFIGURATION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125" y="742950"/>
            <a:ext cx="11572875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8FAFC"/>
                </a:solidFill>
                <a:latin typeface="Space Grotesk"/>
              </a:rPr>
              <a:t>Main GCELL Setting &amp; Attribute Binding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4900" y="4491037"/>
            <a:ext cx="5965031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GCELL Layer Binding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150" y="4786312"/>
            <a:ext cx="50958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Space Grotesk"/>
              </a:rPr>
              <a:t>Binds active QGIS vector layers containing cell sector geometry. Establishes primary spatial identifiers for downstream spatial handovers.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19875" y="4491037"/>
            <a:ext cx="557212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Automated Schema Population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2225" y="4786312"/>
            <a:ext cx="50958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Space Grotesk"/>
              </a:rPr>
              <a:t>Auto-scans attribute tables for standard terms (e.g. </a:t>
            </a:r>
            <a:r>
              <a:rPr sz="975" b="0" i="0" u="none">
                <a:solidFill>
                  <a:srgbClr val="38BDF8"/>
                </a:solidFill>
                <a:latin typeface="Space Grotesk"/>
              </a:rPr>
              <a:t>azimuth, beamwidth, site_id</a:t>
            </a:r>
            <a:r>
              <a:rPr sz="975" b="0" i="0" u="none">
                <a:solidFill>
                  <a:srgbClr val="94A3B8"/>
                </a:solidFill>
                <a:latin typeface="Space Grotesk"/>
              </a:rPr>
              <a:t>) to eliminate manual entry errors.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56321" y="2586037"/>
            <a:ext cx="514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22D3EE"/>
                </a:solidFill>
                <a:latin typeface="JetBrains Mono"/>
              </a:rPr>
              <a:t>String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56321" y="2995612"/>
            <a:ext cx="514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22D3EE"/>
                </a:solidFill>
                <a:latin typeface="JetBrains Mono"/>
              </a:rPr>
              <a:t>String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56321" y="3405187"/>
            <a:ext cx="514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22D3EE"/>
                </a:solidFill>
                <a:latin typeface="JetBrains Mono"/>
              </a:rPr>
              <a:t>String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56321" y="3814762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22D3EE"/>
                </a:solidFill>
                <a:latin typeface="JetBrains Mono"/>
              </a:rPr>
              <a:t>JSON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D81BCC-D86A-5B57-9069-1C271A65FAE4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82755" y="2020490"/>
            <a:ext cx="4290119" cy="1041796"/>
          </a:xfrm>
          <a:prstGeom prst="roundRect">
            <a:avLst>
              <a:gd name="adj" fmla="val 7314"/>
            </a:avLst>
          </a:prstGeom>
          <a:solidFill>
            <a:srgbClr val="0E1525"/>
          </a:solidFill>
          <a:ln w="9525">
            <a:solidFill>
              <a:srgbClr val="232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282755" y="3195637"/>
            <a:ext cx="4290119" cy="1041796"/>
          </a:xfrm>
          <a:prstGeom prst="roundRect">
            <a:avLst>
              <a:gd name="adj" fmla="val 7314"/>
            </a:avLst>
          </a:prstGeom>
          <a:solidFill>
            <a:srgbClr val="0E1525"/>
          </a:solidFill>
          <a:ln w="9525">
            <a:solidFill>
              <a:srgbClr val="232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282755" y="4370784"/>
            <a:ext cx="4290119" cy="1041796"/>
          </a:xfrm>
          <a:prstGeom prst="roundRect">
            <a:avLst>
              <a:gd name="adj" fmla="val 7314"/>
            </a:avLst>
          </a:prstGeom>
          <a:solidFill>
            <a:srgbClr val="0E1525"/>
          </a:solidFill>
          <a:ln w="9525">
            <a:solidFill>
              <a:srgbClr val="232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45" y="485775"/>
            <a:ext cx="161925" cy="1238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1432470"/>
            <a:ext cx="6435030" cy="4568279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2780" y="2244328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2780" y="3419475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2780" y="4594621"/>
            <a:ext cx="17145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7250" y="466725"/>
            <a:ext cx="11334750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6B6D4"/>
                </a:solidFill>
                <a:latin typeface="JetBrains Mono"/>
              </a:rPr>
              <a:t>INTERFACE SPECIFICATION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125" y="742950"/>
            <a:ext cx="11572875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8FAFC"/>
                </a:solidFill>
                <a:latin typeface="Space Grotesk"/>
              </a:rPr>
              <a:t>Tab 2 UI: Route Path Setting 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0430" y="2228194"/>
            <a:ext cx="1296189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1200" b="1" i="0" u="none" dirty="0">
                <a:solidFill>
                  <a:srgbClr val="38BDF8"/>
                </a:solidFill>
                <a:latin typeface="Space Grotesk"/>
              </a:rPr>
              <a:t>Route Path Data</a:t>
            </a:r>
            <a:r>
              <a:rPr sz="1200" b="1" i="0" u="none" dirty="0">
                <a:solidFill>
                  <a:srgbClr val="38BDF8"/>
                </a:solidFill>
                <a:latin typeface="Space Grotesk"/>
              </a:rPr>
              <a:t>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2780" y="2515790"/>
            <a:ext cx="3985319" cy="16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Supports loading </a:t>
            </a:r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xlsx format of Route Path database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30430" y="3395662"/>
            <a:ext cx="4461569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Measurement Binding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2780" y="3690937"/>
            <a:ext cx="3985319" cy="16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Directly maps</a:t>
            </a:r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 database column for topology 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rendering.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9480" y="4570809"/>
            <a:ext cx="4442519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Show Topology 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2780" y="4866084"/>
            <a:ext cx="3985319" cy="347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Toggleable option to display connecting vector lines from test points to s</a:t>
            </a:r>
            <a:r>
              <a:rPr lang="en-US" sz="975" dirty="0">
                <a:solidFill>
                  <a:srgbClr val="94A3B8"/>
                </a:solidFill>
                <a:latin typeface="Space Grotesk"/>
              </a:rPr>
              <a:t>elected site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49FD40-B470-791C-EA39-5C778F6D9BA7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9125" y="2527845"/>
            <a:ext cx="5400675" cy="1093440"/>
          </a:xfrm>
          <a:prstGeom prst="roundRect">
            <a:avLst>
              <a:gd name="adj" fmla="val 6968"/>
            </a:avLst>
          </a:prstGeom>
          <a:solidFill>
            <a:srgbClr val="0E1525"/>
          </a:solidFill>
          <a:ln w="9525">
            <a:solidFill>
              <a:srgbClr val="232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2527845"/>
            <a:ext cx="5400675" cy="1093440"/>
          </a:xfrm>
          <a:prstGeom prst="roundRect">
            <a:avLst>
              <a:gd name="adj" fmla="val 6968"/>
            </a:avLst>
          </a:prstGeom>
          <a:solidFill>
            <a:srgbClr val="0E1525"/>
          </a:solidFill>
          <a:ln w="9525">
            <a:solidFill>
              <a:srgbClr val="232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9125" y="3811785"/>
            <a:ext cx="5400675" cy="1093440"/>
          </a:xfrm>
          <a:prstGeom prst="roundRect">
            <a:avLst>
              <a:gd name="adj" fmla="val 6968"/>
            </a:avLst>
          </a:prstGeom>
          <a:solidFill>
            <a:srgbClr val="0E1525"/>
          </a:solidFill>
          <a:ln w="9525">
            <a:solidFill>
              <a:srgbClr val="232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72200" y="3811785"/>
            <a:ext cx="5400675" cy="1093440"/>
          </a:xfrm>
          <a:prstGeom prst="roundRect">
            <a:avLst>
              <a:gd name="adj" fmla="val 6968"/>
            </a:avLst>
          </a:prstGeom>
          <a:solidFill>
            <a:srgbClr val="0E1525"/>
          </a:solidFill>
          <a:ln w="9525">
            <a:solidFill>
              <a:srgbClr val="232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45" y="485775"/>
            <a:ext cx="142875" cy="123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2751683"/>
            <a:ext cx="1714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5" y="2751683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4035623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2225" y="4035623"/>
            <a:ext cx="152400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8200" y="466725"/>
            <a:ext cx="11353800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6B6D4"/>
                </a:solidFill>
                <a:latin typeface="JetBrains Mono"/>
              </a:rPr>
              <a:t>TAB 2 CONFIGURATION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125" y="742950"/>
            <a:ext cx="2929841" cy="3601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F8FAFC"/>
                </a:solidFill>
                <a:latin typeface="Space Grotesk"/>
              </a:rPr>
              <a:t>Route Path Parameters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5850" y="2727870"/>
            <a:ext cx="5984081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File Path Configuration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" y="3023145"/>
            <a:ext cx="62507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Space Grotesk"/>
              </a:rPr>
              <a:t>Stored under QgsSettings key: </a:t>
            </a:r>
            <a:r>
              <a:rPr sz="975" b="0" i="0" u="none">
                <a:solidFill>
                  <a:srgbClr val="38BDF8"/>
                </a:solidFill>
                <a:latin typeface="Space Grotesk"/>
              </a:rPr>
              <a:t>Kraken/route_file_path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50" y="3261270"/>
            <a:ext cx="6250781" cy="159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94A3B8"/>
                </a:solidFill>
                <a:latin typeface="Space Grotesk"/>
              </a:rPr>
              <a:t>Accepts CSV, SHP, or GPKG drive test trajectories. Resolves file locks asynchronously.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825" y="2727870"/>
            <a:ext cx="559117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Topology Overlay Toggle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2225" y="3023145"/>
            <a:ext cx="58197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Space Grotesk"/>
              </a:rPr>
              <a:t>Stored under QgsSettings key: </a:t>
            </a:r>
            <a:r>
              <a:rPr sz="975" b="0" i="0" u="none">
                <a:solidFill>
                  <a:srgbClr val="38BDF8"/>
                </a:solidFill>
                <a:latin typeface="Space Grotesk"/>
              </a:rPr>
              <a:t>Kraken/show_topology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2225" y="3261270"/>
            <a:ext cx="5819775" cy="159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94A3B8"/>
                </a:solidFill>
                <a:latin typeface="Space Grotesk"/>
              </a:rPr>
              <a:t>Boolean flag toggle to project connection lines between drive test points &amp; serving cell.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6800" y="4011810"/>
            <a:ext cx="6003131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Field Mapping Matrix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150" y="4307085"/>
            <a:ext cx="5095875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94A3B8"/>
                </a:solidFill>
                <a:latin typeface="Space Grotesk"/>
              </a:rPr>
              <a:t>Maps Latitude, Longitude, RSRP, SINR, and Serving Cell ID columns dynamically from source files into memory tables for ultra-fast spatial joins.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9875" y="4011810"/>
            <a:ext cx="557212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Detail Decimation Filter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307085"/>
            <a:ext cx="58197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Space Grotesk"/>
              </a:rPr>
              <a:t>Stored under key: </a:t>
            </a:r>
            <a:r>
              <a:rPr sz="975" b="0" i="0" u="none">
                <a:solidFill>
                  <a:srgbClr val="38BDF8"/>
                </a:solidFill>
                <a:latin typeface="Space Grotesk"/>
              </a:rPr>
              <a:t>Kraken/route_detail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2225" y="4545210"/>
            <a:ext cx="5819775" cy="159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94A3B8"/>
                </a:solidFill>
                <a:latin typeface="Space Grotesk"/>
              </a:rPr>
              <a:t>Controls point-decimation sampling density during drive path spatial visual rendering.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954413-7D64-5498-6357-E0D1FD46C31D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82755" y="1995785"/>
            <a:ext cx="4290119" cy="1091356"/>
          </a:xfrm>
          <a:prstGeom prst="roundRect">
            <a:avLst>
              <a:gd name="adj" fmla="val 6982"/>
            </a:avLst>
          </a:prstGeom>
          <a:solidFill>
            <a:srgbClr val="0E1525"/>
          </a:solidFill>
          <a:ln w="9525">
            <a:solidFill>
              <a:srgbClr val="232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282755" y="3220491"/>
            <a:ext cx="4290119" cy="1041796"/>
          </a:xfrm>
          <a:prstGeom prst="roundRect">
            <a:avLst>
              <a:gd name="adj" fmla="val 7314"/>
            </a:avLst>
          </a:prstGeom>
          <a:solidFill>
            <a:srgbClr val="0E1525"/>
          </a:solidFill>
          <a:ln w="9525">
            <a:solidFill>
              <a:srgbClr val="232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282755" y="4395638"/>
            <a:ext cx="4290119" cy="1041796"/>
          </a:xfrm>
          <a:prstGeom prst="roundRect">
            <a:avLst>
              <a:gd name="adj" fmla="val 7314"/>
            </a:avLst>
          </a:prstGeom>
          <a:solidFill>
            <a:srgbClr val="0E1525"/>
          </a:solidFill>
          <a:ln w="9525">
            <a:solidFill>
              <a:srgbClr val="232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054405" y="2491085"/>
            <a:ext cx="1438275" cy="222795"/>
          </a:xfrm>
          <a:prstGeom prst="roundRect">
            <a:avLst>
              <a:gd name="adj" fmla="val 17100"/>
            </a:avLst>
          </a:prstGeom>
          <a:solidFill>
            <a:srgbClr val="0D2D3F"/>
          </a:solidFill>
          <a:ln w="9525">
            <a:solidFill>
              <a:srgbClr val="0C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82780" y="2704355"/>
            <a:ext cx="1238250" cy="180975"/>
          </a:xfrm>
          <a:prstGeom prst="rect">
            <a:avLst/>
          </a:prstGeom>
          <a:solidFill>
            <a:srgbClr val="112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45" y="485775"/>
            <a:ext cx="161925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1432470"/>
            <a:ext cx="6435030" cy="4568279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2780" y="2219622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2780" y="3444329"/>
            <a:ext cx="952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2780" y="4619476"/>
            <a:ext cx="11430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57250" y="466725"/>
            <a:ext cx="11334750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6B6D4"/>
                </a:solidFill>
                <a:latin typeface="JetBrains Mono"/>
              </a:rPr>
              <a:t>INTERFACE SPECIFICATION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125" y="742950"/>
            <a:ext cx="11572875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8FAFC"/>
                </a:solidFill>
                <a:latin typeface="Space Grotesk"/>
              </a:rPr>
              <a:t>Tab 3 UI: KPI Setting &amp; Data Engine Selector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1380" y="2195810"/>
            <a:ext cx="4480619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Engine Radio Options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2780" y="2491085"/>
            <a:ext cx="3985319" cy="3960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Space Grotesk"/>
              </a:rPr>
              <a:t>Allows switching between and modes.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73280" y="3420516"/>
            <a:ext cx="4518719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Drag-and-Drop Columns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2780" y="3715791"/>
            <a:ext cx="3985319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Space Grotesk"/>
              </a:rPr>
              <a:t>Interactive column list allowing users to drag metrics directly into X-Axis, Legend, or Chart KPI tables.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2330" y="4595663"/>
            <a:ext cx="4499669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Custom Column Builder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2780" y="4890938"/>
            <a:ext cx="3985319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Space Grotesk"/>
              </a:rPr>
              <a:t>Pops up dialog to define calculated SQL metrics with custom date/time extractors and math expressions.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0605" y="2519660"/>
            <a:ext cx="1381125" cy="165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825" b="1" i="0" u="none">
                <a:solidFill>
                  <a:srgbClr val="22D3EE"/>
                </a:solidFill>
                <a:latin typeface="JetBrains Mono"/>
              </a:rPr>
              <a:t>DuckDB (Local File)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2780" y="2704355"/>
            <a:ext cx="15478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ADE80"/>
                </a:solidFill>
                <a:latin typeface="Space Grotesk"/>
              </a:rPr>
              <a:t>PostgreSQL (Server)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A022E4-479E-12DC-C70E-04DF17055755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9125" y="6096000"/>
            <a:ext cx="1095375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" y="1337220"/>
            <a:ext cx="5362575" cy="4758779"/>
          </a:xfrm>
          <a:prstGeom prst="roundRect">
            <a:avLst>
              <a:gd name="adj" fmla="val 1601"/>
            </a:avLst>
          </a:prstGeom>
          <a:solidFill>
            <a:srgbClr val="0E1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1337220"/>
            <a:ext cx="5362575" cy="4758779"/>
          </a:xfrm>
          <a:prstGeom prst="roundRect">
            <a:avLst>
              <a:gd name="adj" fmla="val 1601"/>
            </a:avLst>
          </a:prstGeom>
          <a:solidFill>
            <a:srgbClr val="0E1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9125" y="6096000"/>
            <a:ext cx="109537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9125" y="6086475"/>
            <a:ext cx="536257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125" y="1337220"/>
            <a:ext cx="5362575" cy="285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125" y="1337220"/>
            <a:ext cx="9525" cy="47587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72175" y="1337220"/>
            <a:ext cx="9525" cy="47587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0300" y="6086475"/>
            <a:ext cx="536257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0300" y="1337220"/>
            <a:ext cx="5362575" cy="285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0300" y="1337220"/>
            <a:ext cx="9525" cy="47587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563350" y="1337220"/>
            <a:ext cx="9525" cy="47587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743450" y="1556295"/>
            <a:ext cx="1038225" cy="209550"/>
          </a:xfrm>
          <a:prstGeom prst="roundRect">
            <a:avLst>
              <a:gd name="adj" fmla="val 18181"/>
            </a:avLst>
          </a:prstGeom>
          <a:solidFill>
            <a:srgbClr val="0D2D3F"/>
          </a:solidFill>
          <a:ln w="9525">
            <a:solidFill>
              <a:srgbClr val="0C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363200" y="1556295"/>
            <a:ext cx="1009650" cy="219075"/>
          </a:xfrm>
          <a:prstGeom prst="rect">
            <a:avLst/>
          </a:prstGeom>
          <a:solidFill>
            <a:srgbClr val="112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45" y="485775"/>
            <a:ext cx="12382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1584870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325" y="1589633"/>
            <a:ext cx="15240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9150" y="466725"/>
            <a:ext cx="11372850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6B6D4"/>
                </a:solidFill>
                <a:latin typeface="JetBrains Mono"/>
              </a:rPr>
              <a:t>TAB 3 DATA LAKE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125" y="742950"/>
            <a:ext cx="11572875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8FAFC"/>
                </a:solidFill>
                <a:latin typeface="Space Grotesk"/>
              </a:rPr>
              <a:t>KPI Engine Supported Data Engines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150" y="1880145"/>
            <a:ext cx="6203156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06B6D4"/>
                </a:solidFill>
                <a:latin typeface="JetBrains Mono"/>
              </a:rPr>
              <a:t>Key: kpi_file_type = "duckdb"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150" y="2127795"/>
            <a:ext cx="50577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Space Grotesk"/>
              </a:rPr>
              <a:t>Ultra-fast vectorized in-process SQL database execution. Ideal for local multi-gigabyte raw KPI data handling.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0325" y="1889670"/>
            <a:ext cx="57816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ADE80"/>
                </a:solidFill>
                <a:latin typeface="JetBrains Mono"/>
              </a:rPr>
              <a:t>Key: kpi_file_type = "postgresql"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0325" y="2137320"/>
            <a:ext cx="50577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Space Grotesk"/>
              </a:rPr>
              <a:t>Centralized database server connection via </a:t>
            </a:r>
            <a:r>
              <a:rPr sz="975" b="0" i="0" u="none">
                <a:solidFill>
                  <a:srgbClr val="4ADE80"/>
                </a:solidFill>
                <a:latin typeface="Space Grotesk"/>
              </a:rPr>
              <a:t>psycopg2</a:t>
            </a:r>
            <a:r>
              <a:rPr sz="975" b="0" i="0" u="none">
                <a:solidFill>
                  <a:srgbClr val="CBD5E1"/>
                </a:solidFill>
                <a:latin typeface="Space Grotesk"/>
              </a:rPr>
              <a:t> library. Accesses enterprise network data warehouses.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6800" y="1561058"/>
            <a:ext cx="1454943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DuckDB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9650" y="1584870"/>
            <a:ext cx="9810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22D3EE"/>
                </a:solidFill>
                <a:latin typeface="JetBrains Mono"/>
              </a:rPr>
              <a:t>Embedded OLAP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500" y="2614523"/>
            <a:ext cx="381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Space Grotesk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600" y="2613570"/>
            <a:ext cx="5988843" cy="182760"/>
          </a:xfrm>
          <a:prstGeom prst="rect">
            <a:avLst/>
          </a:prstGeom>
          <a:noFill/>
        </p:spPr>
        <p:txBody>
          <a:bodyPr wrap="none" lIns="3810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94A3B8"/>
                </a:solidFill>
                <a:latin typeface="Space Grotesk"/>
              </a:rPr>
              <a:t>Direct file access via </a:t>
            </a:r>
            <a:r>
              <a:rPr sz="900" b="0" i="0" u="none">
                <a:solidFill>
                  <a:srgbClr val="38BDF8"/>
                </a:solidFill>
                <a:latin typeface="Space Grotesk"/>
              </a:rPr>
              <a:t>.duckdb</a:t>
            </a:r>
            <a:r>
              <a:rPr sz="900" b="0" i="0" u="none">
                <a:solidFill>
                  <a:srgbClr val="94A3B8"/>
                </a:solidFill>
                <a:latin typeface="Space Grotesk"/>
              </a:rPr>
              <a:t> or </a:t>
            </a:r>
            <a:r>
              <a:rPr sz="900" b="0" i="0" u="none">
                <a:solidFill>
                  <a:srgbClr val="38BDF8"/>
                </a:solidFill>
                <a:latin typeface="Space Grotesk"/>
              </a:rPr>
              <a:t>.db</a:t>
            </a:r>
            <a:r>
              <a:rPr sz="900" b="0" i="0" u="none">
                <a:solidFill>
                  <a:srgbClr val="94A3B8"/>
                </a:solidFill>
                <a:latin typeface="Space Grotesk"/>
              </a:rPr>
              <a:t> path.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500" y="2797284"/>
            <a:ext cx="381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Space Grotesk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0600" y="2796331"/>
            <a:ext cx="5988843" cy="182760"/>
          </a:xfrm>
          <a:prstGeom prst="rect">
            <a:avLst/>
          </a:prstGeom>
          <a:noFill/>
        </p:spPr>
        <p:txBody>
          <a:bodyPr wrap="none" lIns="3810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94A3B8"/>
                </a:solidFill>
                <a:latin typeface="Space Grotesk"/>
              </a:rPr>
              <a:t>Supports instant Excel &amp; CSV thread conversion.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500" y="2980045"/>
            <a:ext cx="381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Space Grotesk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600" y="2979092"/>
            <a:ext cx="5988843" cy="182760"/>
          </a:xfrm>
          <a:prstGeom prst="rect">
            <a:avLst/>
          </a:prstGeom>
          <a:noFill/>
        </p:spPr>
        <p:txBody>
          <a:bodyPr wrap="none" lIns="3810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94A3B8"/>
                </a:solidFill>
                <a:latin typeface="Space Grotesk"/>
              </a:rPr>
              <a:t>Executes </a:t>
            </a:r>
            <a:r>
              <a:rPr sz="900" b="0" i="0" u="none">
                <a:solidFill>
                  <a:srgbClr val="A5F3FC"/>
                </a:solidFill>
                <a:latin typeface="Space Grotesk"/>
              </a:rPr>
              <a:t>PRAGMA table_info()</a:t>
            </a:r>
            <a:r>
              <a:rPr sz="900" b="0" i="0" u="none">
                <a:solidFill>
                  <a:srgbClr val="94A3B8"/>
                </a:solidFill>
                <a:latin typeface="Space Grotesk"/>
              </a:rPr>
              <a:t> for dynamic schema discovery.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57975" y="1565820"/>
            <a:ext cx="180022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4ADE80"/>
                </a:solidFill>
                <a:latin typeface="Space Grotesk"/>
              </a:rPr>
              <a:t>PostgreSQL Engine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63200" y="1556295"/>
            <a:ext cx="1295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ADE80"/>
                </a:solidFill>
                <a:latin typeface="Space Grotesk"/>
              </a:rPr>
              <a:t>Enterprise DB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3675" y="2624048"/>
            <a:ext cx="381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Space Grotesk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1775" y="2623095"/>
            <a:ext cx="5610225" cy="182760"/>
          </a:xfrm>
          <a:prstGeom prst="rect">
            <a:avLst/>
          </a:prstGeom>
          <a:noFill/>
        </p:spPr>
        <p:txBody>
          <a:bodyPr wrap="none" lIns="3810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94A3B8"/>
                </a:solidFill>
                <a:latin typeface="Space Grotesk"/>
              </a:rPr>
              <a:t>Configurable Host, Port, Database, Schema, User &amp; Pass.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43675" y="2806809"/>
            <a:ext cx="381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Space Grotesk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1775" y="2805856"/>
            <a:ext cx="5610225" cy="182760"/>
          </a:xfrm>
          <a:prstGeom prst="rect">
            <a:avLst/>
          </a:prstGeom>
          <a:noFill/>
        </p:spPr>
        <p:txBody>
          <a:bodyPr wrap="none" lIns="3810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94A3B8"/>
                </a:solidFill>
                <a:latin typeface="Space Grotesk"/>
              </a:rPr>
              <a:t>Inspects </a:t>
            </a:r>
            <a:r>
              <a:rPr sz="900" b="0" i="0" u="none">
                <a:solidFill>
                  <a:srgbClr val="A5F3FC"/>
                </a:solidFill>
                <a:latin typeface="Space Grotesk"/>
              </a:rPr>
              <a:t>information_schema.tables</a:t>
            </a:r>
            <a:r>
              <a:rPr sz="900" b="0" i="0" u="none">
                <a:solidFill>
                  <a:srgbClr val="94A3B8"/>
                </a:solidFill>
                <a:latin typeface="Space Grotesk"/>
              </a:rPr>
              <a:t> &amp; columns.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43675" y="2989570"/>
            <a:ext cx="381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Space Grotesk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1775" y="2988617"/>
            <a:ext cx="5610225" cy="182760"/>
          </a:xfrm>
          <a:prstGeom prst="rect">
            <a:avLst/>
          </a:prstGeom>
          <a:noFill/>
        </p:spPr>
        <p:txBody>
          <a:bodyPr wrap="none" lIns="3810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94A3B8"/>
                </a:solidFill>
                <a:latin typeface="Space Grotesk"/>
              </a:rPr>
              <a:t>Supports schema-qualified SQL generation (</a:t>
            </a:r>
            <a:r>
              <a:rPr sz="900" b="0" i="0" u="none">
                <a:solidFill>
                  <a:srgbClr val="A5F3FC"/>
                </a:solidFill>
                <a:latin typeface="Space Grotesk"/>
              </a:rPr>
              <a:t>"schema"."table"</a:t>
            </a:r>
            <a:r>
              <a:rPr sz="900" b="0" i="0" u="none">
                <a:solidFill>
                  <a:srgbClr val="94A3B8"/>
                </a:solidFill>
                <a:latin typeface="Space Grotesk"/>
              </a:rPr>
              <a:t>).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1AD061-6AA1-C3A3-8621-BB50C0B361A8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19125" y="3475434"/>
            <a:ext cx="10953750" cy="1676400"/>
          </a:xfrm>
          <a:prstGeom prst="roundRect">
            <a:avLst>
              <a:gd name="adj" fmla="val 4545"/>
            </a:avLst>
          </a:prstGeom>
          <a:solidFill>
            <a:srgbClr val="050913"/>
          </a:solidFill>
          <a:ln w="9525">
            <a:solidFill>
              <a:srgbClr val="232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" y="2281237"/>
            <a:ext cx="5400675" cy="1041796"/>
          </a:xfrm>
          <a:prstGeom prst="roundRect">
            <a:avLst>
              <a:gd name="adj" fmla="val 7314"/>
            </a:avLst>
          </a:prstGeom>
          <a:solidFill>
            <a:srgbClr val="0E1525"/>
          </a:solidFill>
          <a:ln w="9525">
            <a:solidFill>
              <a:srgbClr val="232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72200" y="2281237"/>
            <a:ext cx="5400675" cy="1041796"/>
          </a:xfrm>
          <a:prstGeom prst="roundRect">
            <a:avLst>
              <a:gd name="adj" fmla="val 7314"/>
            </a:avLst>
          </a:prstGeom>
          <a:solidFill>
            <a:srgbClr val="0E1525"/>
          </a:solidFill>
          <a:ln w="9525">
            <a:solidFill>
              <a:srgbClr val="232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19150" y="3923109"/>
            <a:ext cx="10553700" cy="800100"/>
          </a:xfrm>
          <a:prstGeom prst="roundRect">
            <a:avLst>
              <a:gd name="adj" fmla="val 7142"/>
            </a:avLst>
          </a:prstGeom>
          <a:solidFill>
            <a:srgbClr val="030712"/>
          </a:solidFill>
          <a:ln w="9525">
            <a:solidFill>
              <a:srgbClr val="05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45" y="485775"/>
            <a:ext cx="142875" cy="123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3694509"/>
            <a:ext cx="133350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2505075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2225" y="2505075"/>
            <a:ext cx="1524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8200" y="466725"/>
            <a:ext cx="11353800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 dirty="0">
                <a:solidFill>
                  <a:srgbClr val="06B6D4"/>
                </a:solidFill>
                <a:latin typeface="JetBrains Mono"/>
              </a:rPr>
              <a:t>DATA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125" y="742950"/>
            <a:ext cx="11572875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8FAFC"/>
                </a:solidFill>
                <a:latin typeface="Space Grotesk"/>
              </a:rPr>
              <a:t>Threaded File Converter (Excel/CSV to DuckDB)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3675459"/>
            <a:ext cx="11372850" cy="171450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pace Grotesk"/>
              </a:rPr>
              <a:t>Dependency Validator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" y="4056459"/>
            <a:ext cx="103822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A5F3FC"/>
                </a:solidFill>
                <a:latin typeface="JetBrains Mono"/>
              </a:rPr>
              <a:t>missing_libs = [] # Checks: duckdb, pandas, openpyxl if missing_libs: Prompt User: "OSGeo4W Shell -&gt; python -m pip install duckdb pandas openpyxl"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" y="4799409"/>
            <a:ext cx="113728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Space Grotesk"/>
              </a:rPr>
              <a:t>If required libraries are missing, Kraken presents an interactive installation guide directing users to the OSGeo4W Shell environment.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6800" y="2481262"/>
            <a:ext cx="6003131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ExcelToDuckDBThread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150" y="2776537"/>
            <a:ext cx="50958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Space Grotesk"/>
              </a:rPr>
              <a:t>Leverages </a:t>
            </a:r>
            <a:r>
              <a:rPr sz="975" b="0" i="0" u="none">
                <a:solidFill>
                  <a:srgbClr val="38BDF8"/>
                </a:solidFill>
                <a:latin typeface="Space Grotesk"/>
              </a:rPr>
              <a:t>pandas</a:t>
            </a:r>
            <a:r>
              <a:rPr sz="975" b="0" i="0" u="none">
                <a:solidFill>
                  <a:srgbClr val="94A3B8"/>
                </a:solidFill>
                <a:latin typeface="Space Grotesk"/>
              </a:rPr>
              <a:t> &amp; </a:t>
            </a:r>
            <a:r>
              <a:rPr sz="975" b="0" i="0" u="none">
                <a:solidFill>
                  <a:srgbClr val="38BDF8"/>
                </a:solidFill>
                <a:latin typeface="Space Grotesk"/>
              </a:rPr>
              <a:t>openpyxl</a:t>
            </a:r>
            <a:r>
              <a:rPr sz="975" b="0" i="0" u="none">
                <a:solidFill>
                  <a:srgbClr val="94A3B8"/>
                </a:solidFill>
                <a:latin typeface="Space Grotesk"/>
              </a:rPr>
              <a:t> engine to ingest multisheet workbooks into DuckDB tables without UI blocking.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9875" y="2481262"/>
            <a:ext cx="557212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CSVToDuckDBThread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2225" y="2776537"/>
            <a:ext cx="50958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Space Grotesk"/>
              </a:rPr>
              <a:t>Direct C++ </a:t>
            </a:r>
            <a:r>
              <a:rPr sz="975" b="0" i="0" u="none">
                <a:solidFill>
                  <a:srgbClr val="38BDF8"/>
                </a:solidFill>
                <a:latin typeface="Space Grotesk"/>
              </a:rPr>
              <a:t>CsvReader</a:t>
            </a:r>
            <a:r>
              <a:rPr sz="975" b="0" i="0" u="none">
                <a:solidFill>
                  <a:srgbClr val="94A3B8"/>
                </a:solidFill>
                <a:latin typeface="Space Grotesk"/>
              </a:rPr>
              <a:t> copy statement execution for maximum file import speed (gigabytes per second).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850EF1-6DA2-7441-7414-5E6D53326A38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19125" y="4035623"/>
            <a:ext cx="10953750" cy="1724025"/>
          </a:xfrm>
          <a:prstGeom prst="roundRect">
            <a:avLst>
              <a:gd name="adj" fmla="val 4419"/>
            </a:avLst>
          </a:prstGeom>
          <a:solidFill>
            <a:srgbClr val="0E1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9125" y="2021085"/>
            <a:ext cx="3133576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752701" y="2021085"/>
            <a:ext cx="2065287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7989" y="2021085"/>
            <a:ext cx="5754885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125" y="5750123"/>
            <a:ext cx="109537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125" y="4035623"/>
            <a:ext cx="109537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125" y="4035623"/>
            <a:ext cx="28575" cy="172402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563350" y="4035623"/>
            <a:ext cx="9525" cy="1724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38200" y="4530923"/>
            <a:ext cx="10534650" cy="800100"/>
          </a:xfrm>
          <a:prstGeom prst="roundRect">
            <a:avLst>
              <a:gd name="adj" fmla="val 7142"/>
            </a:avLst>
          </a:prstGeom>
          <a:solidFill>
            <a:srgbClr val="030712"/>
          </a:solidFill>
          <a:ln w="9525">
            <a:solidFill>
              <a:srgbClr val="144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125" y="2383035"/>
            <a:ext cx="313357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752701" y="2383035"/>
            <a:ext cx="20652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7989" y="2383035"/>
            <a:ext cx="575488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125" y="2744985"/>
            <a:ext cx="313357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752701" y="2744985"/>
            <a:ext cx="20652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17989" y="2744985"/>
            <a:ext cx="575488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9125" y="3106935"/>
            <a:ext cx="313357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752701" y="3106935"/>
            <a:ext cx="20652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17989" y="3106935"/>
            <a:ext cx="575488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9125" y="3468885"/>
            <a:ext cx="313357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752701" y="3468885"/>
            <a:ext cx="20652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17989" y="3468885"/>
            <a:ext cx="575488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9125" y="3830835"/>
            <a:ext cx="313357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752701" y="3830835"/>
            <a:ext cx="20652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817989" y="3830835"/>
            <a:ext cx="575488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45" y="485775"/>
            <a:ext cx="142875" cy="1238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259460"/>
            <a:ext cx="114300" cy="152400"/>
          </a:xfrm>
          <a:prstGeom prst="rect">
            <a:avLst/>
          </a:prstGeom>
        </p:spPr>
      </p:pic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19125" y="1673423"/>
          <a:ext cx="10953748" cy="2171700"/>
        </p:xfrm>
        <a:graphic>
          <a:graphicData uri="http://schemas.openxmlformats.org/drawingml/2006/table">
            <a:tbl>
              <a:tblPr/>
              <a:tblGrid>
                <a:gridCol w="3133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5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4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8BDF8"/>
                          </a:solidFill>
                          <a:latin typeface="JetBrains Mono"/>
                        </a:rPr>
                        <a:t>Field / Setting Key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8BDF8"/>
                          </a:solidFill>
                          <a:latin typeface="JetBrains Mono"/>
                        </a:rPr>
                        <a:t>Default Value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8BDF8"/>
                          </a:solidFill>
                          <a:latin typeface="JetBrains Mono"/>
                        </a:rPr>
                        <a:t>Validation &amp; Behavior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8BDF8"/>
                          </a:solidFill>
                          <a:latin typeface="JetBrains Mono"/>
                        </a:rPr>
                        <a:t>Kraken/pg_host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JetBrains Mono"/>
                        </a:rPr>
                        <a:t>"localhost"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Hostname or IP address of database server.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8BDF8"/>
                          </a:solidFill>
                          <a:latin typeface="JetBrains Mono"/>
                        </a:rPr>
                        <a:t>Kraken/pg_port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JetBrains Mono"/>
                        </a:rPr>
                        <a:t>"5432"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Port number (validated numeric string).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8BDF8"/>
                          </a:solidFill>
                          <a:latin typeface="JetBrains Mono"/>
                        </a:rPr>
                        <a:t>Kraken/pg_dbname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JetBrains Mono"/>
                        </a:rPr>
                        <a:t>Required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Target database name containing KPI schema.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8BDF8"/>
                          </a:solidFill>
                          <a:latin typeface="JetBrains Mono"/>
                        </a:rPr>
                        <a:t>Kraken/pg_schema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JetBrains Mono"/>
                        </a:rPr>
                        <a:t>"public"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Database schema namespace.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8BDF8"/>
                          </a:solidFill>
                          <a:latin typeface="JetBrains Mono"/>
                        </a:rPr>
                        <a:t>Kraken/pg_user / pg_pass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JetBrains Mono"/>
                        </a:rPr>
                        <a:t>"postgres"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Stored securely via QgsSettings encrypted registry keyring.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838200" y="466725"/>
            <a:ext cx="11353800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6B6D4"/>
                </a:solidFill>
                <a:latin typeface="JetBrains Mono"/>
              </a:rPr>
              <a:t>POSTGRESQL CONFIGURATION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125" y="742950"/>
            <a:ext cx="11572875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8FAFC"/>
                </a:solidFill>
                <a:latin typeface="Space Grotesk"/>
              </a:rPr>
              <a:t>PostgresConfigDialog Specification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7750" y="4235648"/>
            <a:ext cx="11144250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4ADE80"/>
                </a:solidFill>
                <a:latin typeface="Space Grotesk"/>
              </a:rPr>
              <a:t>Test Connection Execution Logic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1550" y="4664273"/>
            <a:ext cx="103632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86EFAC"/>
                </a:solidFill>
                <a:latin typeface="JetBrains Mono"/>
              </a:rPr>
              <a:t>conn = psycopg2.connect( host=host, port=port, dbname=dbname, user=user, password=pass, connect_timeout=5 )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" y="5407223"/>
            <a:ext cx="113538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Space Grotesk"/>
              </a:rPr>
              <a:t>Executes </a:t>
            </a:r>
            <a:r>
              <a:rPr sz="900" b="0" i="0" u="none">
                <a:solidFill>
                  <a:srgbClr val="4ADE80"/>
                </a:solidFill>
                <a:latin typeface="Space Grotesk"/>
              </a:rPr>
              <a:t>psycopg2.connect()</a:t>
            </a:r>
            <a:r>
              <a:rPr sz="900" b="0" i="0" u="none">
                <a:solidFill>
                  <a:srgbClr val="94A3B8"/>
                </a:solidFill>
                <a:latin typeface="Space Grotesk"/>
              </a:rPr>
              <a:t> with a strict 5-second timeout to prevent QGIS UI lockups during network latency or firewall drops.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A4382E-C94A-07F7-A771-13829517FC1B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9125" y="2587823"/>
            <a:ext cx="5400675" cy="2257425"/>
          </a:xfrm>
          <a:prstGeom prst="roundRect">
            <a:avLst>
              <a:gd name="adj" fmla="val 3375"/>
            </a:avLst>
          </a:prstGeom>
          <a:solidFill>
            <a:srgbClr val="0E1525"/>
          </a:solidFill>
          <a:ln w="9525">
            <a:solidFill>
              <a:srgbClr val="232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2587823"/>
            <a:ext cx="5400675" cy="2257425"/>
          </a:xfrm>
          <a:prstGeom prst="roundRect">
            <a:avLst>
              <a:gd name="adj" fmla="val 3375"/>
            </a:avLst>
          </a:prstGeom>
          <a:solidFill>
            <a:srgbClr val="0E1525"/>
          </a:solidFill>
          <a:ln w="9525">
            <a:solidFill>
              <a:srgbClr val="232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72225" y="3311723"/>
            <a:ext cx="5000625" cy="914400"/>
          </a:xfrm>
          <a:prstGeom prst="roundRect">
            <a:avLst>
              <a:gd name="adj" fmla="val 6250"/>
            </a:avLst>
          </a:prstGeom>
          <a:solidFill>
            <a:srgbClr val="030712"/>
          </a:solidFill>
          <a:ln w="9525">
            <a:solidFill>
              <a:srgbClr val="0C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19150" y="3630810"/>
            <a:ext cx="1519088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338238" y="3630810"/>
            <a:ext cx="3481536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19150" y="3964185"/>
            <a:ext cx="151908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338238" y="3964185"/>
            <a:ext cx="348153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9150" y="4297560"/>
            <a:ext cx="151908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338238" y="4297560"/>
            <a:ext cx="348153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9150" y="4630935"/>
            <a:ext cx="151908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338238" y="4630935"/>
            <a:ext cx="348153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45" y="485775"/>
            <a:ext cx="114300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2811660"/>
            <a:ext cx="1524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5" y="2811660"/>
            <a:ext cx="190500" cy="152400"/>
          </a:xfrm>
          <a:prstGeom prst="rect">
            <a:avLst/>
          </a:prstGeom>
        </p:spPr>
      </p:pic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819150" y="3311723"/>
          <a:ext cx="5000624" cy="1333500"/>
        </p:xfrm>
        <a:graphic>
          <a:graphicData uri="http://schemas.openxmlformats.org/drawingml/2006/table">
            <a:tbl>
              <a:tblPr/>
              <a:tblGrid>
                <a:gridCol w="1519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1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38BDF8"/>
                          </a:solidFill>
                          <a:latin typeface="JetBrains Mono"/>
                        </a:rPr>
                        <a:t>Template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38BDF8"/>
                          </a:solidFill>
                          <a:latin typeface="JetBrains Mono"/>
                        </a:rPr>
                        <a:t>SQL Expression Generated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Extract Date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15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A5F3FC"/>
                          </a:solidFill>
                          <a:latin typeface="JetBrains Mono"/>
                        </a:rPr>
                        <a:t>"col"::DATE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1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Extract Time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15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A5F3FC"/>
                          </a:solidFill>
                          <a:latin typeface="JetBrains Mono"/>
                        </a:rPr>
                        <a:t>STRFTIME("col", '%H:%M:%S')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1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Extract Hour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15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A5F3FC"/>
                          </a:solidFill>
                          <a:latin typeface="JetBrains Mono"/>
                        </a:rPr>
                        <a:t>EXTRACT(HOUR FROM "col")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1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09625" y="466725"/>
            <a:ext cx="11382375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 dirty="0">
                <a:solidFill>
                  <a:srgbClr val="06B6D4"/>
                </a:solidFill>
                <a:latin typeface="JetBrains Mono"/>
              </a:rPr>
              <a:t>CUSTOM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125" y="742950"/>
            <a:ext cx="11572875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8FAFC"/>
                </a:solidFill>
                <a:latin typeface="Space Grotesk"/>
              </a:rPr>
              <a:t>CustomColumnDialog &amp; Formula Generator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6800" y="2787848"/>
            <a:ext cx="6003131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Preset Template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150" y="3083123"/>
            <a:ext cx="62507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Space Grotesk"/>
              </a:rPr>
              <a:t>Auto-detects base time columns containing "begin", "time", or "date".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7975" y="2787848"/>
            <a:ext cx="553402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Custom SQL Expressions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3083123"/>
            <a:ext cx="58197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Space Grotesk"/>
              </a:rPr>
              <a:t>Allows mathematical evaluation across database columns with zero-division safety: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5575" y="3445073"/>
            <a:ext cx="4829175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A5F3FC"/>
                </a:solidFill>
                <a:latin typeface="JetBrains Mono"/>
              </a:rPr>
              <a:t>-- Addition Example: "DL Payload" + "UL Payload" -- Safe Ratio Division Formula: "SSSR Num" / NULLIF("SSSR Denum", 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2225" y="4302323"/>
            <a:ext cx="58197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8BDF8"/>
                </a:solidFill>
                <a:latin typeface="Space Grotesk"/>
              </a:rPr>
              <a:t>Custom columns are displayed with a distinct fx prefix in column listboxes.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11BF91-9EB4-B204-7588-26A1BED84EC4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19125" y="4358580"/>
            <a:ext cx="10953750" cy="855315"/>
          </a:xfrm>
          <a:prstGeom prst="roundRect">
            <a:avLst>
              <a:gd name="adj" fmla="val 8908"/>
            </a:avLst>
          </a:prstGeom>
          <a:solidFill>
            <a:srgbClr val="0E1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" y="2219325"/>
            <a:ext cx="5400675" cy="1986855"/>
          </a:xfrm>
          <a:prstGeom prst="roundRect">
            <a:avLst>
              <a:gd name="adj" fmla="val 3835"/>
            </a:avLst>
          </a:prstGeom>
          <a:solidFill>
            <a:srgbClr val="0E1525"/>
          </a:solidFill>
          <a:ln w="9525">
            <a:solidFill>
              <a:srgbClr val="232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72200" y="2219325"/>
            <a:ext cx="5400675" cy="1986855"/>
          </a:xfrm>
          <a:prstGeom prst="roundRect">
            <a:avLst>
              <a:gd name="adj" fmla="val 3835"/>
            </a:avLst>
          </a:prstGeom>
          <a:solidFill>
            <a:srgbClr val="0E1525"/>
          </a:solidFill>
          <a:ln w="9525">
            <a:solidFill>
              <a:srgbClr val="232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125" y="5204370"/>
            <a:ext cx="109537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125" y="4358580"/>
            <a:ext cx="109537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125" y="4358580"/>
            <a:ext cx="28575" cy="85531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563350" y="4358580"/>
            <a:ext cx="9525" cy="855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9150" y="3091755"/>
            <a:ext cx="5000625" cy="914400"/>
          </a:xfrm>
          <a:prstGeom prst="roundRect">
            <a:avLst>
              <a:gd name="adj" fmla="val 6250"/>
            </a:avLst>
          </a:prstGeom>
          <a:solidFill>
            <a:srgbClr val="030712"/>
          </a:solidFill>
          <a:ln w="9525">
            <a:solidFill>
              <a:srgbClr val="0C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72225" y="3091755"/>
            <a:ext cx="5000625" cy="914400"/>
          </a:xfrm>
          <a:prstGeom prst="roundRect">
            <a:avLst>
              <a:gd name="adj" fmla="val 6250"/>
            </a:avLst>
          </a:prstGeom>
          <a:solidFill>
            <a:srgbClr val="030712"/>
          </a:solidFill>
          <a:ln w="9525">
            <a:solidFill>
              <a:srgbClr val="0C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45" y="485775"/>
            <a:ext cx="12382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582417"/>
            <a:ext cx="1524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2443162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2225" y="2443162"/>
            <a:ext cx="7620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9150" y="466725"/>
            <a:ext cx="11372850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6B6D4"/>
                </a:solidFill>
                <a:latin typeface="JetBrains Mono"/>
              </a:rPr>
              <a:t>INTERACTIVE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125" y="742950"/>
            <a:ext cx="11572875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8FAFC"/>
                </a:solidFill>
                <a:latin typeface="Space Grotesk"/>
              </a:rPr>
              <a:t>Drag-and-Drop Form Integration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5850" y="4558605"/>
            <a:ext cx="11106150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DropTableWidget Auto-Row Appender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4853880"/>
            <a:ext cx="11353800" cy="159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CBD5E1"/>
                </a:solidFill>
                <a:latin typeface="Space Grotesk"/>
              </a:rPr>
              <a:t>Appends a new KPI Item row automatically upon dragging any column into the KPI table area, assigning default aggregation (</a:t>
            </a:r>
            <a:r>
              <a:rPr sz="900" b="0" i="0" u="none">
                <a:solidFill>
                  <a:srgbClr val="38BDF8"/>
                </a:solidFill>
                <a:latin typeface="Space Grotesk"/>
              </a:rPr>
              <a:t>Avg</a:t>
            </a:r>
            <a:r>
              <a:rPr sz="900" b="0" i="0" u="none">
                <a:solidFill>
                  <a:srgbClr val="CBD5E1"/>
                </a:solidFill>
                <a:latin typeface="Space Grotesk"/>
              </a:rPr>
              <a:t>) and card index.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6800" y="2419350"/>
            <a:ext cx="6003131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DraggableListWidget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150" y="2714625"/>
            <a:ext cx="5095875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94A3B8"/>
                </a:solidFill>
                <a:latin typeface="Space Grotesk"/>
              </a:rPr>
              <a:t>Encapsulates column listbox. Overrides </a:t>
            </a:r>
            <a:r>
              <a:rPr sz="900" b="0" i="0" u="none">
                <a:solidFill>
                  <a:srgbClr val="38BDF8"/>
                </a:solidFill>
                <a:latin typeface="Space Grotesk"/>
              </a:rPr>
              <a:t>startDrag()</a:t>
            </a:r>
            <a:r>
              <a:rPr sz="900" b="0" i="0" u="none">
                <a:solidFill>
                  <a:srgbClr val="94A3B8"/>
                </a:solidFill>
                <a:latin typeface="Space Grotesk"/>
              </a:rPr>
              <a:t> to emit plain text MIME data across dialog boundaries: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500" y="3225105"/>
            <a:ext cx="4829175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A5F3FC"/>
                </a:solidFill>
                <a:latin typeface="JetBrains Mono"/>
              </a:rPr>
              <a:t>mimeData = QMimeData() mimeData.setText(col_name) drag.setMimeData(mimeData)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3675" y="2419350"/>
            <a:ext cx="564832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DropLineEdit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2225" y="2714625"/>
            <a:ext cx="5095875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94A3B8"/>
                </a:solidFill>
                <a:latin typeface="Space Grotesk"/>
              </a:rPr>
              <a:t>Accepts text drops for X-Axis, X-Order, Legend, and Filter parameters with custom delimiters: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5575" y="3225105"/>
            <a:ext cx="4829175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A5F3FC"/>
                </a:solidFill>
                <a:latin typeface="JetBrains Mono"/>
              </a:rPr>
              <a:t>txt_xaxis = DropLineEdit(separator=", ") txt_object = DropLineEdit(separator=" - ")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DD0C11-7601-FE95-4EE5-AF4E3C9A6057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82755" y="2020490"/>
            <a:ext cx="4290119" cy="1041796"/>
          </a:xfrm>
          <a:prstGeom prst="roundRect">
            <a:avLst>
              <a:gd name="adj" fmla="val 7314"/>
            </a:avLst>
          </a:prstGeom>
          <a:solidFill>
            <a:srgbClr val="0E1525"/>
          </a:solidFill>
          <a:ln w="9525">
            <a:solidFill>
              <a:srgbClr val="232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282755" y="3195637"/>
            <a:ext cx="4290119" cy="1041796"/>
          </a:xfrm>
          <a:prstGeom prst="roundRect">
            <a:avLst>
              <a:gd name="adj" fmla="val 7314"/>
            </a:avLst>
          </a:prstGeom>
          <a:solidFill>
            <a:srgbClr val="0E1525"/>
          </a:solidFill>
          <a:ln w="9525">
            <a:solidFill>
              <a:srgbClr val="232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282755" y="4370784"/>
            <a:ext cx="4290119" cy="1041796"/>
          </a:xfrm>
          <a:prstGeom prst="roundRect">
            <a:avLst>
              <a:gd name="adj" fmla="val 7314"/>
            </a:avLst>
          </a:prstGeom>
          <a:solidFill>
            <a:srgbClr val="0E1525"/>
          </a:solidFill>
          <a:ln w="9525">
            <a:solidFill>
              <a:srgbClr val="232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45" y="485775"/>
            <a:ext cx="161925" cy="1238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1432470"/>
            <a:ext cx="6435030" cy="4568279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2780" y="2244328"/>
            <a:ext cx="1905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2780" y="3419475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2780" y="4594621"/>
            <a:ext cx="17145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7250" y="466725"/>
            <a:ext cx="11334750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6B6D4"/>
                </a:solidFill>
                <a:latin typeface="JetBrains Mono"/>
              </a:rPr>
              <a:t>INTERFACE SPECIFICATION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125" y="742950"/>
            <a:ext cx="11572875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8FAFC"/>
                </a:solidFill>
                <a:latin typeface="Space Grotesk"/>
              </a:rPr>
              <a:t>Tab 4 UI: Other Settings &amp; MR Spider 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68530" y="2220515"/>
            <a:ext cx="4423469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3D Line of Sight (LOS)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2780" y="2515790"/>
            <a:ext cx="3985319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Space Grotesk"/>
              </a:rPr>
              <a:t>Enables DEM terrain elevation profile validation along propagation vectors.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30430" y="3395662"/>
            <a:ext cx="4461569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RSRP Ramp Gradient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2780" y="3690937"/>
            <a:ext cx="3985319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Space Grotesk"/>
              </a:rPr>
              <a:t>Configures color stops for signal level mapping on spatial spider lines.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9480" y="4570809"/>
            <a:ext cx="4442519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MR Spider Vectorizing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2780" y="4866084"/>
            <a:ext cx="3985319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Space Grotesk"/>
              </a:rPr>
              <a:t>Binds serving &amp; neighbor cell attributes to draw Measurement Report links.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559E76-9639-6FBC-CB60-7FFECEB14B93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19125" y="1337220"/>
            <a:ext cx="5381625" cy="4758779"/>
          </a:xfrm>
          <a:prstGeom prst="roundRect">
            <a:avLst>
              <a:gd name="adj" fmla="val 1601"/>
            </a:avLst>
          </a:prstGeom>
          <a:solidFill>
            <a:srgbClr val="0E1525"/>
          </a:solidFill>
          <a:ln w="9525">
            <a:solidFill>
              <a:srgbClr val="232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337220"/>
            <a:ext cx="5381625" cy="4758779"/>
          </a:xfrm>
          <a:prstGeom prst="roundRect">
            <a:avLst>
              <a:gd name="adj" fmla="val 1601"/>
            </a:avLst>
          </a:prstGeom>
          <a:solidFill>
            <a:srgbClr val="0E1525"/>
          </a:solidFill>
          <a:ln w="9525">
            <a:solidFill>
              <a:srgbClr val="232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19150" y="2213520"/>
            <a:ext cx="4981575" cy="757237"/>
          </a:xfrm>
          <a:prstGeom prst="roundRect">
            <a:avLst>
              <a:gd name="adj" fmla="val 7547"/>
            </a:avLst>
          </a:prstGeom>
          <a:solidFill>
            <a:srgbClr val="030712"/>
          </a:solidFill>
          <a:ln w="9525">
            <a:solidFill>
              <a:srgbClr val="0C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91275" y="2213520"/>
            <a:ext cx="4981575" cy="914400"/>
          </a:xfrm>
          <a:prstGeom prst="roundRect">
            <a:avLst>
              <a:gd name="adj" fmla="val 6250"/>
            </a:avLst>
          </a:prstGeom>
          <a:solidFill>
            <a:srgbClr val="030712"/>
          </a:solidFill>
          <a:ln w="9525">
            <a:solidFill>
              <a:srgbClr val="0C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45" y="485775"/>
            <a:ext cx="161925" cy="123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1561058"/>
            <a:ext cx="1143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275" y="1561058"/>
            <a:ext cx="1143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7250" y="466725"/>
            <a:ext cx="11334750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6B6D4"/>
                </a:solidFill>
                <a:latin typeface="JetBrains Mono"/>
              </a:rPr>
              <a:t>PORTABILITY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" y="742950"/>
            <a:ext cx="11572875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8FAFC"/>
                </a:solidFill>
                <a:latin typeface="Space Grotesk"/>
              </a:rPr>
              <a:t>XML Template Import &amp; Export 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1537245"/>
            <a:ext cx="6017418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Exporting XML Configurations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1832520"/>
            <a:ext cx="50768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Space Grotesk"/>
              </a:rPr>
              <a:t>Executing </a:t>
            </a:r>
            <a:r>
              <a:rPr sz="900" b="0" i="0" u="none">
                <a:solidFill>
                  <a:srgbClr val="38BDF8"/>
                </a:solidFill>
                <a:latin typeface="Space Grotesk"/>
              </a:rPr>
              <a:t>save_kpi_config_to_xml()</a:t>
            </a:r>
            <a:r>
              <a:rPr sz="900" b="0" i="0" u="none">
                <a:solidFill>
                  <a:srgbClr val="94A3B8"/>
                </a:solidFill>
                <a:latin typeface="Space Grotesk"/>
              </a:rPr>
              <a:t> compiles all form controls, custom metrics, and KPI card tables into a portable XML file using </a:t>
            </a:r>
            <a:r>
              <a:rPr sz="900" b="0" i="0" u="none">
                <a:solidFill>
                  <a:srgbClr val="38BDF8"/>
                </a:solidFill>
                <a:latin typeface="Space Grotesk"/>
              </a:rPr>
              <a:t>minidom.toprettyxml()</a:t>
            </a:r>
            <a:r>
              <a:rPr sz="900" b="0" i="0" u="none">
                <a:solidFill>
                  <a:srgbClr val="94A3B8"/>
                </a:solidFill>
                <a:latin typeface="Space Grotesk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" y="2346870"/>
            <a:ext cx="4810125" cy="4905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A5F3FC"/>
                </a:solidFill>
                <a:latin typeface="JetBrains Mono"/>
              </a:rPr>
              <a:t>duckdb cell_kpi_daily Date...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825" y="1537245"/>
            <a:ext cx="559117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Loading XML &amp; State 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275" y="1832520"/>
            <a:ext cx="50768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Space Grotesk"/>
              </a:rPr>
              <a:t>Executing </a:t>
            </a:r>
            <a:r>
              <a:rPr sz="900" b="0" i="0" u="none">
                <a:solidFill>
                  <a:srgbClr val="38BDF8"/>
                </a:solidFill>
                <a:latin typeface="Space Grotesk"/>
              </a:rPr>
              <a:t>load_kpi_config_from_xml()</a:t>
            </a:r>
            <a:r>
              <a:rPr sz="900" b="0" i="0" u="none">
                <a:solidFill>
                  <a:srgbClr val="94A3B8"/>
                </a:solidFill>
                <a:latin typeface="Space Grotesk"/>
              </a:rPr>
              <a:t> restores configurations while protecting state using the </a:t>
            </a:r>
            <a:r>
              <a:rPr sz="900" b="0" i="0" u="none">
                <a:solidFill>
                  <a:srgbClr val="38BDF8"/>
                </a:solidFill>
                <a:latin typeface="Space Grotesk"/>
              </a:rPr>
              <a:t>_is_loading</a:t>
            </a:r>
            <a:r>
              <a:rPr sz="900" b="0" i="0" u="none">
                <a:solidFill>
                  <a:srgbClr val="94A3B8"/>
                </a:solidFill>
                <a:latin typeface="Space Grotesk"/>
              </a:rPr>
              <a:t> guard flag: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4625" y="2346870"/>
            <a:ext cx="4810125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A5F3FC"/>
                </a:solidFill>
                <a:latin typeface="JetBrains Mono"/>
              </a:rPr>
              <a:t>self._is_loading = True try: tree = ET.parse(file_path) # Populate custom columns &amp; controls finally: self._is_loading = False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BC978E-D6FF-BAEA-C6C1-83E0AB65AD1B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9125" y="2649735"/>
            <a:ext cx="3600747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219872" y="2649735"/>
            <a:ext cx="1331267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551140" y="2649735"/>
            <a:ext cx="1633983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85124" y="2649735"/>
            <a:ext cx="438775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125" y="3059310"/>
            <a:ext cx="360074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19872" y="3059310"/>
            <a:ext cx="133126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551140" y="3059310"/>
            <a:ext cx="16339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85124" y="3059310"/>
            <a:ext cx="43877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125" y="3468885"/>
            <a:ext cx="360074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19872" y="3468885"/>
            <a:ext cx="133126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551140" y="3468885"/>
            <a:ext cx="16339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85124" y="3468885"/>
            <a:ext cx="43877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125" y="3878460"/>
            <a:ext cx="360074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19872" y="3878460"/>
            <a:ext cx="133126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551140" y="3878460"/>
            <a:ext cx="16339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85124" y="3878460"/>
            <a:ext cx="43877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125" y="4288035"/>
            <a:ext cx="360074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19872" y="4288035"/>
            <a:ext cx="133126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551140" y="4288035"/>
            <a:ext cx="16339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185124" y="4288035"/>
            <a:ext cx="43877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9125" y="4697610"/>
            <a:ext cx="360074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19872" y="4697610"/>
            <a:ext cx="133126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51140" y="4697610"/>
            <a:ext cx="16339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185124" y="4697610"/>
            <a:ext cx="43877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9125" y="5107185"/>
            <a:ext cx="360074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19872" y="5107185"/>
            <a:ext cx="133126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551140" y="5107185"/>
            <a:ext cx="16339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185124" y="5107185"/>
            <a:ext cx="43877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353222" y="2759273"/>
            <a:ext cx="571500" cy="209550"/>
          </a:xfrm>
          <a:prstGeom prst="roundRect">
            <a:avLst>
              <a:gd name="adj" fmla="val 18181"/>
            </a:avLst>
          </a:prstGeom>
          <a:solidFill>
            <a:srgbClr val="0A2835"/>
          </a:solidFill>
          <a:ln w="9525">
            <a:solidFill>
              <a:srgbClr val="0A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353222" y="3168848"/>
            <a:ext cx="571500" cy="209550"/>
          </a:xfrm>
          <a:prstGeom prst="roundRect">
            <a:avLst>
              <a:gd name="adj" fmla="val 18181"/>
            </a:avLst>
          </a:prstGeom>
          <a:solidFill>
            <a:srgbClr val="0A2835"/>
          </a:solidFill>
          <a:ln w="9525">
            <a:solidFill>
              <a:srgbClr val="0A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353222" y="3578423"/>
            <a:ext cx="571500" cy="209550"/>
          </a:xfrm>
          <a:prstGeom prst="roundRect">
            <a:avLst>
              <a:gd name="adj" fmla="val 18181"/>
            </a:avLst>
          </a:prstGeom>
          <a:solidFill>
            <a:srgbClr val="0A2835"/>
          </a:solidFill>
          <a:ln w="9525">
            <a:solidFill>
              <a:srgbClr val="0A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353222" y="3987998"/>
            <a:ext cx="438150" cy="209550"/>
          </a:xfrm>
          <a:prstGeom prst="roundRect">
            <a:avLst>
              <a:gd name="adj" fmla="val 18181"/>
            </a:avLst>
          </a:prstGeom>
          <a:solidFill>
            <a:srgbClr val="0A2835"/>
          </a:solidFill>
          <a:ln w="9525">
            <a:solidFill>
              <a:srgbClr val="0A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353222" y="4397573"/>
            <a:ext cx="438150" cy="209550"/>
          </a:xfrm>
          <a:prstGeom prst="roundRect">
            <a:avLst>
              <a:gd name="adj" fmla="val 18181"/>
            </a:avLst>
          </a:prstGeom>
          <a:solidFill>
            <a:srgbClr val="0A2835"/>
          </a:solidFill>
          <a:ln w="9525">
            <a:solidFill>
              <a:srgbClr val="0A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353222" y="4807148"/>
            <a:ext cx="438150" cy="209550"/>
          </a:xfrm>
          <a:prstGeom prst="roundRect">
            <a:avLst>
              <a:gd name="adj" fmla="val 18181"/>
            </a:avLst>
          </a:prstGeom>
          <a:solidFill>
            <a:srgbClr val="0A2835"/>
          </a:solidFill>
          <a:ln w="9525">
            <a:solidFill>
              <a:srgbClr val="0A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45" y="485775"/>
            <a:ext cx="123825" cy="123825"/>
          </a:xfrm>
          <a:prstGeom prst="rect">
            <a:avLst/>
          </a:prstGeom>
        </p:spPr>
      </p:pic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619125" y="2311598"/>
          <a:ext cx="10953747" cy="2809875"/>
        </p:xfrm>
        <a:graphic>
          <a:graphicData uri="http://schemas.openxmlformats.org/drawingml/2006/table">
            <a:tbl>
              <a:tblPr/>
              <a:tblGrid>
                <a:gridCol w="3600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1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39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1410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8BDF8"/>
                          </a:solidFill>
                          <a:latin typeface="JetBrains Mono"/>
                        </a:rPr>
                        <a:t>QgsSettings Registry Key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8BDF8"/>
                          </a:solidFill>
                          <a:latin typeface="JetBrains Mono"/>
                        </a:rPr>
                        <a:t>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8BDF8"/>
                          </a:solidFill>
                          <a:latin typeface="JetBrains Mono"/>
                        </a:rPr>
                        <a:t>Source Tab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8BDF8"/>
                          </a:solidFill>
                          <a:latin typeface="JetBrains Mono"/>
                        </a:rPr>
                        <a:t>Description &amp; Stored State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410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8BDF8"/>
                          </a:solidFill>
                          <a:latin typeface="JetBrains Mono"/>
                        </a:rPr>
                        <a:t>Kraken/main_gcell_layer_id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Tab 1 (GCELL)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Active vector layer ID string.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410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8BDF8"/>
                          </a:solidFill>
                          <a:latin typeface="JetBrains Mono"/>
                        </a:rPr>
                        <a:t>Kraken/route_file_path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Tab 2 (Route)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Drive test point file path (.csv, .shp, .gpkg).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410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8BDF8"/>
                          </a:solidFill>
                          <a:latin typeface="JetBrains Mono"/>
                        </a:rPr>
                        <a:t>Kraken/kpi_file_type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Tab 3 (KPI)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Engine selection ("duckdb" or "postgresql").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410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8BDF8"/>
                          </a:solidFill>
                          <a:latin typeface="JetBrains Mono"/>
                        </a:rPr>
                        <a:t>Kraken/kpi_items_json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Tab 3 (KPI)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Array of KPI item dicts (name, agg, card).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410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8BDF8"/>
                          </a:solidFill>
                          <a:latin typeface="JetBrains Mono"/>
                        </a:rPr>
                        <a:t>Kraken/kpi_custom_columns_json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Tab 3 (KPI)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Dictionary of custom metric SQL expressions.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415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8BDF8"/>
                          </a:solidFill>
                          <a:latin typeface="JetBrains Mono"/>
                        </a:rPr>
                        <a:t>Kraken/mr_lookup_keys_json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Tab 4 (Other)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Measurement report join keys.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819150" y="466725"/>
            <a:ext cx="11372850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6B6D4"/>
                </a:solidFill>
                <a:latin typeface="JetBrains Mono"/>
              </a:rPr>
              <a:t>PERSISTENCE REFERENCE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125" y="742950"/>
            <a:ext cx="11572875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8FAFC"/>
                </a:solidFill>
                <a:latin typeface="Space Grotesk"/>
              </a:rPr>
              <a:t>Complete QgsSettings Registry Key Map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29422" y="2787848"/>
            <a:ext cx="514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22D3EE"/>
                </a:solidFill>
                <a:latin typeface="JetBrains Mono"/>
              </a:rPr>
              <a:t>String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29422" y="3197423"/>
            <a:ext cx="514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22D3EE"/>
                </a:solidFill>
                <a:latin typeface="JetBrains Mono"/>
              </a:rPr>
              <a:t>String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29422" y="3606998"/>
            <a:ext cx="514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22D3EE"/>
                </a:solidFill>
                <a:latin typeface="JetBrains Mono"/>
              </a:rPr>
              <a:t>String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29422" y="4016573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22D3EE"/>
                </a:solidFill>
                <a:latin typeface="JetBrains Mono"/>
              </a:rPr>
              <a:t>JSON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29422" y="4426148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22D3EE"/>
                </a:solidFill>
                <a:latin typeface="JetBrains Mono"/>
              </a:rPr>
              <a:t>JSON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29422" y="4835723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22D3EE"/>
                </a:solidFill>
                <a:latin typeface="JetBrains Mono"/>
              </a:rPr>
              <a:t>JSON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0A11DA-9DA6-A4C5-B25C-E5B26922673C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1750</Words>
  <Application>Microsoft Office PowerPoint</Application>
  <PresentationFormat>Widescreen</PresentationFormat>
  <Paragraphs>226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JetBrains Mono</vt:lpstr>
      <vt:lpstr>Calibri</vt:lpstr>
      <vt:lpstr>Space Grotesk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Andi Kanipatra</cp:lastModifiedBy>
  <cp:revision>3</cp:revision>
  <dcterms:created xsi:type="dcterms:W3CDTF">2013-01-27T09:14:16Z</dcterms:created>
  <dcterms:modified xsi:type="dcterms:W3CDTF">2026-10-25T06:02:02Z</dcterms:modified>
  <cp:category/>
</cp:coreProperties>
</file>